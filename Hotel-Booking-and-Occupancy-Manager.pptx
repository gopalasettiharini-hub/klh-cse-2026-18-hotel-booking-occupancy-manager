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embeddedFontLst>
    <p:embeddedFont>
      <p:font typeface="Fraunces Black" panose="020B0604020202020204" charset="0"/>
      <p:regular r:id="rId12"/>
    </p:embeddedFont>
    <p:embeddedFont>
      <p:font typeface="Rubik" panose="020B0604020202020204" charset="-79"/>
      <p:regular r:id="rId13"/>
    </p:embeddedFont>
    <p:embeddedFont>
      <p:font typeface="Rubik Bold" panose="020B0604020202020204" charset="-79"/>
      <p:regular r:id="rId14"/>
    </p:embeddedFont>
    <p:embeddedFont>
      <p:font typeface="Rubik Medium" panose="020B0604020202020204" charset="-79"/>
      <p:regular r:id="rId15"/>
    </p:embeddedFont>
    <p:embeddedFont>
      <p:font typeface="Rubik SemiBold" panose="020B0604020202020204" charset="-79"/>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5" d="100"/>
          <a:sy n="75" d="100"/>
        </p:scale>
        <p:origin x="303" y="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0499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leadership. Today we examine the system connecting daily booking intent to live room inventory and calm operational decisions.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the system bridges the gap between commercial demand and physical on-property readiness before morning arrivals begin.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handoffs. Note that breakdowns usually happen at step 4 when desk agents rely on printed or delayed rosters.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four discrete room statuses. Emphasize that sellable inventory is protected instantly when maintenance blocks a room.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that incomplete booking records force desk agents to make assumptions during check-in rush hours.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card reframes occupancy from a static calendar into an active tool for yield management and staffing preparation.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starting with high-priority exceptions reduces morning meeting duration and prevents front-desk escalations.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Hotel Booking &amp; Occupancy Manager provides a simple solution for managing hotel bookings. Java programming concepts are used to automate calculations and decision-making.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phases. Highlight that preserving post-departure data directly fuels future direct bookings.
Conclude with the core payoff: hotel leaders regain peace of mind while front-line teams run each operational shift with confidence.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36A85"/>
          </a:solidFill>
          <a:ln/>
        </p:spPr>
      </p:sp>
      <p:sp>
        <p:nvSpPr>
          <p:cNvPr id="3" name="Shape 1"/>
          <p:cNvSpPr/>
          <p:nvPr/>
        </p:nvSpPr>
        <p:spPr>
          <a:xfrm>
            <a:off x="0" y="0"/>
            <a:ext cx="12191695" cy="6858000"/>
          </a:xfrm>
          <a:prstGeom prst="rect">
            <a:avLst/>
          </a:prstGeom>
          <a:solidFill>
            <a:srgbClr val="F1E4C3"/>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4102398"/>
          </a:xfrm>
          <a:prstGeom prst="rect">
            <a:avLst/>
          </a:prstGeom>
        </p:spPr>
      </p:pic>
      <p:sp>
        <p:nvSpPr>
          <p:cNvPr id="3" name="Shape 0"/>
          <p:cNvSpPr/>
          <p:nvPr/>
        </p:nvSpPr>
        <p:spPr>
          <a:xfrm>
            <a:off x="0" y="3543598"/>
            <a:ext cx="12191695" cy="2755602"/>
          </a:xfrm>
          <a:custGeom>
            <a:avLst/>
            <a:gdLst/>
            <a:ahLst/>
            <a:cxnLst/>
            <a:rect l="l" t="t" r="r" b="b"/>
            <a:pathLst>
              <a:path w="12191695" h="2755602">
                <a:moveTo>
                  <a:pt x="571486" y="0"/>
                </a:moveTo>
                <a:lnTo>
                  <a:pt x="11810705" y="0"/>
                </a:lnTo>
                <a:arcTo wR="380990" hR="381000" stAng="16200000" swAng="5400000"/>
                <a:lnTo>
                  <a:pt x="12191695" y="2755602"/>
                </a:lnTo>
                <a:lnTo>
                  <a:pt x="0" y="2755602"/>
                </a:lnTo>
                <a:lnTo>
                  <a:pt x="0" y="571500"/>
                </a:lnTo>
                <a:arcTo wR="571486" hR="571500" stAng="10800000" swAng="5400000"/>
                <a:close/>
              </a:path>
            </a:pathLst>
          </a:custGeom>
          <a:solidFill>
            <a:srgbClr val="F1E4C3"/>
          </a:solidFill>
          <a:ln/>
        </p:spPr>
      </p:sp>
      <p:sp>
        <p:nvSpPr>
          <p:cNvPr id="4" name="Text 1"/>
          <p:cNvSpPr/>
          <p:nvPr/>
        </p:nvSpPr>
        <p:spPr>
          <a:xfrm>
            <a:off x="888978" y="2748955"/>
            <a:ext cx="10591535" cy="1114425"/>
          </a:xfrm>
          <a:prstGeom prst="rect">
            <a:avLst/>
          </a:prstGeom>
          <a:noFill/>
          <a:ln/>
        </p:spPr>
        <p:txBody>
          <a:bodyPr wrap="square" lIns="0" tIns="0" rIns="0" bIns="0" rtlCol="0" anchor="t"/>
          <a:lstStyle/>
          <a:p>
            <a:pPr marL="0" indent="0" algn="l">
              <a:lnSpc>
                <a:spcPct val="113000"/>
              </a:lnSpc>
              <a:spcAft>
                <a:spcPts val="1300"/>
              </a:spcAft>
              <a:buNone/>
            </a:pPr>
            <a:endParaRPr lang="en-US" sz="1500" dirty="0"/>
          </a:p>
          <a:p>
            <a:pPr marL="0" indent="0" algn="l">
              <a:lnSpc>
                <a:spcPct val="113000"/>
              </a:lnSpc>
              <a:spcAft>
                <a:spcPts val="1300"/>
              </a:spcAft>
              <a:buNone/>
            </a:pPr>
            <a:endParaRPr lang="en-US" sz="1500" dirty="0"/>
          </a:p>
        </p:txBody>
      </p:sp>
      <p:sp>
        <p:nvSpPr>
          <p:cNvPr id="5" name="Text 2"/>
          <p:cNvSpPr/>
          <p:nvPr/>
        </p:nvSpPr>
        <p:spPr>
          <a:xfrm>
            <a:off x="888978" y="4190405"/>
            <a:ext cx="10591535" cy="1333500"/>
          </a:xfrm>
          <a:prstGeom prst="rect">
            <a:avLst/>
          </a:prstGeom>
          <a:noFill/>
          <a:ln/>
        </p:spPr>
        <p:txBody>
          <a:bodyPr wrap="square" lIns="0" tIns="0" rIns="0" bIns="0" rtlCol="0" anchor="t">
            <a:normAutofit/>
          </a:bodyPr>
          <a:lstStyle/>
          <a:p>
            <a:pPr marL="0" indent="0" algn="l">
              <a:lnSpc>
                <a:spcPct val="87000"/>
              </a:lnSpc>
              <a:buNone/>
            </a:pPr>
            <a:r>
              <a:rPr lang="en-US" sz="5000" kern="0" spc="-100" dirty="0">
                <a:solidFill>
                  <a:srgbClr val="000000"/>
                </a:solidFill>
                <a:latin typeface="Fraunces Black" pitchFamily="34" charset="0"/>
                <a:ea typeface="Fraunces Black" pitchFamily="34" charset="-122"/>
                <a:cs typeface="Fraunces Black" pitchFamily="34" charset="-120"/>
              </a:rPr>
              <a:t>Hotel Booking &amp; Occupancy Manager</a:t>
            </a:r>
            <a:endParaRPr lang="en-US" sz="5000" dirty="0"/>
          </a:p>
        </p:txBody>
      </p:sp>
      <p:sp>
        <p:nvSpPr>
          <p:cNvPr id="6" name="Text 3"/>
          <p:cNvSpPr/>
          <p:nvPr/>
        </p:nvSpPr>
        <p:spPr>
          <a:xfrm>
            <a:off x="888978" y="5695355"/>
            <a:ext cx="10591535" cy="146645"/>
          </a:xfrm>
          <a:prstGeom prst="rect">
            <a:avLst/>
          </a:prstGeom>
          <a:noFill/>
          <a:ln/>
        </p:spPr>
        <p:txBody>
          <a:bodyPr wrap="none" lIns="0" tIns="0" rIns="0" bIns="0" rtlCol="0" anchor="t"/>
          <a:lstStyle/>
          <a:p>
            <a:pPr marL="0" indent="0" algn="l">
              <a:lnSpc>
                <a:spcPct val="87000"/>
              </a:lnSpc>
              <a:buNone/>
            </a:pPr>
            <a:r>
              <a:rPr lang="en-US" sz="1100" kern="0" spc="-22" dirty="0">
                <a:solidFill>
                  <a:srgbClr val="000000"/>
                </a:solidFill>
                <a:latin typeface="Fraunces Black" pitchFamily="34" charset="0"/>
                <a:ea typeface="Fraunces Black" pitchFamily="34" charset="-122"/>
                <a:cs typeface="Fraunces Black" pitchFamily="34" charset="-120"/>
              </a:rPr>
              <a:t>2620030050-Harini  ,  2620090011-Akshaya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09600"/>
            <a:ext cx="11582110" cy="190500"/>
          </a:xfrm>
          <a:prstGeom prst="rect">
            <a:avLst/>
          </a:prstGeom>
          <a:noFill/>
          <a:ln/>
        </p:spPr>
        <p:txBody>
          <a:bodyPr wrap="none" lIns="0" tIns="0" rIns="0" bIns="0" rtlCol="0" anchor="t"/>
          <a:lstStyle/>
          <a:p>
            <a:pPr marL="0" indent="0" algn="l">
              <a:lnSpc>
                <a:spcPct val="104000"/>
              </a:lnSpc>
              <a:buNone/>
            </a:pPr>
            <a:r>
              <a:rPr lang="en-US" sz="1200" kern="0" spc="96" dirty="0">
                <a:solidFill>
                  <a:srgbClr val="14264A"/>
                </a:solidFill>
                <a:latin typeface="Rubik SemiBold" pitchFamily="34" charset="0"/>
                <a:ea typeface="Rubik SemiBold" pitchFamily="34" charset="-122"/>
                <a:cs typeface="Rubik SemiBold" pitchFamily="34" charset="-120"/>
              </a:rPr>
              <a:t>INTRODUCTION</a:t>
            </a:r>
            <a:endParaRPr lang="en-US" sz="1200" dirty="0"/>
          </a:p>
        </p:txBody>
      </p:sp>
      <p:sp>
        <p:nvSpPr>
          <p:cNvPr id="3" name="Text 1"/>
          <p:cNvSpPr/>
          <p:nvPr/>
        </p:nvSpPr>
        <p:spPr>
          <a:xfrm>
            <a:off x="609585" y="876300"/>
            <a:ext cx="10972526" cy="853281"/>
          </a:xfrm>
          <a:prstGeom prst="rect">
            <a:avLst/>
          </a:prstGeom>
          <a:noFill/>
          <a:ln/>
        </p:spPr>
        <p:txBody>
          <a:bodyPr wrap="square" lIns="0" tIns="0" rIns="0" bIns="0" rtlCol="0" anchor="t">
            <a:normAutofit/>
          </a:bodyPr>
          <a:lstStyle/>
          <a:p>
            <a:pPr marL="0" indent="0" algn="l">
              <a:lnSpc>
                <a:spcPct val="87000"/>
              </a:lnSpc>
              <a:buNone/>
            </a:pPr>
            <a:r>
              <a:rPr lang="en-US" sz="3200" kern="0" spc="-48" dirty="0">
                <a:solidFill>
                  <a:srgbClr val="14264A"/>
                </a:solidFill>
                <a:latin typeface="Fraunces Black" pitchFamily="34" charset="0"/>
                <a:ea typeface="Fraunces Black" pitchFamily="34" charset="-122"/>
                <a:cs typeface="Fraunces Black" pitchFamily="34" charset="-120"/>
              </a:rPr>
              <a:t>Hotel Booking &amp; Occupancy Manager is a Java-based application</a:t>
            </a:r>
            <a:endParaRPr lang="en-US" sz="3200" dirty="0"/>
          </a:p>
        </p:txBody>
      </p:sp>
      <p:sp>
        <p:nvSpPr>
          <p:cNvPr id="4" name="Text 2"/>
          <p:cNvSpPr/>
          <p:nvPr/>
        </p:nvSpPr>
        <p:spPr>
          <a:xfrm>
            <a:off x="609585" y="1920081"/>
            <a:ext cx="11582110" cy="291405"/>
          </a:xfrm>
          <a:prstGeom prst="rect">
            <a:avLst/>
          </a:prstGeom>
          <a:noFill/>
          <a:ln/>
        </p:spPr>
        <p:txBody>
          <a:bodyPr wrap="none" lIns="0" tIns="0" rIns="0" bIns="0" rtlCol="0" anchor="t"/>
          <a:lstStyle/>
          <a:p>
            <a:pPr marL="0" indent="0" algn="l">
              <a:lnSpc>
                <a:spcPct val="112000"/>
              </a:lnSpc>
              <a:buNone/>
            </a:pPr>
            <a:r>
              <a:rPr lang="en-US" sz="1700" dirty="0">
                <a:solidFill>
                  <a:srgbClr val="14264A"/>
                </a:solidFill>
                <a:latin typeface="Rubik" pitchFamily="34" charset="0"/>
                <a:ea typeface="Rubik" pitchFamily="34" charset="-122"/>
                <a:cs typeface="Rubik" pitchFamily="34" charset="-120"/>
              </a:rPr>
              <a:t>It helps manage hotel room bookings.</a:t>
            </a:r>
            <a:endParaRPr lang="en-US" sz="1700" dirty="0"/>
          </a:p>
        </p:txBody>
      </p:sp>
      <p:sp>
        <p:nvSpPr>
          <p:cNvPr id="5" name="Shape 3"/>
          <p:cNvSpPr/>
          <p:nvPr/>
        </p:nvSpPr>
        <p:spPr>
          <a:xfrm>
            <a:off x="609585" y="2382937"/>
            <a:ext cx="3454314" cy="3364607"/>
          </a:xfrm>
          <a:prstGeom prst="roundRect">
            <a:avLst>
              <a:gd name="adj" fmla="val 5096"/>
            </a:avLst>
          </a:prstGeom>
          <a:solidFill>
            <a:srgbClr val="E2A468"/>
          </a:solidFill>
          <a:ln/>
        </p:spPr>
      </p:sp>
      <p:pic>
        <p:nvPicPr>
          <p:cNvPr id="6" name="Image 0" descr="preencoded.png"/>
          <p:cNvPicPr>
            <a:picLocks noChangeAspect="1"/>
          </p:cNvPicPr>
          <p:nvPr/>
        </p:nvPicPr>
        <p:blipFill>
          <a:blip r:embed="rId3"/>
          <a:stretch>
            <a:fillRect/>
          </a:stretch>
        </p:blipFill>
        <p:spPr>
          <a:xfrm>
            <a:off x="888978" y="2713137"/>
            <a:ext cx="380990" cy="381000"/>
          </a:xfrm>
          <a:prstGeom prst="rect">
            <a:avLst/>
          </a:prstGeom>
        </p:spPr>
      </p:pic>
      <p:sp>
        <p:nvSpPr>
          <p:cNvPr id="7" name="Text 4"/>
          <p:cNvSpPr/>
          <p:nvPr/>
        </p:nvSpPr>
        <p:spPr>
          <a:xfrm>
            <a:off x="888978" y="3205262"/>
            <a:ext cx="2895528" cy="259060"/>
          </a:xfrm>
          <a:prstGeom prst="rect">
            <a:avLst/>
          </a:prstGeom>
          <a:noFill/>
          <a:ln/>
        </p:spPr>
        <p:txBody>
          <a:bodyPr wrap="none" lIns="0" tIns="0" rIns="0" bIns="0" rtlCol="0" anchor="t"/>
          <a:lstStyle/>
          <a:p>
            <a:pPr marL="0" indent="0" algn="l">
              <a:lnSpc>
                <a:spcPct val="100000"/>
              </a:lnSpc>
              <a:buNone/>
            </a:pPr>
            <a:r>
              <a:rPr lang="en-US" sz="1700" dirty="0">
                <a:solidFill>
                  <a:srgbClr val="000000"/>
                </a:solidFill>
                <a:latin typeface="Rubik SemiBold" pitchFamily="34" charset="0"/>
                <a:ea typeface="Rubik SemiBold" pitchFamily="34" charset="-122"/>
                <a:cs typeface="Rubik SemiBold" pitchFamily="34" charset="-120"/>
              </a:rPr>
              <a:t>Java-based application</a:t>
            </a:r>
            <a:endParaRPr lang="en-US" sz="1700" dirty="0"/>
          </a:p>
        </p:txBody>
      </p:sp>
      <p:sp>
        <p:nvSpPr>
          <p:cNvPr id="8" name="Text 5"/>
          <p:cNvSpPr/>
          <p:nvPr/>
        </p:nvSpPr>
        <p:spPr>
          <a:xfrm>
            <a:off x="888978" y="3600847"/>
            <a:ext cx="2895528" cy="1139825"/>
          </a:xfrm>
          <a:prstGeom prst="rect">
            <a:avLst/>
          </a:prstGeom>
          <a:noFill/>
          <a:ln/>
        </p:spPr>
        <p:txBody>
          <a:bodyPr wrap="square" lIns="0" tIns="0" rIns="0" bIns="0" rtlCol="0" anchor="t">
            <a:normAutofit/>
          </a:bodyPr>
          <a:lstStyle/>
          <a:p>
            <a:pPr marL="0" indent="0" algn="l">
              <a:lnSpc>
                <a:spcPct val="113000"/>
              </a:lnSpc>
              <a:spcAft>
                <a:spcPts val="850"/>
              </a:spcAft>
              <a:buNone/>
            </a:pPr>
            <a:r>
              <a:rPr lang="en-US" sz="1500" dirty="0">
                <a:solidFill>
                  <a:srgbClr val="000000"/>
                </a:solidFill>
                <a:latin typeface="Rubik" pitchFamily="34" charset="0"/>
                <a:ea typeface="Rubik" pitchFamily="34" charset="-122"/>
                <a:cs typeface="Rubik" pitchFamily="34" charset="-120"/>
              </a:rPr>
              <a:t>Hotel Booking &amp; Occupancy Manager is a Java-based application.</a:t>
            </a:r>
            <a:endParaRPr lang="en-US" sz="1500" dirty="0"/>
          </a:p>
          <a:p>
            <a:pPr marL="0" indent="0" algn="l">
              <a:lnSpc>
                <a:spcPct val="113000"/>
              </a:lnSpc>
              <a:buNone/>
            </a:pPr>
            <a:r>
              <a:rPr lang="en-US" sz="1500" dirty="0">
                <a:solidFill>
                  <a:srgbClr val="000000"/>
                </a:solidFill>
                <a:latin typeface="Rubik" pitchFamily="34" charset="0"/>
                <a:ea typeface="Rubik" pitchFamily="34" charset="-122"/>
                <a:cs typeface="Rubik" pitchFamily="34" charset="-120"/>
              </a:rPr>
              <a:t>CONCEPTS USED:</a:t>
            </a:r>
            <a:endParaRPr lang="en-US" sz="1500" dirty="0"/>
          </a:p>
        </p:txBody>
      </p:sp>
      <p:sp>
        <p:nvSpPr>
          <p:cNvPr id="9" name="Text 6"/>
          <p:cNvSpPr/>
          <p:nvPr/>
        </p:nvSpPr>
        <p:spPr>
          <a:xfrm>
            <a:off x="888978" y="4851797"/>
            <a:ext cx="2895528" cy="565547"/>
          </a:xfrm>
          <a:prstGeom prst="rect">
            <a:avLst/>
          </a:prstGeom>
          <a:noFill/>
          <a:ln/>
        </p:spPr>
        <p:txBody>
          <a:bodyPr wrap="square" lIns="0" tIns="0" rIns="0" bIns="0" rtlCol="0" anchor="t">
            <a:normAutofit/>
          </a:bodyPr>
          <a:lstStyle/>
          <a:p>
            <a:pPr marL="0" indent="0" algn="l">
              <a:lnSpc>
                <a:spcPct val="112000"/>
              </a:lnSpc>
              <a:buNone/>
            </a:pPr>
            <a:r>
              <a:rPr lang="en-US" sz="1100" dirty="0">
                <a:solidFill>
                  <a:srgbClr val="000000"/>
                </a:solidFill>
                <a:latin typeface="Rubik" pitchFamily="34" charset="0"/>
                <a:ea typeface="Rubik" pitchFamily="34" charset="-122"/>
                <a:cs typeface="Rubik" pitchFamily="34" charset="-120"/>
              </a:rPr>
              <a:t>Variables, Data types, Operators, if-else-if, switch, for loop, while/do-while, Methods, Arrays, Scanner for user input, Basic OOP</a:t>
            </a:r>
            <a:endParaRPr lang="en-US" sz="1100" dirty="0"/>
          </a:p>
        </p:txBody>
      </p:sp>
      <p:sp>
        <p:nvSpPr>
          <p:cNvPr id="10" name="Shape 7"/>
          <p:cNvSpPr/>
          <p:nvPr/>
        </p:nvSpPr>
        <p:spPr>
          <a:xfrm>
            <a:off x="4368691" y="2382937"/>
            <a:ext cx="3454314" cy="3364607"/>
          </a:xfrm>
          <a:prstGeom prst="roundRect">
            <a:avLst>
              <a:gd name="adj" fmla="val 5096"/>
            </a:avLst>
          </a:prstGeom>
          <a:solidFill>
            <a:srgbClr val="86A69F"/>
          </a:solidFill>
          <a:ln/>
        </p:spPr>
      </p:sp>
      <p:pic>
        <p:nvPicPr>
          <p:cNvPr id="11" name="Image 1" descr="preencoded.png"/>
          <p:cNvPicPr>
            <a:picLocks noChangeAspect="1"/>
          </p:cNvPicPr>
          <p:nvPr/>
        </p:nvPicPr>
        <p:blipFill>
          <a:blip r:embed="rId4"/>
          <a:stretch>
            <a:fillRect/>
          </a:stretch>
        </p:blipFill>
        <p:spPr>
          <a:xfrm>
            <a:off x="4648084" y="2713137"/>
            <a:ext cx="380990" cy="381000"/>
          </a:xfrm>
          <a:prstGeom prst="rect">
            <a:avLst/>
          </a:prstGeom>
        </p:spPr>
      </p:pic>
      <p:sp>
        <p:nvSpPr>
          <p:cNvPr id="12" name="Text 8"/>
          <p:cNvSpPr/>
          <p:nvPr/>
        </p:nvSpPr>
        <p:spPr>
          <a:xfrm>
            <a:off x="4648084" y="3205262"/>
            <a:ext cx="2895528" cy="259060"/>
          </a:xfrm>
          <a:prstGeom prst="rect">
            <a:avLst/>
          </a:prstGeom>
          <a:noFill/>
          <a:ln/>
        </p:spPr>
        <p:txBody>
          <a:bodyPr wrap="none" lIns="0" tIns="0" rIns="0" bIns="0" rtlCol="0" anchor="t"/>
          <a:lstStyle/>
          <a:p>
            <a:pPr marL="0" indent="0" algn="l">
              <a:lnSpc>
                <a:spcPct val="100000"/>
              </a:lnSpc>
              <a:buNone/>
            </a:pPr>
            <a:r>
              <a:rPr lang="en-US" sz="1700" dirty="0">
                <a:solidFill>
                  <a:srgbClr val="000000"/>
                </a:solidFill>
                <a:latin typeface="Rubik SemiBold" pitchFamily="34" charset="0"/>
                <a:ea typeface="Rubik SemiBold" pitchFamily="34" charset="-122"/>
                <a:cs typeface="Rubik SemiBold" pitchFamily="34" charset="-120"/>
              </a:rPr>
              <a:t>Hotel room bookings</a:t>
            </a:r>
            <a:endParaRPr lang="en-US" sz="1700" dirty="0"/>
          </a:p>
        </p:txBody>
      </p:sp>
      <p:sp>
        <p:nvSpPr>
          <p:cNvPr id="13" name="Text 9"/>
          <p:cNvSpPr/>
          <p:nvPr/>
        </p:nvSpPr>
        <p:spPr>
          <a:xfrm>
            <a:off x="4648084" y="3600847"/>
            <a:ext cx="2895528" cy="1765300"/>
          </a:xfrm>
          <a:prstGeom prst="rect">
            <a:avLst/>
          </a:prstGeom>
          <a:noFill/>
          <a:ln/>
        </p:spPr>
        <p:txBody>
          <a:bodyPr wrap="square" lIns="0" tIns="0" rIns="0" bIns="0" rtlCol="0" anchor="t">
            <a:normAutofit/>
          </a:bodyPr>
          <a:lstStyle/>
          <a:p>
            <a:pPr marL="0" indent="0" algn="l">
              <a:lnSpc>
                <a:spcPct val="113000"/>
              </a:lnSpc>
              <a:spcAft>
                <a:spcPts val="850"/>
              </a:spcAft>
              <a:buNone/>
            </a:pPr>
            <a:r>
              <a:rPr lang="en-US" sz="1500" dirty="0">
                <a:solidFill>
                  <a:srgbClr val="000000"/>
                </a:solidFill>
                <a:latin typeface="Rubik" pitchFamily="34" charset="0"/>
                <a:ea typeface="Rubik" pitchFamily="34" charset="-122"/>
                <a:cs typeface="Rubik" pitchFamily="34" charset="-120"/>
              </a:rPr>
              <a:t>. The application helps manage hotel room bookings.</a:t>
            </a:r>
            <a:endParaRPr lang="en-US" sz="1500" dirty="0"/>
          </a:p>
          <a:p>
            <a:pPr marL="0" indent="0" algn="l">
              <a:lnSpc>
                <a:spcPct val="113000"/>
              </a:lnSpc>
              <a:spcAft>
                <a:spcPts val="850"/>
              </a:spcAft>
              <a:buNone/>
            </a:pPr>
            <a:r>
              <a:rPr lang="en-US" sz="1500" dirty="0">
                <a:solidFill>
                  <a:srgbClr val="000000"/>
                </a:solidFill>
                <a:latin typeface="Rubik" pitchFamily="34" charset="0"/>
                <a:ea typeface="Rubik" pitchFamily="34" charset="-122"/>
                <a:cs typeface="Rubik" pitchFamily="34" charset="-120"/>
              </a:rPr>
              <a:t>. It calculates the total booking  amount</a:t>
            </a:r>
            <a:endParaRPr lang="en-US" sz="1500" dirty="0"/>
          </a:p>
          <a:p>
            <a:pPr marL="0" indent="0" algn="l">
              <a:lnSpc>
                <a:spcPct val="113000"/>
              </a:lnSpc>
              <a:buNone/>
            </a:pPr>
            <a:r>
              <a:rPr lang="en-US" sz="1500" dirty="0">
                <a:solidFill>
                  <a:srgbClr val="000000"/>
                </a:solidFill>
                <a:latin typeface="Rubik" pitchFamily="34" charset="0"/>
                <a:ea typeface="Rubik" pitchFamily="34" charset="-122"/>
                <a:cs typeface="Rubik" pitchFamily="34" charset="-120"/>
              </a:rPr>
              <a:t>. It tracks room occupany and     availability</a:t>
            </a:r>
            <a:endParaRPr lang="en-US" sz="1500" dirty="0"/>
          </a:p>
        </p:txBody>
      </p:sp>
      <p:sp>
        <p:nvSpPr>
          <p:cNvPr id="14" name="Shape 10"/>
          <p:cNvSpPr/>
          <p:nvPr/>
        </p:nvSpPr>
        <p:spPr>
          <a:xfrm>
            <a:off x="8127797" y="2382937"/>
            <a:ext cx="3454314" cy="3364607"/>
          </a:xfrm>
          <a:prstGeom prst="roundRect">
            <a:avLst>
              <a:gd name="adj" fmla="val 5096"/>
            </a:avLst>
          </a:prstGeom>
          <a:solidFill>
            <a:srgbClr val="336A85"/>
          </a:solidFill>
          <a:ln/>
        </p:spPr>
      </p:sp>
      <p:pic>
        <p:nvPicPr>
          <p:cNvPr id="15" name="Image 2" descr="preencoded.png"/>
          <p:cNvPicPr>
            <a:picLocks noChangeAspect="1"/>
          </p:cNvPicPr>
          <p:nvPr/>
        </p:nvPicPr>
        <p:blipFill>
          <a:blip r:embed="rId5"/>
          <a:stretch>
            <a:fillRect/>
          </a:stretch>
        </p:blipFill>
        <p:spPr>
          <a:xfrm>
            <a:off x="8407190" y="2713137"/>
            <a:ext cx="380990" cy="381000"/>
          </a:xfrm>
          <a:prstGeom prst="rect">
            <a:avLst/>
          </a:prstGeom>
        </p:spPr>
      </p:pic>
      <p:sp>
        <p:nvSpPr>
          <p:cNvPr id="16" name="Text 11"/>
          <p:cNvSpPr/>
          <p:nvPr/>
        </p:nvSpPr>
        <p:spPr>
          <a:xfrm>
            <a:off x="8407190" y="3205262"/>
            <a:ext cx="2895528" cy="259060"/>
          </a:xfrm>
          <a:prstGeom prst="rect">
            <a:avLst/>
          </a:prstGeom>
          <a:noFill/>
          <a:ln/>
        </p:spPr>
        <p:txBody>
          <a:bodyPr wrap="none" lIns="0" tIns="0" rIns="0" bIns="0" rtlCol="0" anchor="t"/>
          <a:lstStyle/>
          <a:p>
            <a:pPr marL="0" indent="0" algn="l">
              <a:lnSpc>
                <a:spcPct val="100000"/>
              </a:lnSpc>
              <a:buNone/>
            </a:pPr>
            <a:r>
              <a:rPr lang="en-US" sz="1700" dirty="0">
                <a:solidFill>
                  <a:srgbClr val="FFFFFF"/>
                </a:solidFill>
                <a:latin typeface="Rubik SemiBold" pitchFamily="34" charset="0"/>
                <a:ea typeface="Rubik SemiBold" pitchFamily="34" charset="-122"/>
                <a:cs typeface="Rubik SemiBold" pitchFamily="34" charset="-120"/>
              </a:rPr>
              <a:t>Simple management</a:t>
            </a:r>
            <a:endParaRPr lang="en-US" sz="1700" dirty="0"/>
          </a:p>
        </p:txBody>
      </p:sp>
      <p:sp>
        <p:nvSpPr>
          <p:cNvPr id="17" name="Text 12"/>
          <p:cNvSpPr/>
          <p:nvPr/>
        </p:nvSpPr>
        <p:spPr>
          <a:xfrm>
            <a:off x="8407190" y="3600847"/>
            <a:ext cx="2895528" cy="1139825"/>
          </a:xfrm>
          <a:prstGeom prst="rect">
            <a:avLst/>
          </a:prstGeom>
          <a:noFill/>
          <a:ln/>
        </p:spPr>
        <p:txBody>
          <a:bodyPr wrap="square" lIns="0" tIns="0" rIns="0" bIns="0" rtlCol="0" anchor="t">
            <a:normAutofit/>
          </a:bodyPr>
          <a:lstStyle/>
          <a:p>
            <a:pPr marL="0" indent="0" algn="l">
              <a:lnSpc>
                <a:spcPct val="113000"/>
              </a:lnSpc>
              <a:spcAft>
                <a:spcPts val="850"/>
              </a:spcAft>
              <a:buNone/>
            </a:pPr>
            <a:r>
              <a:rPr lang="en-US" sz="1500" dirty="0">
                <a:solidFill>
                  <a:srgbClr val="FFFFFF"/>
                </a:solidFill>
                <a:latin typeface="Rubik" pitchFamily="34" charset="0"/>
                <a:ea typeface="Rubik" pitchFamily="34" charset="-122"/>
                <a:cs typeface="Rubik" pitchFamily="34" charset="-120"/>
              </a:rPr>
              <a:t>. Bookings are organized in one Java-based system.</a:t>
            </a:r>
            <a:endParaRPr lang="en-US" sz="1500" dirty="0"/>
          </a:p>
          <a:p>
            <a:pPr marL="0" indent="0" algn="l">
              <a:lnSpc>
                <a:spcPct val="113000"/>
              </a:lnSpc>
              <a:buNone/>
            </a:pPr>
            <a:r>
              <a:rPr lang="en-US" sz="1500" dirty="0">
                <a:solidFill>
                  <a:srgbClr val="FFFFFF"/>
                </a:solidFill>
                <a:latin typeface="Rubik" pitchFamily="34" charset="0"/>
                <a:ea typeface="Rubik" pitchFamily="34" charset="-122"/>
                <a:cs typeface="Rubik" pitchFamily="34" charset="-120"/>
              </a:rPr>
              <a:t>. It categorizes customers based on their booking amount</a:t>
            </a:r>
            <a:endParaRPr lang="en-US" sz="1500" dirty="0"/>
          </a:p>
        </p:txBody>
      </p:sp>
      <p:sp>
        <p:nvSpPr>
          <p:cNvPr id="18" name="Shape 13"/>
          <p:cNvSpPr/>
          <p:nvPr/>
        </p:nvSpPr>
        <p:spPr>
          <a:xfrm>
            <a:off x="0" y="6159500"/>
            <a:ext cx="12191695" cy="698500"/>
          </a:xfrm>
          <a:custGeom>
            <a:avLst/>
            <a:gdLst/>
            <a:ahLst/>
            <a:cxnLst/>
            <a:rect l="l" t="t" r="r" b="b"/>
            <a:pathLst>
              <a:path w="12191695" h="698500">
                <a:moveTo>
                  <a:pt x="0" y="407784"/>
                </a:moveTo>
                <a:lnTo>
                  <a:pt x="253587" y="411067"/>
                </a:lnTo>
                <a:lnTo>
                  <a:pt x="508394" y="411905"/>
                </a:lnTo>
                <a:lnTo>
                  <a:pt x="761981" y="410089"/>
                </a:lnTo>
                <a:lnTo>
                  <a:pt x="1015568" y="405689"/>
                </a:lnTo>
                <a:lnTo>
                  <a:pt x="1270375" y="398704"/>
                </a:lnTo>
                <a:lnTo>
                  <a:pt x="1523962" y="389204"/>
                </a:lnTo>
                <a:lnTo>
                  <a:pt x="1777549" y="377260"/>
                </a:lnTo>
                <a:lnTo>
                  <a:pt x="2032356" y="362941"/>
                </a:lnTo>
                <a:lnTo>
                  <a:pt x="2285943" y="346596"/>
                </a:lnTo>
                <a:lnTo>
                  <a:pt x="2539530" y="328295"/>
                </a:lnTo>
                <a:lnTo>
                  <a:pt x="2794336" y="308318"/>
                </a:lnTo>
                <a:lnTo>
                  <a:pt x="3047924" y="286944"/>
                </a:lnTo>
                <a:lnTo>
                  <a:pt x="3301511" y="264522"/>
                </a:lnTo>
                <a:lnTo>
                  <a:pt x="3556317" y="241262"/>
                </a:lnTo>
                <a:lnTo>
                  <a:pt x="3809905" y="217653"/>
                </a:lnTo>
                <a:lnTo>
                  <a:pt x="4063492" y="193904"/>
                </a:lnTo>
                <a:lnTo>
                  <a:pt x="4318298" y="170434"/>
                </a:lnTo>
                <a:lnTo>
                  <a:pt x="4571886" y="147523"/>
                </a:lnTo>
                <a:lnTo>
                  <a:pt x="4825473" y="125520"/>
                </a:lnTo>
                <a:lnTo>
                  <a:pt x="5080279" y="104705"/>
                </a:lnTo>
                <a:lnTo>
                  <a:pt x="5333867" y="85496"/>
                </a:lnTo>
                <a:lnTo>
                  <a:pt x="5587454" y="67964"/>
                </a:lnTo>
                <a:lnTo>
                  <a:pt x="5842260" y="52527"/>
                </a:lnTo>
                <a:lnTo>
                  <a:pt x="6095848" y="39256"/>
                </a:lnTo>
                <a:lnTo>
                  <a:pt x="6349435" y="28289"/>
                </a:lnTo>
                <a:lnTo>
                  <a:pt x="6604241" y="19907"/>
                </a:lnTo>
                <a:lnTo>
                  <a:pt x="6857828" y="14040"/>
                </a:lnTo>
                <a:lnTo>
                  <a:pt x="7111416" y="10827"/>
                </a:lnTo>
                <a:lnTo>
                  <a:pt x="7366222" y="10198"/>
                </a:lnTo>
                <a:lnTo>
                  <a:pt x="7619809" y="12084"/>
                </a:lnTo>
                <a:lnTo>
                  <a:pt x="7873397" y="16485"/>
                </a:lnTo>
                <a:lnTo>
                  <a:pt x="8128203" y="23120"/>
                </a:lnTo>
                <a:lnTo>
                  <a:pt x="8381790" y="31852"/>
                </a:lnTo>
                <a:lnTo>
                  <a:pt x="8635378" y="42609"/>
                </a:lnTo>
                <a:lnTo>
                  <a:pt x="8890184" y="54902"/>
                </a:lnTo>
                <a:lnTo>
                  <a:pt x="9143771" y="68663"/>
                </a:lnTo>
                <a:lnTo>
                  <a:pt x="9397359" y="83471"/>
                </a:lnTo>
                <a:lnTo>
                  <a:pt x="9652165" y="99047"/>
                </a:lnTo>
                <a:lnTo>
                  <a:pt x="9905752" y="115113"/>
                </a:lnTo>
                <a:lnTo>
                  <a:pt x="10159339" y="131178"/>
                </a:lnTo>
                <a:lnTo>
                  <a:pt x="10414146" y="147104"/>
                </a:lnTo>
                <a:lnTo>
                  <a:pt x="10667733" y="162331"/>
                </a:lnTo>
                <a:lnTo>
                  <a:pt x="10921320" y="176721"/>
                </a:lnTo>
                <a:lnTo>
                  <a:pt x="11176127" y="189922"/>
                </a:lnTo>
                <a:lnTo>
                  <a:pt x="11429714" y="201517"/>
                </a:lnTo>
                <a:lnTo>
                  <a:pt x="11683301" y="211436"/>
                </a:lnTo>
                <a:lnTo>
                  <a:pt x="11938108" y="219259"/>
                </a:lnTo>
                <a:lnTo>
                  <a:pt x="12191695" y="224917"/>
                </a:lnTo>
                <a:lnTo>
                  <a:pt x="12191695" y="698500"/>
                </a:lnTo>
                <a:lnTo>
                  <a:pt x="0" y="698500"/>
                </a:lnTo>
                <a:close/>
              </a:path>
            </a:pathLst>
          </a:custGeom>
          <a:solidFill>
            <a:srgbClr val="86A69F"/>
          </a:solidFill>
          <a:ln/>
        </p:spPr>
      </p:sp>
      <p:sp>
        <p:nvSpPr>
          <p:cNvPr id="19" name="Shape 14"/>
          <p:cNvSpPr/>
          <p:nvPr/>
        </p:nvSpPr>
        <p:spPr>
          <a:xfrm>
            <a:off x="0" y="6527800"/>
            <a:ext cx="12191695" cy="330200"/>
          </a:xfrm>
          <a:custGeom>
            <a:avLst/>
            <a:gdLst/>
            <a:ahLst/>
            <a:cxnLst/>
            <a:rect l="l" t="t" r="r" b="b"/>
            <a:pathLst>
              <a:path w="12191695" h="330200">
                <a:moveTo>
                  <a:pt x="0" y="177350"/>
                </a:moveTo>
                <a:lnTo>
                  <a:pt x="253587" y="185539"/>
                </a:lnTo>
                <a:lnTo>
                  <a:pt x="508394" y="192308"/>
                </a:lnTo>
                <a:lnTo>
                  <a:pt x="761981" y="197493"/>
                </a:lnTo>
                <a:lnTo>
                  <a:pt x="1015568" y="201059"/>
                </a:lnTo>
                <a:lnTo>
                  <a:pt x="1270375" y="202908"/>
                </a:lnTo>
                <a:lnTo>
                  <a:pt x="1523962" y="203040"/>
                </a:lnTo>
                <a:lnTo>
                  <a:pt x="1777549" y="201422"/>
                </a:lnTo>
                <a:lnTo>
                  <a:pt x="2032356" y="198120"/>
                </a:lnTo>
                <a:lnTo>
                  <a:pt x="2285943" y="193134"/>
                </a:lnTo>
                <a:lnTo>
                  <a:pt x="2539530" y="186596"/>
                </a:lnTo>
                <a:lnTo>
                  <a:pt x="2794336" y="178605"/>
                </a:lnTo>
                <a:lnTo>
                  <a:pt x="3047924" y="169294"/>
                </a:lnTo>
                <a:lnTo>
                  <a:pt x="3301511" y="158826"/>
                </a:lnTo>
                <a:lnTo>
                  <a:pt x="3556317" y="147368"/>
                </a:lnTo>
                <a:lnTo>
                  <a:pt x="3809905" y="135151"/>
                </a:lnTo>
                <a:lnTo>
                  <a:pt x="4063492" y="122339"/>
                </a:lnTo>
                <a:lnTo>
                  <a:pt x="4318298" y="109197"/>
                </a:lnTo>
                <a:lnTo>
                  <a:pt x="4571886" y="95890"/>
                </a:lnTo>
                <a:lnTo>
                  <a:pt x="4825473" y="82715"/>
                </a:lnTo>
                <a:lnTo>
                  <a:pt x="5080279" y="69837"/>
                </a:lnTo>
                <a:lnTo>
                  <a:pt x="5333867" y="57521"/>
                </a:lnTo>
                <a:lnTo>
                  <a:pt x="5587454" y="45931"/>
                </a:lnTo>
                <a:lnTo>
                  <a:pt x="5842260" y="35331"/>
                </a:lnTo>
                <a:lnTo>
                  <a:pt x="6095848" y="25822"/>
                </a:lnTo>
                <a:lnTo>
                  <a:pt x="6349435" y="17633"/>
                </a:lnTo>
                <a:lnTo>
                  <a:pt x="6604241" y="10897"/>
                </a:lnTo>
                <a:lnTo>
                  <a:pt x="6857828" y="5712"/>
                </a:lnTo>
                <a:lnTo>
                  <a:pt x="7111416" y="2146"/>
                </a:lnTo>
                <a:lnTo>
                  <a:pt x="7366222" y="297"/>
                </a:lnTo>
                <a:lnTo>
                  <a:pt x="7619809" y="165"/>
                </a:lnTo>
                <a:lnTo>
                  <a:pt x="7873397" y="1783"/>
                </a:lnTo>
                <a:lnTo>
                  <a:pt x="8128203" y="5085"/>
                </a:lnTo>
                <a:lnTo>
                  <a:pt x="8381790" y="10071"/>
                </a:lnTo>
                <a:lnTo>
                  <a:pt x="8635378" y="16609"/>
                </a:lnTo>
                <a:lnTo>
                  <a:pt x="8890184" y="24600"/>
                </a:lnTo>
                <a:lnTo>
                  <a:pt x="9143771" y="33912"/>
                </a:lnTo>
                <a:lnTo>
                  <a:pt x="9397359" y="44379"/>
                </a:lnTo>
                <a:lnTo>
                  <a:pt x="9652165" y="55837"/>
                </a:lnTo>
                <a:lnTo>
                  <a:pt x="9905752" y="68054"/>
                </a:lnTo>
                <a:lnTo>
                  <a:pt x="10159339" y="80866"/>
                </a:lnTo>
                <a:lnTo>
                  <a:pt x="10414146" y="94008"/>
                </a:lnTo>
                <a:lnTo>
                  <a:pt x="10667733" y="107315"/>
                </a:lnTo>
                <a:lnTo>
                  <a:pt x="10921320" y="120490"/>
                </a:lnTo>
                <a:lnTo>
                  <a:pt x="11176127" y="133368"/>
                </a:lnTo>
                <a:lnTo>
                  <a:pt x="11429714" y="145684"/>
                </a:lnTo>
                <a:lnTo>
                  <a:pt x="11683301" y="157274"/>
                </a:lnTo>
                <a:lnTo>
                  <a:pt x="11938108" y="167874"/>
                </a:lnTo>
                <a:lnTo>
                  <a:pt x="12191695" y="177350"/>
                </a:lnTo>
                <a:lnTo>
                  <a:pt x="12191695" y="330200"/>
                </a:lnTo>
                <a:lnTo>
                  <a:pt x="0" y="330200"/>
                </a:lnTo>
                <a:close/>
              </a:path>
            </a:pathLst>
          </a:custGeom>
          <a:solidFill>
            <a:srgbClr val="4A8895"/>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09600"/>
            <a:ext cx="11582110" cy="179090"/>
          </a:xfrm>
          <a:prstGeom prst="rect">
            <a:avLst/>
          </a:prstGeom>
          <a:noFill/>
          <a:ln/>
        </p:spPr>
        <p:txBody>
          <a:bodyPr wrap="none" lIns="0" tIns="0" rIns="0" bIns="0" rtlCol="0" anchor="t"/>
          <a:lstStyle/>
          <a:p>
            <a:pPr marL="0" indent="0" algn="l">
              <a:lnSpc>
                <a:spcPct val="104000"/>
              </a:lnSpc>
              <a:buNone/>
            </a:pPr>
            <a:r>
              <a:rPr lang="en-US" sz="1150" kern="0" spc="90" dirty="0">
                <a:solidFill>
                  <a:srgbClr val="14264A"/>
                </a:solidFill>
                <a:latin typeface="Rubik SemiBold" pitchFamily="34" charset="0"/>
                <a:ea typeface="Rubik SemiBold" pitchFamily="34" charset="-122"/>
                <a:cs typeface="Rubik SemiBold" pitchFamily="34" charset="-120"/>
              </a:rPr>
              <a:t>PROBLEM STATEMENT &amp; ABSTRACT</a:t>
            </a:r>
            <a:endParaRPr lang="en-US" sz="1150" dirty="0"/>
          </a:p>
        </p:txBody>
      </p:sp>
      <p:sp>
        <p:nvSpPr>
          <p:cNvPr id="3" name="Text 1"/>
          <p:cNvSpPr/>
          <p:nvPr/>
        </p:nvSpPr>
        <p:spPr>
          <a:xfrm>
            <a:off x="609585" y="856059"/>
            <a:ext cx="10972526" cy="401241"/>
          </a:xfrm>
          <a:prstGeom prst="rect">
            <a:avLst/>
          </a:prstGeom>
          <a:noFill/>
          <a:ln/>
        </p:spPr>
        <p:txBody>
          <a:bodyPr wrap="none" lIns="0" tIns="0" rIns="0" bIns="0" rtlCol="0" anchor="t"/>
          <a:lstStyle/>
          <a:p>
            <a:pPr marL="0" indent="0" algn="l">
              <a:lnSpc>
                <a:spcPct val="87000"/>
              </a:lnSpc>
              <a:buNone/>
            </a:pPr>
            <a:r>
              <a:rPr lang="en-US" sz="3000" kern="0" spc="-45" dirty="0">
                <a:solidFill>
                  <a:srgbClr val="14264A"/>
                </a:solidFill>
                <a:latin typeface="Fraunces Black" pitchFamily="34" charset="0"/>
                <a:ea typeface="Fraunces Black" pitchFamily="34" charset="-122"/>
                <a:cs typeface="Fraunces Black" pitchFamily="34" charset="-120"/>
              </a:rPr>
              <a:t>Hotel booking management can be time-consuming</a:t>
            </a:r>
            <a:endParaRPr lang="en-US" sz="3000" dirty="0"/>
          </a:p>
        </p:txBody>
      </p:sp>
      <p:sp>
        <p:nvSpPr>
          <p:cNvPr id="4" name="Shape 2"/>
          <p:cNvSpPr/>
          <p:nvPr/>
        </p:nvSpPr>
        <p:spPr>
          <a:xfrm>
            <a:off x="609585" y="1408906"/>
            <a:ext cx="1371566" cy="943868"/>
          </a:xfrm>
          <a:prstGeom prst="roundRect">
            <a:avLst>
              <a:gd name="adj" fmla="val 17081"/>
            </a:avLst>
          </a:prstGeom>
          <a:solidFill>
            <a:srgbClr val="E2A468"/>
          </a:solidFill>
          <a:ln/>
        </p:spPr>
      </p:sp>
      <p:sp>
        <p:nvSpPr>
          <p:cNvPr id="5" name="Text 3"/>
          <p:cNvSpPr/>
          <p:nvPr/>
        </p:nvSpPr>
        <p:spPr>
          <a:xfrm>
            <a:off x="1169363" y="1748631"/>
            <a:ext cx="251910" cy="264418"/>
          </a:xfrm>
          <a:prstGeom prst="rect">
            <a:avLst/>
          </a:prstGeom>
          <a:noFill/>
          <a:ln/>
        </p:spPr>
        <p:txBody>
          <a:bodyPr wrap="none" lIns="0" tIns="0" rIns="0" bIns="0" rtlCol="0" anchor="ctr"/>
          <a:lstStyle/>
          <a:p>
            <a:pPr marL="0" indent="0" algn="ctr">
              <a:lnSpc>
                <a:spcPct val="100000"/>
              </a:lnSpc>
              <a:buNone/>
            </a:pPr>
            <a:r>
              <a:rPr lang="en-US" sz="2000" kern="0" spc="-26" dirty="0">
                <a:solidFill>
                  <a:srgbClr val="000000"/>
                </a:solidFill>
                <a:latin typeface="Fraunces Black" pitchFamily="34" charset="0"/>
                <a:ea typeface="Fraunces Black" pitchFamily="34" charset="-122"/>
                <a:cs typeface="Fraunces Black" pitchFamily="34" charset="-120"/>
              </a:rPr>
              <a:t>1</a:t>
            </a:r>
            <a:endParaRPr lang="en-US" sz="2000" dirty="0"/>
          </a:p>
        </p:txBody>
      </p:sp>
      <p:sp>
        <p:nvSpPr>
          <p:cNvPr id="6" name="Text 4"/>
          <p:cNvSpPr/>
          <p:nvPr/>
        </p:nvSpPr>
        <p:spPr>
          <a:xfrm>
            <a:off x="2160236" y="1587996"/>
            <a:ext cx="9242789" cy="243582"/>
          </a:xfrm>
          <a:prstGeom prst="rect">
            <a:avLst/>
          </a:prstGeom>
          <a:noFill/>
          <a:ln/>
        </p:spPr>
        <p:txBody>
          <a:bodyPr wrap="none" lIns="0" tIns="0" rIns="0" bIns="0" rtlCol="0" anchor="t"/>
          <a:lstStyle/>
          <a:p>
            <a:pPr marL="0" indent="0" algn="l">
              <a:lnSpc>
                <a:spcPct val="100000"/>
              </a:lnSpc>
              <a:buNone/>
            </a:pPr>
            <a:r>
              <a:rPr lang="en-US" sz="1600" kern="0" spc="-24" dirty="0">
                <a:solidFill>
                  <a:srgbClr val="14264A"/>
                </a:solidFill>
                <a:latin typeface="Fraunces Black" pitchFamily="34" charset="0"/>
                <a:ea typeface="Fraunces Black" pitchFamily="34" charset="-122"/>
                <a:cs typeface="Fraunces Black" pitchFamily="34" charset="-120"/>
              </a:rPr>
              <a:t>Problem statement</a:t>
            </a:r>
            <a:endParaRPr lang="en-US" sz="1600" dirty="0"/>
          </a:p>
        </p:txBody>
      </p:sp>
      <p:sp>
        <p:nvSpPr>
          <p:cNvPr id="7" name="Text 5"/>
          <p:cNvSpPr/>
          <p:nvPr/>
        </p:nvSpPr>
        <p:spPr>
          <a:xfrm>
            <a:off x="2160236" y="1939032"/>
            <a:ext cx="9242789" cy="234652"/>
          </a:xfrm>
          <a:prstGeom prst="rect">
            <a:avLst/>
          </a:prstGeom>
          <a:noFill/>
          <a:ln/>
        </p:spPr>
        <p:txBody>
          <a:bodyPr wrap="none" lIns="0" tIns="0" rIns="0" bIns="0" rtlCol="0" anchor="t"/>
          <a:lstStyle/>
          <a:p>
            <a:pPr marL="0" indent="0" algn="l">
              <a:lnSpc>
                <a:spcPct val="109000"/>
              </a:lnSpc>
              <a:buNone/>
            </a:pPr>
            <a:r>
              <a:rPr lang="en-US" sz="1400" dirty="0">
                <a:solidFill>
                  <a:srgbClr val="14264A"/>
                </a:solidFill>
                <a:latin typeface="Rubik" pitchFamily="34" charset="0"/>
                <a:ea typeface="Rubik" pitchFamily="34" charset="-122"/>
                <a:cs typeface="Rubik" pitchFamily="34" charset="-120"/>
              </a:rPr>
              <a:t>Calculating booking costs takes time , requires a lot of manual work.</a:t>
            </a:r>
            <a:endParaRPr lang="en-US" sz="1400" dirty="0"/>
          </a:p>
        </p:txBody>
      </p:sp>
      <p:sp>
        <p:nvSpPr>
          <p:cNvPr id="8" name="Shape 6"/>
          <p:cNvSpPr/>
          <p:nvPr/>
        </p:nvSpPr>
        <p:spPr>
          <a:xfrm>
            <a:off x="2070644" y="2348012"/>
            <a:ext cx="9421974" cy="9525"/>
          </a:xfrm>
          <a:prstGeom prst="roundRect">
            <a:avLst>
              <a:gd name="adj" fmla="val 49999"/>
            </a:avLst>
          </a:prstGeom>
          <a:solidFill>
            <a:srgbClr val="E2A468"/>
          </a:solidFill>
          <a:ln/>
        </p:spPr>
      </p:sp>
      <p:sp>
        <p:nvSpPr>
          <p:cNvPr id="9" name="Shape 7"/>
          <p:cNvSpPr/>
          <p:nvPr/>
        </p:nvSpPr>
        <p:spPr>
          <a:xfrm>
            <a:off x="609585" y="2442270"/>
            <a:ext cx="2743131" cy="2351782"/>
          </a:xfrm>
          <a:prstGeom prst="roundRect">
            <a:avLst>
              <a:gd name="adj" fmla="val 6855"/>
            </a:avLst>
          </a:prstGeom>
          <a:solidFill>
            <a:srgbClr val="4A8895"/>
          </a:solidFill>
          <a:ln/>
        </p:spPr>
      </p:sp>
      <p:sp>
        <p:nvSpPr>
          <p:cNvPr id="10" name="Text 8"/>
          <p:cNvSpPr/>
          <p:nvPr/>
        </p:nvSpPr>
        <p:spPr>
          <a:xfrm>
            <a:off x="1855146" y="3485952"/>
            <a:ext cx="251910" cy="264418"/>
          </a:xfrm>
          <a:prstGeom prst="rect">
            <a:avLst/>
          </a:prstGeom>
          <a:noFill/>
          <a:ln/>
        </p:spPr>
        <p:txBody>
          <a:bodyPr wrap="none" lIns="0" tIns="0" rIns="0" bIns="0" rtlCol="0" anchor="ctr"/>
          <a:lstStyle/>
          <a:p>
            <a:pPr marL="0" indent="0" algn="ctr">
              <a:lnSpc>
                <a:spcPct val="100000"/>
              </a:lnSpc>
              <a:buNone/>
            </a:pPr>
            <a:r>
              <a:rPr lang="en-US" sz="2000" kern="0" spc="-26" dirty="0">
                <a:solidFill>
                  <a:srgbClr val="FFFFFF"/>
                </a:solidFill>
                <a:latin typeface="Fraunces Black" pitchFamily="34" charset="0"/>
                <a:ea typeface="Fraunces Black" pitchFamily="34" charset="-122"/>
                <a:cs typeface="Fraunces Black" pitchFamily="34" charset="-120"/>
              </a:rPr>
              <a:t>2</a:t>
            </a:r>
            <a:endParaRPr lang="en-US" sz="2000" dirty="0"/>
          </a:p>
        </p:txBody>
      </p:sp>
      <p:sp>
        <p:nvSpPr>
          <p:cNvPr id="11" name="Text 9"/>
          <p:cNvSpPr/>
          <p:nvPr/>
        </p:nvSpPr>
        <p:spPr>
          <a:xfrm>
            <a:off x="3531801" y="2621359"/>
            <a:ext cx="7871223" cy="243582"/>
          </a:xfrm>
          <a:prstGeom prst="rect">
            <a:avLst/>
          </a:prstGeom>
          <a:noFill/>
          <a:ln/>
        </p:spPr>
        <p:txBody>
          <a:bodyPr wrap="none" lIns="0" tIns="0" rIns="0" bIns="0" rtlCol="0" anchor="t"/>
          <a:lstStyle/>
          <a:p>
            <a:pPr marL="0" indent="0" algn="l">
              <a:lnSpc>
                <a:spcPct val="100000"/>
              </a:lnSpc>
              <a:buNone/>
            </a:pPr>
            <a:r>
              <a:rPr lang="en-US" sz="1600" kern="0" spc="-24" dirty="0">
                <a:solidFill>
                  <a:srgbClr val="14264A"/>
                </a:solidFill>
                <a:latin typeface="Fraunces Black" pitchFamily="34" charset="0"/>
                <a:ea typeface="Fraunces Black" pitchFamily="34" charset="-122"/>
                <a:cs typeface="Fraunces Black" pitchFamily="34" charset="-120"/>
              </a:rPr>
              <a:t>Abstract</a:t>
            </a:r>
            <a:endParaRPr lang="en-US" sz="1600" dirty="0"/>
          </a:p>
        </p:txBody>
      </p:sp>
      <p:sp>
        <p:nvSpPr>
          <p:cNvPr id="12" name="Text 10"/>
          <p:cNvSpPr/>
          <p:nvPr/>
        </p:nvSpPr>
        <p:spPr>
          <a:xfrm>
            <a:off x="3531801" y="2972395"/>
            <a:ext cx="7871223" cy="1642566"/>
          </a:xfrm>
          <a:prstGeom prst="rect">
            <a:avLst/>
          </a:prstGeom>
          <a:noFill/>
          <a:ln/>
        </p:spPr>
        <p:txBody>
          <a:bodyPr wrap="square" lIns="0" tIns="0" rIns="0" bIns="0" rtlCol="0" anchor="t">
            <a:normAutofit/>
          </a:bodyPr>
          <a:lstStyle/>
          <a:p>
            <a:pPr marL="0" indent="0" algn="l">
              <a:lnSpc>
                <a:spcPct val="109000"/>
              </a:lnSpc>
              <a:buNone/>
            </a:pPr>
            <a:r>
              <a:rPr lang="en-US" sz="1400" dirty="0">
                <a:solidFill>
                  <a:srgbClr val="14264A"/>
                </a:solidFill>
                <a:latin typeface="Rubik" pitchFamily="34" charset="0"/>
                <a:ea typeface="Rubik" pitchFamily="34" charset="-122"/>
                <a:cs typeface="Rubik" pitchFamily="34" charset="-120"/>
              </a:rPr>
              <a:t>The </a:t>
            </a:r>
            <a:r>
              <a:rPr lang="en-US" sz="1400" i="1" dirty="0">
                <a:solidFill>
                  <a:srgbClr val="14264A"/>
                </a:solidFill>
                <a:latin typeface="Rubik" pitchFamily="34" charset="0"/>
                <a:ea typeface="Rubik" pitchFamily="34" charset="-122"/>
                <a:cs typeface="Rubik" pitchFamily="34" charset="-120"/>
              </a:rPr>
              <a:t>Hotel Booking &amp; Occupancy Manager</a:t>
            </a:r>
            <a:r>
              <a:rPr lang="en-US" sz="1400" dirty="0">
                <a:solidFill>
                  <a:srgbClr val="14264A"/>
                </a:solidFill>
                <a:latin typeface="Rubik" pitchFamily="34" charset="0"/>
                <a:ea typeface="Rubik" pitchFamily="34" charset="-122"/>
                <a:cs typeface="Rubik" pitchFamily="34" charset="-120"/>
              </a:rPr>
              <a:t> is a software system designed to simplify and manage hotel room bookings and occupancy efficiently. The system allows users to view available rooms, make reservations, check-in and check-out, and manage booking details. Hotel staff can monitor room occupancy, update room status, and maintain customer records. The system helps reduce manual work, avoid booking conflicts, and improve overall hotel management. It provides a simple, organized, and user-friendly solution for handling hotel reservations and room availability.</a:t>
            </a:r>
            <a:endParaRPr lang="en-US" sz="1400" dirty="0"/>
          </a:p>
        </p:txBody>
      </p:sp>
      <p:sp>
        <p:nvSpPr>
          <p:cNvPr id="13" name="Shape 11"/>
          <p:cNvSpPr/>
          <p:nvPr/>
        </p:nvSpPr>
        <p:spPr>
          <a:xfrm>
            <a:off x="3442209" y="4789289"/>
            <a:ext cx="8050408" cy="9525"/>
          </a:xfrm>
          <a:prstGeom prst="roundRect">
            <a:avLst>
              <a:gd name="adj" fmla="val 49999"/>
            </a:avLst>
          </a:prstGeom>
          <a:solidFill>
            <a:srgbClr val="4A8895"/>
          </a:solidFill>
          <a:ln/>
        </p:spPr>
      </p:sp>
      <p:sp>
        <p:nvSpPr>
          <p:cNvPr id="14" name="Shape 12"/>
          <p:cNvSpPr/>
          <p:nvPr/>
        </p:nvSpPr>
        <p:spPr>
          <a:xfrm>
            <a:off x="609585" y="4883547"/>
            <a:ext cx="4114697" cy="943868"/>
          </a:xfrm>
          <a:prstGeom prst="roundRect">
            <a:avLst>
              <a:gd name="adj" fmla="val 17081"/>
            </a:avLst>
          </a:prstGeom>
          <a:solidFill>
            <a:srgbClr val="86A69F"/>
          </a:solidFill>
          <a:ln/>
        </p:spPr>
      </p:sp>
      <p:sp>
        <p:nvSpPr>
          <p:cNvPr id="15" name="Text 13"/>
          <p:cNvSpPr/>
          <p:nvPr/>
        </p:nvSpPr>
        <p:spPr>
          <a:xfrm>
            <a:off x="2540929" y="5223272"/>
            <a:ext cx="251910" cy="264418"/>
          </a:xfrm>
          <a:prstGeom prst="rect">
            <a:avLst/>
          </a:prstGeom>
          <a:noFill/>
          <a:ln/>
        </p:spPr>
        <p:txBody>
          <a:bodyPr wrap="none" lIns="0" tIns="0" rIns="0" bIns="0" rtlCol="0" anchor="ctr"/>
          <a:lstStyle/>
          <a:p>
            <a:pPr marL="0" indent="0" algn="ctr">
              <a:lnSpc>
                <a:spcPct val="100000"/>
              </a:lnSpc>
              <a:buNone/>
            </a:pPr>
            <a:r>
              <a:rPr lang="en-US" sz="2000" kern="0" spc="-26" dirty="0">
                <a:solidFill>
                  <a:srgbClr val="000000"/>
                </a:solidFill>
                <a:latin typeface="Fraunces Black" pitchFamily="34" charset="0"/>
                <a:ea typeface="Fraunces Black" pitchFamily="34" charset="-122"/>
                <a:cs typeface="Fraunces Black" pitchFamily="34" charset="-120"/>
              </a:rPr>
              <a:t>3</a:t>
            </a:r>
            <a:endParaRPr lang="en-US" sz="2000" dirty="0"/>
          </a:p>
        </p:txBody>
      </p:sp>
      <p:sp>
        <p:nvSpPr>
          <p:cNvPr id="16" name="Text 14"/>
          <p:cNvSpPr/>
          <p:nvPr/>
        </p:nvSpPr>
        <p:spPr>
          <a:xfrm>
            <a:off x="4903367" y="5062637"/>
            <a:ext cx="6499658" cy="243582"/>
          </a:xfrm>
          <a:prstGeom prst="rect">
            <a:avLst/>
          </a:prstGeom>
          <a:noFill/>
          <a:ln/>
        </p:spPr>
        <p:txBody>
          <a:bodyPr wrap="none" lIns="0" tIns="0" rIns="0" bIns="0" rtlCol="0" anchor="t"/>
          <a:lstStyle/>
          <a:p>
            <a:pPr marL="0" indent="0" algn="l">
              <a:lnSpc>
                <a:spcPct val="100000"/>
              </a:lnSpc>
              <a:buNone/>
            </a:pPr>
            <a:r>
              <a:rPr lang="en-US" sz="1600" kern="0" spc="-24" dirty="0">
                <a:solidFill>
                  <a:srgbClr val="14264A"/>
                </a:solidFill>
                <a:latin typeface="Fraunces Black" pitchFamily="34" charset="0"/>
                <a:ea typeface="Fraunces Black" pitchFamily="34" charset="-122"/>
                <a:cs typeface="Fraunces Black" pitchFamily="34" charset="-120"/>
              </a:rPr>
              <a:t>Purpose</a:t>
            </a:r>
            <a:endParaRPr lang="en-US" sz="1600" dirty="0"/>
          </a:p>
        </p:txBody>
      </p:sp>
      <p:sp>
        <p:nvSpPr>
          <p:cNvPr id="17" name="Text 15"/>
          <p:cNvSpPr/>
          <p:nvPr/>
        </p:nvSpPr>
        <p:spPr>
          <a:xfrm>
            <a:off x="4903367" y="5413673"/>
            <a:ext cx="6499658" cy="234652"/>
          </a:xfrm>
          <a:prstGeom prst="rect">
            <a:avLst/>
          </a:prstGeom>
          <a:noFill/>
          <a:ln/>
        </p:spPr>
        <p:txBody>
          <a:bodyPr wrap="none" lIns="0" tIns="0" rIns="0" bIns="0" rtlCol="0" anchor="t"/>
          <a:lstStyle/>
          <a:p>
            <a:pPr marL="0" indent="0" algn="l">
              <a:lnSpc>
                <a:spcPct val="109000"/>
              </a:lnSpc>
              <a:buNone/>
            </a:pPr>
            <a:r>
              <a:rPr lang="en-US" sz="1400" dirty="0">
                <a:solidFill>
                  <a:srgbClr val="14264A"/>
                </a:solidFill>
                <a:latin typeface="Rubik" pitchFamily="34" charset="0"/>
                <a:ea typeface="Rubik" pitchFamily="34" charset="-122"/>
                <a:cs typeface="Rubik" pitchFamily="34" charset="-120"/>
              </a:rPr>
              <a:t>Simplify booking cost calculation and occupancy management.</a:t>
            </a:r>
            <a:endParaRPr lang="en-US" sz="1400" dirty="0"/>
          </a:p>
        </p:txBody>
      </p:sp>
      <p:sp>
        <p:nvSpPr>
          <p:cNvPr id="18" name="Shape 16"/>
          <p:cNvSpPr/>
          <p:nvPr/>
        </p:nvSpPr>
        <p:spPr>
          <a:xfrm>
            <a:off x="4813775" y="5822652"/>
            <a:ext cx="6678842" cy="9525"/>
          </a:xfrm>
          <a:prstGeom prst="roundRect">
            <a:avLst>
              <a:gd name="adj" fmla="val 49999"/>
            </a:avLst>
          </a:prstGeom>
          <a:solidFill>
            <a:srgbClr val="86A69F"/>
          </a:solidFill>
          <a:ln/>
        </p:spPr>
      </p:sp>
      <p:sp>
        <p:nvSpPr>
          <p:cNvPr id="19" name="Shape 17"/>
          <p:cNvSpPr/>
          <p:nvPr/>
        </p:nvSpPr>
        <p:spPr>
          <a:xfrm>
            <a:off x="609585" y="5916910"/>
            <a:ext cx="5486263" cy="943868"/>
          </a:xfrm>
          <a:prstGeom prst="roundRect">
            <a:avLst>
              <a:gd name="adj" fmla="val 17081"/>
            </a:avLst>
          </a:prstGeom>
          <a:solidFill>
            <a:srgbClr val="E2A468"/>
          </a:solidFill>
          <a:ln/>
        </p:spPr>
      </p:sp>
      <p:sp>
        <p:nvSpPr>
          <p:cNvPr id="20" name="Text 18"/>
          <p:cNvSpPr/>
          <p:nvPr/>
        </p:nvSpPr>
        <p:spPr>
          <a:xfrm>
            <a:off x="3226711" y="6256635"/>
            <a:ext cx="251910" cy="264418"/>
          </a:xfrm>
          <a:prstGeom prst="rect">
            <a:avLst/>
          </a:prstGeom>
          <a:noFill/>
          <a:ln/>
        </p:spPr>
        <p:txBody>
          <a:bodyPr wrap="none" lIns="0" tIns="0" rIns="0" bIns="0" rtlCol="0" anchor="ctr"/>
          <a:lstStyle/>
          <a:p>
            <a:pPr marL="0" indent="0" algn="ctr">
              <a:lnSpc>
                <a:spcPct val="100000"/>
              </a:lnSpc>
              <a:buNone/>
            </a:pPr>
            <a:r>
              <a:rPr lang="en-US" sz="2000" kern="0" spc="-26" dirty="0">
                <a:solidFill>
                  <a:srgbClr val="000000"/>
                </a:solidFill>
                <a:latin typeface="Fraunces Black" pitchFamily="34" charset="0"/>
                <a:ea typeface="Fraunces Black" pitchFamily="34" charset="-122"/>
                <a:cs typeface="Fraunces Black" pitchFamily="34" charset="-120"/>
              </a:rPr>
              <a:t>4</a:t>
            </a:r>
            <a:endParaRPr lang="en-US" sz="2000" dirty="0"/>
          </a:p>
        </p:txBody>
      </p:sp>
      <p:sp>
        <p:nvSpPr>
          <p:cNvPr id="21" name="Text 19"/>
          <p:cNvSpPr/>
          <p:nvPr/>
        </p:nvSpPr>
        <p:spPr>
          <a:xfrm>
            <a:off x="6274933" y="6096000"/>
            <a:ext cx="5128092" cy="243582"/>
          </a:xfrm>
          <a:prstGeom prst="rect">
            <a:avLst/>
          </a:prstGeom>
          <a:noFill/>
          <a:ln/>
        </p:spPr>
        <p:txBody>
          <a:bodyPr wrap="none" lIns="0" tIns="0" rIns="0" bIns="0" rtlCol="0" anchor="t"/>
          <a:lstStyle/>
          <a:p>
            <a:pPr marL="0" indent="0" algn="l">
              <a:lnSpc>
                <a:spcPct val="100000"/>
              </a:lnSpc>
              <a:buNone/>
            </a:pPr>
            <a:r>
              <a:rPr lang="en-US" sz="1600" kern="0" spc="-24" dirty="0">
                <a:solidFill>
                  <a:srgbClr val="14264A"/>
                </a:solidFill>
                <a:latin typeface="Fraunces Black" pitchFamily="34" charset="0"/>
                <a:ea typeface="Fraunces Black" pitchFamily="34" charset="-122"/>
                <a:cs typeface="Fraunces Black" pitchFamily="34" charset="-120"/>
              </a:rPr>
              <a:t>System focus</a:t>
            </a:r>
            <a:endParaRPr lang="en-US" sz="1600" dirty="0"/>
          </a:p>
        </p:txBody>
      </p:sp>
      <p:sp>
        <p:nvSpPr>
          <p:cNvPr id="22" name="Text 20"/>
          <p:cNvSpPr/>
          <p:nvPr/>
        </p:nvSpPr>
        <p:spPr>
          <a:xfrm>
            <a:off x="6274933" y="6447036"/>
            <a:ext cx="5128092" cy="234652"/>
          </a:xfrm>
          <a:prstGeom prst="rect">
            <a:avLst/>
          </a:prstGeom>
          <a:noFill/>
          <a:ln/>
        </p:spPr>
        <p:txBody>
          <a:bodyPr wrap="none" lIns="0" tIns="0" rIns="0" bIns="0" rtlCol="0" anchor="t"/>
          <a:lstStyle/>
          <a:p>
            <a:pPr marL="0" indent="0" algn="l">
              <a:lnSpc>
                <a:spcPct val="109000"/>
              </a:lnSpc>
              <a:buNone/>
            </a:pPr>
            <a:r>
              <a:rPr lang="en-US" sz="1400" dirty="0">
                <a:solidFill>
                  <a:srgbClr val="14264A"/>
                </a:solidFill>
                <a:latin typeface="Rubik" pitchFamily="34" charset="0"/>
                <a:ea typeface="Rubik" pitchFamily="34" charset="-122"/>
                <a:cs typeface="Rubik" pitchFamily="34" charset="-120"/>
              </a:rPr>
              <a:t>Manage hotel room bookings and occupancy.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09600"/>
            <a:ext cx="11582110" cy="190500"/>
          </a:xfrm>
          <a:prstGeom prst="rect">
            <a:avLst/>
          </a:prstGeom>
          <a:noFill/>
          <a:ln/>
        </p:spPr>
        <p:txBody>
          <a:bodyPr wrap="none" lIns="0" tIns="0" rIns="0" bIns="0" rtlCol="0" anchor="t"/>
          <a:lstStyle/>
          <a:p>
            <a:pPr marL="0" indent="0" algn="l">
              <a:lnSpc>
                <a:spcPct val="104000"/>
              </a:lnSpc>
              <a:buNone/>
            </a:pPr>
            <a:r>
              <a:rPr lang="en-US" sz="1200" kern="0" spc="96" dirty="0">
                <a:solidFill>
                  <a:srgbClr val="14264A"/>
                </a:solidFill>
                <a:latin typeface="Rubik SemiBold" pitchFamily="34" charset="0"/>
                <a:ea typeface="Rubik SemiBold" pitchFamily="34" charset="-122"/>
                <a:cs typeface="Rubik SemiBold" pitchFamily="34" charset="-120"/>
              </a:rPr>
              <a:t>FEATURES</a:t>
            </a:r>
            <a:endParaRPr lang="en-US" sz="1200" dirty="0"/>
          </a:p>
        </p:txBody>
      </p:sp>
      <p:sp>
        <p:nvSpPr>
          <p:cNvPr id="3" name="Text 1"/>
          <p:cNvSpPr/>
          <p:nvPr/>
        </p:nvSpPr>
        <p:spPr>
          <a:xfrm>
            <a:off x="609585" y="876300"/>
            <a:ext cx="10972526" cy="426641"/>
          </a:xfrm>
          <a:prstGeom prst="rect">
            <a:avLst/>
          </a:prstGeom>
          <a:noFill/>
          <a:ln/>
        </p:spPr>
        <p:txBody>
          <a:bodyPr wrap="none" lIns="0" tIns="0" rIns="0" bIns="0" rtlCol="0" anchor="t"/>
          <a:lstStyle/>
          <a:p>
            <a:pPr marL="0" indent="0" algn="l">
              <a:lnSpc>
                <a:spcPct val="87000"/>
              </a:lnSpc>
              <a:buNone/>
            </a:pPr>
            <a:r>
              <a:rPr lang="en-US" sz="3200" kern="0" spc="-48" dirty="0">
                <a:solidFill>
                  <a:srgbClr val="14264A"/>
                </a:solidFill>
                <a:latin typeface="Fraunces Black" pitchFamily="34" charset="0"/>
                <a:ea typeface="Fraunces Black" pitchFamily="34" charset="-122"/>
                <a:cs typeface="Fraunces Black" pitchFamily="34" charset="-120"/>
              </a:rPr>
              <a:t>Hotel Booking &amp; Occupancy Manager features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09585" y="1493441"/>
          <a:ext cx="10972527" cy="2330393"/>
        </p:xfrm>
        <a:graphic>
          <a:graphicData uri="http://schemas.openxmlformats.org/drawingml/2006/table">
            <a:tbl>
              <a:tblPr/>
              <a:tblGrid>
                <a:gridCol w="2413956">
                  <a:extLst>
                    <a:ext uri="{9D8B030D-6E8A-4147-A177-3AD203B41FA5}">
                      <a16:colId xmlns:a16="http://schemas.microsoft.com/office/drawing/2014/main" val="20000"/>
                    </a:ext>
                  </a:extLst>
                </a:gridCol>
                <a:gridCol w="2852857">
                  <a:extLst>
                    <a:ext uri="{9D8B030D-6E8A-4147-A177-3AD203B41FA5}">
                      <a16:colId xmlns:a16="http://schemas.microsoft.com/office/drawing/2014/main" val="20001"/>
                    </a:ext>
                  </a:extLst>
                </a:gridCol>
                <a:gridCol w="2852857">
                  <a:extLst>
                    <a:ext uri="{9D8B030D-6E8A-4147-A177-3AD203B41FA5}">
                      <a16:colId xmlns:a16="http://schemas.microsoft.com/office/drawing/2014/main" val="20002"/>
                    </a:ext>
                  </a:extLst>
                </a:gridCol>
                <a:gridCol w="2852857">
                  <a:extLst>
                    <a:ext uri="{9D8B030D-6E8A-4147-A177-3AD203B41FA5}">
                      <a16:colId xmlns:a16="http://schemas.microsoft.com/office/drawing/2014/main" val="20003"/>
                    </a:ext>
                  </a:extLst>
                </a:gridCol>
              </a:tblGrid>
              <a:tr h="415915">
                <a:tc>
                  <a:txBody>
                    <a:bodyPr/>
                    <a:lstStyle/>
                    <a:p>
                      <a:pPr marL="0" indent="0">
                        <a:buNone/>
                      </a:pPr>
                      <a:r>
                        <a:rPr lang="en-US" sz="1500" b="1" dirty="0">
                          <a:solidFill>
                            <a:srgbClr val="000000"/>
                          </a:solidFill>
                          <a:latin typeface="Rubik" pitchFamily="34" charset="0"/>
                          <a:ea typeface="Rubik" pitchFamily="34" charset="-122"/>
                          <a:cs typeface="Rubik" pitchFamily="34" charset="-120"/>
                        </a:rPr>
                        <a:t>Feature</a:t>
                      </a:r>
                      <a:endParaRPr lang="en-US" sz="1500" dirty="0">
                        <a:latin typeface="Rubik" charset="0"/>
                        <a:ea typeface="Rubik" charset="0"/>
                        <a:cs typeface="Rubik" charset="0"/>
                      </a:endParaRPr>
                    </a:p>
                  </a:txBody>
                  <a:tcPr marL="126997" marR="126997" marT="76198" marB="76198" anchor="ctr">
                    <a:lnL w="12700" cap="flat" cmpd="sng" algn="ctr">
                      <a:solidFill>
                        <a:srgbClr val="86A69F"/>
                      </a:solidFill>
                      <a:prstDash val="solid"/>
                      <a:round/>
                      <a:headEnd type="none" w="med" len="med"/>
                      <a:tailEnd type="none" w="med" len="med"/>
                    </a:lnL>
                    <a:lnR w="12700" cap="flat" cmpd="sng" algn="ctr">
                      <a:solidFill>
                        <a:srgbClr val="86A69F"/>
                      </a:solidFill>
                      <a:prstDash val="solid"/>
                      <a:round/>
                      <a:headEnd type="none" w="med" len="med"/>
                      <a:tailEnd type="none" w="med" len="med"/>
                    </a:lnR>
                    <a:lnT w="12700" cap="flat" cmpd="sng" algn="ctr">
                      <a:solidFill>
                        <a:srgbClr val="86A69F"/>
                      </a:solidFill>
                      <a:prstDash val="solid"/>
                      <a:round/>
                      <a:headEnd type="none" w="med" len="med"/>
                      <a:tailEnd type="none" w="med" len="med"/>
                    </a:lnT>
                    <a:lnB w="12700" cap="flat" cmpd="sng" algn="ctr">
                      <a:solidFill>
                        <a:srgbClr val="BCB6A6"/>
                      </a:solidFill>
                      <a:prstDash val="solid"/>
                      <a:round/>
                      <a:headEnd type="none" w="med" len="med"/>
                      <a:tailEnd type="none" w="med" len="med"/>
                    </a:lnB>
                    <a:solidFill>
                      <a:srgbClr val="86A69F"/>
                    </a:solidFill>
                  </a:tcPr>
                </a:tc>
                <a:tc>
                  <a:txBody>
                    <a:bodyPr/>
                    <a:lstStyle/>
                    <a:p>
                      <a:pPr marL="0" indent="0">
                        <a:buNone/>
                      </a:pPr>
                      <a:r>
                        <a:rPr lang="en-US" sz="1500" b="1" dirty="0">
                          <a:solidFill>
                            <a:srgbClr val="000000"/>
                          </a:solidFill>
                          <a:latin typeface="Rubik" pitchFamily="34" charset="0"/>
                          <a:ea typeface="Rubik" pitchFamily="34" charset="-122"/>
                          <a:cs typeface="Rubik" pitchFamily="34" charset="-120"/>
                        </a:rPr>
                        <a:t>Input</a:t>
                      </a:r>
                      <a:endParaRPr lang="en-US" sz="1500" dirty="0">
                        <a:latin typeface="Rubik" charset="0"/>
                        <a:ea typeface="Rubik" charset="0"/>
                        <a:cs typeface="Rubik" charset="0"/>
                      </a:endParaRPr>
                    </a:p>
                  </a:txBody>
                  <a:tcPr marL="126997" marR="126997" marT="76198" marB="76198" anchor="ctr">
                    <a:lnL w="12700" cap="flat" cmpd="sng" algn="ctr">
                      <a:solidFill>
                        <a:srgbClr val="86A69F"/>
                      </a:solidFill>
                      <a:prstDash val="solid"/>
                      <a:round/>
                      <a:headEnd type="none" w="med" len="med"/>
                      <a:tailEnd type="none" w="med" len="med"/>
                    </a:lnL>
                    <a:lnR w="12700" cap="flat" cmpd="sng" algn="ctr">
                      <a:solidFill>
                        <a:srgbClr val="86A69F"/>
                      </a:solidFill>
                      <a:prstDash val="solid"/>
                      <a:round/>
                      <a:headEnd type="none" w="med" len="med"/>
                      <a:tailEnd type="none" w="med" len="med"/>
                    </a:lnR>
                    <a:lnT w="12700" cap="flat" cmpd="sng" algn="ctr">
                      <a:solidFill>
                        <a:srgbClr val="86A69F"/>
                      </a:solidFill>
                      <a:prstDash val="solid"/>
                      <a:round/>
                      <a:headEnd type="none" w="med" len="med"/>
                      <a:tailEnd type="none" w="med" len="med"/>
                    </a:lnT>
                    <a:lnB w="12700" cap="flat" cmpd="sng" algn="ctr">
                      <a:solidFill>
                        <a:srgbClr val="BCB6A6"/>
                      </a:solidFill>
                      <a:prstDash val="solid"/>
                      <a:round/>
                      <a:headEnd type="none" w="med" len="med"/>
                      <a:tailEnd type="none" w="med" len="med"/>
                    </a:lnB>
                    <a:solidFill>
                      <a:srgbClr val="86A69F"/>
                    </a:solidFill>
                  </a:tcPr>
                </a:tc>
                <a:tc>
                  <a:txBody>
                    <a:bodyPr/>
                    <a:lstStyle/>
                    <a:p>
                      <a:pPr marL="0" indent="0">
                        <a:buNone/>
                      </a:pPr>
                      <a:r>
                        <a:rPr lang="en-US" sz="1500" b="1" dirty="0">
                          <a:solidFill>
                            <a:srgbClr val="000000"/>
                          </a:solidFill>
                          <a:latin typeface="Rubik" pitchFamily="34" charset="0"/>
                          <a:ea typeface="Rubik" pitchFamily="34" charset="-122"/>
                          <a:cs typeface="Rubik" pitchFamily="34" charset="-120"/>
                        </a:rPr>
                        <a:t>Use</a:t>
                      </a:r>
                      <a:endParaRPr lang="en-US" sz="1500" dirty="0">
                        <a:latin typeface="Rubik" charset="0"/>
                        <a:ea typeface="Rubik" charset="0"/>
                        <a:cs typeface="Rubik" charset="0"/>
                      </a:endParaRPr>
                    </a:p>
                  </a:txBody>
                  <a:tcPr marL="126997" marR="126997" marT="76198" marB="76198" anchor="ctr">
                    <a:lnL w="12700" cap="flat" cmpd="sng" algn="ctr">
                      <a:solidFill>
                        <a:srgbClr val="86A69F"/>
                      </a:solidFill>
                      <a:prstDash val="solid"/>
                      <a:round/>
                      <a:headEnd type="none" w="med" len="med"/>
                      <a:tailEnd type="none" w="med" len="med"/>
                    </a:lnL>
                    <a:lnR w="12700" cap="flat" cmpd="sng" algn="ctr">
                      <a:solidFill>
                        <a:srgbClr val="86A69F"/>
                      </a:solidFill>
                      <a:prstDash val="solid"/>
                      <a:round/>
                      <a:headEnd type="none" w="med" len="med"/>
                      <a:tailEnd type="none" w="med" len="med"/>
                    </a:lnR>
                    <a:lnT w="12700" cap="flat" cmpd="sng" algn="ctr">
                      <a:solidFill>
                        <a:srgbClr val="86A69F"/>
                      </a:solidFill>
                      <a:prstDash val="solid"/>
                      <a:round/>
                      <a:headEnd type="none" w="med" len="med"/>
                      <a:tailEnd type="none" w="med" len="med"/>
                    </a:lnT>
                    <a:lnB w="12700" cap="flat" cmpd="sng" algn="ctr">
                      <a:solidFill>
                        <a:srgbClr val="BCB6A6"/>
                      </a:solidFill>
                      <a:prstDash val="solid"/>
                      <a:round/>
                      <a:headEnd type="none" w="med" len="med"/>
                      <a:tailEnd type="none" w="med" len="med"/>
                    </a:lnB>
                    <a:solidFill>
                      <a:srgbClr val="86A69F"/>
                    </a:solidFill>
                  </a:tcPr>
                </a:tc>
                <a:tc>
                  <a:txBody>
                    <a:bodyPr/>
                    <a:lstStyle/>
                    <a:p>
                      <a:pPr marL="0" indent="0">
                        <a:buNone/>
                      </a:pPr>
                      <a:r>
                        <a:rPr lang="en-US" sz="1500" b="1" dirty="0">
                          <a:solidFill>
                            <a:srgbClr val="000000"/>
                          </a:solidFill>
                          <a:latin typeface="Rubik" pitchFamily="34" charset="0"/>
                          <a:ea typeface="Rubik" pitchFamily="34" charset="-122"/>
                          <a:cs typeface="Rubik" pitchFamily="34" charset="-120"/>
                        </a:rPr>
                        <a:t>Source wording</a:t>
                      </a:r>
                      <a:endParaRPr lang="en-US" sz="1500" dirty="0">
                        <a:latin typeface="Rubik" charset="0"/>
                        <a:ea typeface="Rubik" charset="0"/>
                        <a:cs typeface="Rubik" charset="0"/>
                      </a:endParaRPr>
                    </a:p>
                  </a:txBody>
                  <a:tcPr marL="126997" marR="126997" marT="76198" marB="76198" anchor="ctr">
                    <a:lnL w="12700" cap="flat" cmpd="sng" algn="ctr">
                      <a:solidFill>
                        <a:srgbClr val="86A69F"/>
                      </a:solidFill>
                      <a:prstDash val="solid"/>
                      <a:round/>
                      <a:headEnd type="none" w="med" len="med"/>
                      <a:tailEnd type="none" w="med" len="med"/>
                    </a:lnL>
                    <a:lnR w="12700" cap="flat" cmpd="sng" algn="ctr">
                      <a:solidFill>
                        <a:srgbClr val="86A69F"/>
                      </a:solidFill>
                      <a:prstDash val="solid"/>
                      <a:round/>
                      <a:headEnd type="none" w="med" len="med"/>
                      <a:tailEnd type="none" w="med" len="med"/>
                    </a:lnR>
                    <a:lnT w="12700" cap="flat" cmpd="sng" algn="ctr">
                      <a:solidFill>
                        <a:srgbClr val="86A69F"/>
                      </a:solidFill>
                      <a:prstDash val="solid"/>
                      <a:round/>
                      <a:headEnd type="none" w="med" len="med"/>
                      <a:tailEnd type="none" w="med" len="med"/>
                    </a:lnT>
                    <a:lnB w="12700" cap="flat" cmpd="sng" algn="ctr">
                      <a:solidFill>
                        <a:srgbClr val="BCB6A6"/>
                      </a:solidFill>
                      <a:prstDash val="solid"/>
                      <a:round/>
                      <a:headEnd type="none" w="med" len="med"/>
                      <a:tailEnd type="none" w="med" len="med"/>
                    </a:lnB>
                    <a:solidFill>
                      <a:srgbClr val="86A69F"/>
                    </a:solidFill>
                  </a:tcPr>
                </a:tc>
                <a:extLst>
                  <a:ext uri="{0D108BD9-81ED-4DB2-BD59-A6C34878D82A}">
                    <a16:rowId xmlns:a16="http://schemas.microsoft.com/office/drawing/2014/main" val="10000"/>
                  </a:ext>
                </a:extLst>
              </a:tr>
              <a:tr h="415915">
                <a:tc>
                  <a:txBody>
                    <a:bodyPr/>
                    <a:lstStyle/>
                    <a:p>
                      <a:pPr marL="0" indent="0">
                        <a:buNone/>
                      </a:pPr>
                      <a:r>
                        <a:rPr lang="en-US" sz="1500" b="1" dirty="0">
                          <a:solidFill>
                            <a:srgbClr val="14264A"/>
                          </a:solidFill>
                          <a:latin typeface="Rubik" pitchFamily="34" charset="0"/>
                          <a:ea typeface="Rubik" pitchFamily="34" charset="-122"/>
                          <a:cs typeface="Rubik" pitchFamily="34" charset="-120"/>
                        </a:rPr>
                        <a:t>Customer name input</a:t>
                      </a:r>
                      <a:endParaRPr lang="en-US" sz="1500" dirty="0">
                        <a:latin typeface="Rubik" charset="0"/>
                        <a:ea typeface="Rubik" charset="0"/>
                        <a:cs typeface="Rubik" charset="0"/>
                      </a:endParaRPr>
                    </a:p>
                  </a:txBody>
                  <a:tcPr marL="126997" marR="126997" marT="76198" marB="76198" anchor="ctr">
                    <a:lnL w="12700" cap="flat" cmpd="sng" algn="ctr">
                      <a:solidFill>
                        <a:srgbClr val="F1E4C3"/>
                      </a:solidFill>
                      <a:prstDash val="solid"/>
                      <a:round/>
                      <a:headEnd type="none" w="med" len="med"/>
                      <a:tailEnd type="none" w="med" len="med"/>
                    </a:lnL>
                    <a:lnR w="12700" cap="flat" cmpd="sng" algn="ctr">
                      <a:solidFill>
                        <a:srgbClr val="F1E4C3"/>
                      </a:solidFill>
                      <a:prstDash val="solid"/>
                      <a:round/>
                      <a:headEnd type="none" w="med" len="med"/>
                      <a:tailEnd type="none" w="med" len="med"/>
                    </a:lnR>
                    <a:lnT w="12700" cap="flat" cmpd="sng" algn="ctr">
                      <a:solidFill>
                        <a:srgbClr val="BCB6A6"/>
                      </a:solidFill>
                      <a:prstDash val="solid"/>
                      <a:round/>
                      <a:headEnd type="none" w="med" len="med"/>
                      <a:tailEnd type="none" w="med" len="med"/>
                    </a:lnT>
                    <a:lnB w="12700" cap="flat" cmpd="sng" algn="ctr">
                      <a:solidFill>
                        <a:srgbClr val="BCB6A6"/>
                      </a:solidFill>
                      <a:prstDash val="solid"/>
                      <a:round/>
                      <a:headEnd type="none" w="med" len="med"/>
                      <a:tailEnd type="none" w="med" len="med"/>
                    </a:lnB>
                  </a:tcPr>
                </a:tc>
                <a:tc>
                  <a:txBody>
                    <a:bodyPr/>
                    <a:lstStyle/>
                    <a:p>
                      <a:pPr marL="0" indent="0">
                        <a:buNone/>
                      </a:pPr>
                      <a:r>
                        <a:rPr lang="en-US" sz="1500" dirty="0">
                          <a:solidFill>
                            <a:srgbClr val="14264A"/>
                          </a:solidFill>
                          <a:latin typeface="Rubik" pitchFamily="34" charset="0"/>
                          <a:ea typeface="Rubik" pitchFamily="34" charset="-122"/>
                          <a:cs typeface="Rubik" pitchFamily="34" charset="-120"/>
                        </a:rPr>
                        <a:t>Customer details</a:t>
                      </a:r>
                      <a:endParaRPr lang="en-US" sz="1500" dirty="0">
                        <a:latin typeface="Rubik" charset="0"/>
                        <a:ea typeface="Rubik" charset="0"/>
                        <a:cs typeface="Rubik" charset="0"/>
                      </a:endParaRPr>
                    </a:p>
                  </a:txBody>
                  <a:tcPr marL="126997" marR="126997" marT="76198" marB="76198" anchor="ctr">
                    <a:lnL w="12700" cap="flat" cmpd="sng" algn="ctr">
                      <a:solidFill>
                        <a:srgbClr val="F1E4C3"/>
                      </a:solidFill>
                      <a:prstDash val="solid"/>
                      <a:round/>
                      <a:headEnd type="none" w="med" len="med"/>
                      <a:tailEnd type="none" w="med" len="med"/>
                    </a:lnL>
                    <a:lnR w="12700" cap="flat" cmpd="sng" algn="ctr">
                      <a:solidFill>
                        <a:srgbClr val="F1E4C3"/>
                      </a:solidFill>
                      <a:prstDash val="solid"/>
                      <a:round/>
                      <a:headEnd type="none" w="med" len="med"/>
                      <a:tailEnd type="none" w="med" len="med"/>
                    </a:lnR>
                    <a:lnT w="12700" cap="flat" cmpd="sng" algn="ctr">
                      <a:solidFill>
                        <a:srgbClr val="BCB6A6"/>
                      </a:solidFill>
                      <a:prstDash val="solid"/>
                      <a:round/>
                      <a:headEnd type="none" w="med" len="med"/>
                      <a:tailEnd type="none" w="med" len="med"/>
                    </a:lnT>
                    <a:lnB w="12700" cap="flat" cmpd="sng" algn="ctr">
                      <a:solidFill>
                        <a:srgbClr val="BCB6A6"/>
                      </a:solidFill>
                      <a:prstDash val="solid"/>
                      <a:round/>
                      <a:headEnd type="none" w="med" len="med"/>
                      <a:tailEnd type="none" w="med" len="med"/>
                    </a:lnB>
                  </a:tcPr>
                </a:tc>
                <a:tc>
                  <a:txBody>
                    <a:bodyPr/>
                    <a:lstStyle/>
                    <a:p>
                      <a:pPr marL="0" indent="0">
                        <a:buNone/>
                      </a:pPr>
                      <a:r>
                        <a:rPr lang="en-US" sz="1500" dirty="0">
                          <a:solidFill>
                            <a:srgbClr val="14264A"/>
                          </a:solidFill>
                          <a:latin typeface="Rubik" pitchFamily="34" charset="0"/>
                          <a:ea typeface="Rubik" pitchFamily="34" charset="-122"/>
                          <a:cs typeface="Rubik" pitchFamily="34" charset="-120"/>
                        </a:rPr>
                        <a:t>Enter guest information</a:t>
                      </a:r>
                      <a:endParaRPr lang="en-US" sz="1500" dirty="0">
                        <a:latin typeface="Rubik" charset="0"/>
                        <a:ea typeface="Rubik" charset="0"/>
                        <a:cs typeface="Rubik" charset="0"/>
                      </a:endParaRPr>
                    </a:p>
                  </a:txBody>
                  <a:tcPr marL="126997" marR="126997" marT="76198" marB="76198" anchor="ctr">
                    <a:lnL w="12700" cap="flat" cmpd="sng" algn="ctr">
                      <a:solidFill>
                        <a:srgbClr val="F1E4C3"/>
                      </a:solidFill>
                      <a:prstDash val="solid"/>
                      <a:round/>
                      <a:headEnd type="none" w="med" len="med"/>
                      <a:tailEnd type="none" w="med" len="med"/>
                    </a:lnL>
                    <a:lnR w="12700" cap="flat" cmpd="sng" algn="ctr">
                      <a:solidFill>
                        <a:srgbClr val="F1E4C3"/>
                      </a:solidFill>
                      <a:prstDash val="solid"/>
                      <a:round/>
                      <a:headEnd type="none" w="med" len="med"/>
                      <a:tailEnd type="none" w="med" len="med"/>
                    </a:lnR>
                    <a:lnT w="12700" cap="flat" cmpd="sng" algn="ctr">
                      <a:solidFill>
                        <a:srgbClr val="BCB6A6"/>
                      </a:solidFill>
                      <a:prstDash val="solid"/>
                      <a:round/>
                      <a:headEnd type="none" w="med" len="med"/>
                      <a:tailEnd type="none" w="med" len="med"/>
                    </a:lnT>
                    <a:lnB w="12700" cap="flat" cmpd="sng" algn="ctr">
                      <a:solidFill>
                        <a:srgbClr val="BCB6A6"/>
                      </a:solidFill>
                      <a:prstDash val="solid"/>
                      <a:round/>
                      <a:headEnd type="none" w="med" len="med"/>
                      <a:tailEnd type="none" w="med" len="med"/>
                    </a:lnB>
                  </a:tcPr>
                </a:tc>
                <a:tc>
                  <a:txBody>
                    <a:bodyPr/>
                    <a:lstStyle/>
                    <a:p>
                      <a:pPr marL="0" indent="0">
                        <a:buNone/>
                      </a:pPr>
                      <a:r>
                        <a:rPr lang="en-US" sz="1500" dirty="0">
                          <a:solidFill>
                            <a:srgbClr val="14264A"/>
                          </a:solidFill>
                          <a:latin typeface="Rubik" pitchFamily="34" charset="0"/>
                          <a:ea typeface="Rubik" pitchFamily="34" charset="-122"/>
                          <a:cs typeface="Rubik" pitchFamily="34" charset="-120"/>
                        </a:rPr>
                        <a:t>Customer name input</a:t>
                      </a:r>
                      <a:endParaRPr lang="en-US" sz="1500" dirty="0">
                        <a:latin typeface="Rubik" charset="0"/>
                        <a:ea typeface="Rubik" charset="0"/>
                        <a:cs typeface="Rubik" charset="0"/>
                      </a:endParaRPr>
                    </a:p>
                  </a:txBody>
                  <a:tcPr marL="126997" marR="126997" marT="76198" marB="76198" anchor="ctr">
                    <a:lnL w="12700" cap="flat" cmpd="sng" algn="ctr">
                      <a:solidFill>
                        <a:srgbClr val="F1E4C3"/>
                      </a:solidFill>
                      <a:prstDash val="solid"/>
                      <a:round/>
                      <a:headEnd type="none" w="med" len="med"/>
                      <a:tailEnd type="none" w="med" len="med"/>
                    </a:lnL>
                    <a:lnR w="12700" cap="flat" cmpd="sng" algn="ctr">
                      <a:solidFill>
                        <a:srgbClr val="F1E4C3"/>
                      </a:solidFill>
                      <a:prstDash val="solid"/>
                      <a:round/>
                      <a:headEnd type="none" w="med" len="med"/>
                      <a:tailEnd type="none" w="med" len="med"/>
                    </a:lnR>
                    <a:lnT w="12700" cap="flat" cmpd="sng" algn="ctr">
                      <a:solidFill>
                        <a:srgbClr val="BCB6A6"/>
                      </a:solidFill>
                      <a:prstDash val="solid"/>
                      <a:round/>
                      <a:headEnd type="none" w="med" len="med"/>
                      <a:tailEnd type="none" w="med" len="med"/>
                    </a:lnT>
                    <a:lnB w="12700" cap="flat" cmpd="sng" algn="ctr">
                      <a:solidFill>
                        <a:srgbClr val="BCB6A6"/>
                      </a:solidFill>
                      <a:prstDash val="solid"/>
                      <a:round/>
                      <a:headEnd type="none" w="med" len="med"/>
                      <a:tailEnd type="none" w="med" len="med"/>
                    </a:lnB>
                  </a:tcPr>
                </a:tc>
                <a:extLst>
                  <a:ext uri="{0D108BD9-81ED-4DB2-BD59-A6C34878D82A}">
                    <a16:rowId xmlns:a16="http://schemas.microsoft.com/office/drawing/2014/main" val="10001"/>
                  </a:ext>
                </a:extLst>
              </a:tr>
              <a:tr h="415915">
                <a:tc>
                  <a:txBody>
                    <a:bodyPr/>
                    <a:lstStyle/>
                    <a:p>
                      <a:pPr marL="0" indent="0">
                        <a:buNone/>
                      </a:pPr>
                      <a:r>
                        <a:rPr lang="en-US" sz="1500" b="1" dirty="0">
                          <a:solidFill>
                            <a:srgbClr val="14264A"/>
                          </a:solidFill>
                          <a:latin typeface="Rubik" pitchFamily="34" charset="0"/>
                          <a:ea typeface="Rubik" pitchFamily="34" charset="-122"/>
                          <a:cs typeface="Rubik" pitchFamily="34" charset="-120"/>
                        </a:rPr>
                        <a:t>Room type selection</a:t>
                      </a:r>
                      <a:endParaRPr lang="en-US" sz="1500" dirty="0">
                        <a:latin typeface="Rubik" charset="0"/>
                        <a:ea typeface="Rubik" charset="0"/>
                        <a:cs typeface="Rubik" charset="0"/>
                      </a:endParaRPr>
                    </a:p>
                  </a:txBody>
                  <a:tcPr marL="126997" marR="126997" marT="76198" marB="76198" anchor="ctr">
                    <a:lnL w="12700" cap="flat" cmpd="sng" algn="ctr">
                      <a:solidFill>
                        <a:srgbClr val="F1E4C3"/>
                      </a:solidFill>
                      <a:prstDash val="solid"/>
                      <a:round/>
                      <a:headEnd type="none" w="med" len="med"/>
                      <a:tailEnd type="none" w="med" len="med"/>
                    </a:lnL>
                    <a:lnR w="12700" cap="flat" cmpd="sng" algn="ctr">
                      <a:solidFill>
                        <a:srgbClr val="F1E4C3"/>
                      </a:solidFill>
                      <a:prstDash val="solid"/>
                      <a:round/>
                      <a:headEnd type="none" w="med" len="med"/>
                      <a:tailEnd type="none" w="med" len="med"/>
                    </a:lnR>
                    <a:lnT w="12700" cap="flat" cmpd="sng" algn="ctr">
                      <a:solidFill>
                        <a:srgbClr val="BCB6A6"/>
                      </a:solidFill>
                      <a:prstDash val="solid"/>
                      <a:round/>
                      <a:headEnd type="none" w="med" len="med"/>
                      <a:tailEnd type="none" w="med" len="med"/>
                    </a:lnT>
                    <a:lnB w="12700" cap="flat" cmpd="sng" algn="ctr">
                      <a:solidFill>
                        <a:srgbClr val="BCB6A6"/>
                      </a:solidFill>
                      <a:prstDash val="solid"/>
                      <a:round/>
                      <a:headEnd type="none" w="med" len="med"/>
                      <a:tailEnd type="none" w="med" len="med"/>
                    </a:lnB>
                  </a:tcPr>
                </a:tc>
                <a:tc>
                  <a:txBody>
                    <a:bodyPr/>
                    <a:lstStyle/>
                    <a:p>
                      <a:pPr marL="0" indent="0">
                        <a:buNone/>
                      </a:pPr>
                      <a:r>
                        <a:rPr lang="en-US" sz="1500" dirty="0">
                          <a:solidFill>
                            <a:srgbClr val="14264A"/>
                          </a:solidFill>
                          <a:latin typeface="Rubik" pitchFamily="34" charset="0"/>
                          <a:ea typeface="Rubik" pitchFamily="34" charset="-122"/>
                          <a:cs typeface="Rubik" pitchFamily="34" charset="-120"/>
                        </a:rPr>
                        <a:t>Room details</a:t>
                      </a:r>
                      <a:endParaRPr lang="en-US" sz="1500" dirty="0">
                        <a:latin typeface="Rubik" charset="0"/>
                        <a:ea typeface="Rubik" charset="0"/>
                        <a:cs typeface="Rubik" charset="0"/>
                      </a:endParaRPr>
                    </a:p>
                  </a:txBody>
                  <a:tcPr marL="126997" marR="126997" marT="76198" marB="76198" anchor="ctr">
                    <a:lnL w="12700" cap="flat" cmpd="sng" algn="ctr">
                      <a:solidFill>
                        <a:srgbClr val="F1E4C3"/>
                      </a:solidFill>
                      <a:prstDash val="solid"/>
                      <a:round/>
                      <a:headEnd type="none" w="med" len="med"/>
                      <a:tailEnd type="none" w="med" len="med"/>
                    </a:lnL>
                    <a:lnR w="12700" cap="flat" cmpd="sng" algn="ctr">
                      <a:solidFill>
                        <a:srgbClr val="F1E4C3"/>
                      </a:solidFill>
                      <a:prstDash val="solid"/>
                      <a:round/>
                      <a:headEnd type="none" w="med" len="med"/>
                      <a:tailEnd type="none" w="med" len="med"/>
                    </a:lnR>
                    <a:lnT w="12700" cap="flat" cmpd="sng" algn="ctr">
                      <a:solidFill>
                        <a:srgbClr val="BCB6A6"/>
                      </a:solidFill>
                      <a:prstDash val="solid"/>
                      <a:round/>
                      <a:headEnd type="none" w="med" len="med"/>
                      <a:tailEnd type="none" w="med" len="med"/>
                    </a:lnT>
                    <a:lnB w="12700" cap="flat" cmpd="sng" algn="ctr">
                      <a:solidFill>
                        <a:srgbClr val="BCB6A6"/>
                      </a:solidFill>
                      <a:prstDash val="solid"/>
                      <a:round/>
                      <a:headEnd type="none" w="med" len="med"/>
                      <a:tailEnd type="none" w="med" len="med"/>
                    </a:lnB>
                  </a:tcPr>
                </a:tc>
                <a:tc>
                  <a:txBody>
                    <a:bodyPr/>
                    <a:lstStyle/>
                    <a:p>
                      <a:pPr marL="0" indent="0">
                        <a:buNone/>
                      </a:pPr>
                      <a:r>
                        <a:rPr lang="en-US" sz="1500" dirty="0">
                          <a:solidFill>
                            <a:srgbClr val="14264A"/>
                          </a:solidFill>
                          <a:latin typeface="Rubik" pitchFamily="34" charset="0"/>
                          <a:ea typeface="Rubik" pitchFamily="34" charset="-122"/>
                          <a:cs typeface="Rubik" pitchFamily="34" charset="-120"/>
                        </a:rPr>
                        <a:t>Choose a room type</a:t>
                      </a:r>
                      <a:endParaRPr lang="en-US" sz="1500" dirty="0">
                        <a:latin typeface="Rubik" charset="0"/>
                        <a:ea typeface="Rubik" charset="0"/>
                        <a:cs typeface="Rubik" charset="0"/>
                      </a:endParaRPr>
                    </a:p>
                  </a:txBody>
                  <a:tcPr marL="126997" marR="126997" marT="76198" marB="76198" anchor="ctr">
                    <a:lnL w="12700" cap="flat" cmpd="sng" algn="ctr">
                      <a:solidFill>
                        <a:srgbClr val="F1E4C3"/>
                      </a:solidFill>
                      <a:prstDash val="solid"/>
                      <a:round/>
                      <a:headEnd type="none" w="med" len="med"/>
                      <a:tailEnd type="none" w="med" len="med"/>
                    </a:lnL>
                    <a:lnR w="12700" cap="flat" cmpd="sng" algn="ctr">
                      <a:solidFill>
                        <a:srgbClr val="F1E4C3"/>
                      </a:solidFill>
                      <a:prstDash val="solid"/>
                      <a:round/>
                      <a:headEnd type="none" w="med" len="med"/>
                      <a:tailEnd type="none" w="med" len="med"/>
                    </a:lnR>
                    <a:lnT w="12700" cap="flat" cmpd="sng" algn="ctr">
                      <a:solidFill>
                        <a:srgbClr val="BCB6A6"/>
                      </a:solidFill>
                      <a:prstDash val="solid"/>
                      <a:round/>
                      <a:headEnd type="none" w="med" len="med"/>
                      <a:tailEnd type="none" w="med" len="med"/>
                    </a:lnT>
                    <a:lnB w="12700" cap="flat" cmpd="sng" algn="ctr">
                      <a:solidFill>
                        <a:srgbClr val="BCB6A6"/>
                      </a:solidFill>
                      <a:prstDash val="solid"/>
                      <a:round/>
                      <a:headEnd type="none" w="med" len="med"/>
                      <a:tailEnd type="none" w="med" len="med"/>
                    </a:lnB>
                  </a:tcPr>
                </a:tc>
                <a:tc>
                  <a:txBody>
                    <a:bodyPr/>
                    <a:lstStyle/>
                    <a:p>
                      <a:pPr marL="0" indent="0">
                        <a:buNone/>
                      </a:pPr>
                      <a:r>
                        <a:rPr lang="en-US" sz="1500" dirty="0">
                          <a:solidFill>
                            <a:srgbClr val="14264A"/>
                          </a:solidFill>
                          <a:latin typeface="Rubik" pitchFamily="34" charset="0"/>
                          <a:ea typeface="Rubik" pitchFamily="34" charset="-122"/>
                          <a:cs typeface="Rubik" pitchFamily="34" charset="-120"/>
                        </a:rPr>
                        <a:t>Room type selection</a:t>
                      </a:r>
                      <a:endParaRPr lang="en-US" sz="1500" dirty="0">
                        <a:latin typeface="Rubik" charset="0"/>
                        <a:ea typeface="Rubik" charset="0"/>
                        <a:cs typeface="Rubik" charset="0"/>
                      </a:endParaRPr>
                    </a:p>
                  </a:txBody>
                  <a:tcPr marL="126997" marR="126997" marT="76198" marB="76198" anchor="ctr">
                    <a:lnL w="12700" cap="flat" cmpd="sng" algn="ctr">
                      <a:solidFill>
                        <a:srgbClr val="F1E4C3"/>
                      </a:solidFill>
                      <a:prstDash val="solid"/>
                      <a:round/>
                      <a:headEnd type="none" w="med" len="med"/>
                      <a:tailEnd type="none" w="med" len="med"/>
                    </a:lnL>
                    <a:lnR w="12700" cap="flat" cmpd="sng" algn="ctr">
                      <a:solidFill>
                        <a:srgbClr val="F1E4C3"/>
                      </a:solidFill>
                      <a:prstDash val="solid"/>
                      <a:round/>
                      <a:headEnd type="none" w="med" len="med"/>
                      <a:tailEnd type="none" w="med" len="med"/>
                    </a:lnR>
                    <a:lnT w="12700" cap="flat" cmpd="sng" algn="ctr">
                      <a:solidFill>
                        <a:srgbClr val="BCB6A6"/>
                      </a:solidFill>
                      <a:prstDash val="solid"/>
                      <a:round/>
                      <a:headEnd type="none" w="med" len="med"/>
                      <a:tailEnd type="none" w="med" len="med"/>
                    </a:lnT>
                    <a:lnB w="12700" cap="flat" cmpd="sng" algn="ctr">
                      <a:solidFill>
                        <a:srgbClr val="BCB6A6"/>
                      </a:solidFill>
                      <a:prstDash val="solid"/>
                      <a:round/>
                      <a:headEnd type="none" w="med" len="med"/>
                      <a:tailEnd type="none" w="med" len="med"/>
                    </a:lnB>
                  </a:tcPr>
                </a:tc>
                <a:extLst>
                  <a:ext uri="{0D108BD9-81ED-4DB2-BD59-A6C34878D82A}">
                    <a16:rowId xmlns:a16="http://schemas.microsoft.com/office/drawing/2014/main" val="10002"/>
                  </a:ext>
                </a:extLst>
              </a:tr>
              <a:tr h="673083">
                <a:tc>
                  <a:txBody>
                    <a:bodyPr/>
                    <a:lstStyle/>
                    <a:p>
                      <a:pPr marL="0" indent="0">
                        <a:buNone/>
                      </a:pPr>
                      <a:r>
                        <a:rPr lang="en-US" sz="1500" b="1" dirty="0">
                          <a:solidFill>
                            <a:srgbClr val="14264A"/>
                          </a:solidFill>
                          <a:latin typeface="Rubik" pitchFamily="34" charset="0"/>
                          <a:ea typeface="Rubik" pitchFamily="34" charset="-122"/>
                          <a:cs typeface="Rubik" pitchFamily="34" charset="-120"/>
                        </a:rPr>
                        <a:t>Feature summary</a:t>
                      </a:r>
                      <a:endParaRPr lang="en-US" sz="1500" dirty="0">
                        <a:latin typeface="Rubik" charset="0"/>
                        <a:ea typeface="Rubik" charset="0"/>
                        <a:cs typeface="Rubik" charset="0"/>
                      </a:endParaRPr>
                    </a:p>
                  </a:txBody>
                  <a:tcPr marL="126997" marR="126997" marT="76198" marB="76198" anchor="ctr">
                    <a:lnL w="12700" cap="flat" cmpd="sng" algn="ctr">
                      <a:solidFill>
                        <a:srgbClr val="F1E4C3"/>
                      </a:solidFill>
                      <a:prstDash val="solid"/>
                      <a:round/>
                      <a:headEnd type="none" w="med" len="med"/>
                      <a:tailEnd type="none" w="med" len="med"/>
                    </a:lnL>
                    <a:lnR w="12700" cap="flat" cmpd="sng" algn="ctr">
                      <a:solidFill>
                        <a:srgbClr val="F1E4C3"/>
                      </a:solidFill>
                      <a:prstDash val="solid"/>
                      <a:round/>
                      <a:headEnd type="none" w="med" len="med"/>
                      <a:tailEnd type="none" w="med" len="med"/>
                    </a:lnR>
                    <a:lnT w="12700" cap="flat" cmpd="sng" algn="ctr">
                      <a:solidFill>
                        <a:srgbClr val="BCB6A6"/>
                      </a:solidFill>
                      <a:prstDash val="solid"/>
                      <a:round/>
                      <a:headEnd type="none" w="med" len="med"/>
                      <a:tailEnd type="none" w="med" len="med"/>
                    </a:lnT>
                    <a:lnB w="12700" cap="flat" cmpd="sng" algn="ctr">
                      <a:solidFill>
                        <a:srgbClr val="BCB6A6"/>
                      </a:solidFill>
                      <a:prstDash val="solid"/>
                      <a:round/>
                      <a:headEnd type="none" w="med" len="med"/>
                      <a:tailEnd type="none" w="med" len="med"/>
                    </a:lnB>
                  </a:tcPr>
                </a:tc>
                <a:tc>
                  <a:txBody>
                    <a:bodyPr/>
                    <a:lstStyle/>
                    <a:p>
                      <a:pPr marL="0" indent="0">
                        <a:buNone/>
                      </a:pPr>
                      <a:r>
                        <a:rPr lang="en-US" sz="1500" dirty="0">
                          <a:solidFill>
                            <a:srgbClr val="14264A"/>
                          </a:solidFill>
                          <a:latin typeface="Rubik" pitchFamily="34" charset="0"/>
                          <a:ea typeface="Rubik" pitchFamily="34" charset="-122"/>
                          <a:cs typeface="Rubik" pitchFamily="34" charset="-120"/>
                        </a:rPr>
                        <a:t>Simple inputs</a:t>
                      </a:r>
                      <a:endParaRPr lang="en-US" sz="1500" dirty="0">
                        <a:latin typeface="Rubik" charset="0"/>
                        <a:ea typeface="Rubik" charset="0"/>
                        <a:cs typeface="Rubik" charset="0"/>
                      </a:endParaRPr>
                    </a:p>
                  </a:txBody>
                  <a:tcPr marL="126997" marR="126997" marT="76198" marB="76198" anchor="ctr">
                    <a:lnL w="12700" cap="flat" cmpd="sng" algn="ctr">
                      <a:solidFill>
                        <a:srgbClr val="F1E4C3"/>
                      </a:solidFill>
                      <a:prstDash val="solid"/>
                      <a:round/>
                      <a:headEnd type="none" w="med" len="med"/>
                      <a:tailEnd type="none" w="med" len="med"/>
                    </a:lnL>
                    <a:lnR w="12700" cap="flat" cmpd="sng" algn="ctr">
                      <a:solidFill>
                        <a:srgbClr val="F1E4C3"/>
                      </a:solidFill>
                      <a:prstDash val="solid"/>
                      <a:round/>
                      <a:headEnd type="none" w="med" len="med"/>
                      <a:tailEnd type="none" w="med" len="med"/>
                    </a:lnR>
                    <a:lnT w="12700" cap="flat" cmpd="sng" algn="ctr">
                      <a:solidFill>
                        <a:srgbClr val="BCB6A6"/>
                      </a:solidFill>
                      <a:prstDash val="solid"/>
                      <a:round/>
                      <a:headEnd type="none" w="med" len="med"/>
                      <a:tailEnd type="none" w="med" len="med"/>
                    </a:lnT>
                    <a:lnB w="12700" cap="flat" cmpd="sng" algn="ctr">
                      <a:solidFill>
                        <a:srgbClr val="BCB6A6"/>
                      </a:solidFill>
                      <a:prstDash val="solid"/>
                      <a:round/>
                      <a:headEnd type="none" w="med" len="med"/>
                      <a:tailEnd type="none" w="med" len="med"/>
                    </a:lnB>
                  </a:tcPr>
                </a:tc>
                <a:tc>
                  <a:txBody>
                    <a:bodyPr/>
                    <a:lstStyle/>
                    <a:p>
                      <a:pPr marL="0" indent="0">
                        <a:buNone/>
                      </a:pPr>
                      <a:r>
                        <a:rPr lang="en-US" sz="1500" dirty="0">
                          <a:solidFill>
                            <a:srgbClr val="14264A"/>
                          </a:solidFill>
                          <a:latin typeface="Rubik" pitchFamily="34" charset="0"/>
                          <a:ea typeface="Rubik" pitchFamily="34" charset="-122"/>
                          <a:cs typeface="Rubik" pitchFamily="34" charset="-120"/>
                        </a:rPr>
                        <a:t>Clear booking setup</a:t>
                      </a:r>
                      <a:endParaRPr lang="en-US" sz="1500" dirty="0">
                        <a:latin typeface="Rubik" charset="0"/>
                        <a:ea typeface="Rubik" charset="0"/>
                        <a:cs typeface="Rubik" charset="0"/>
                      </a:endParaRPr>
                    </a:p>
                  </a:txBody>
                  <a:tcPr marL="126997" marR="126997" marT="76198" marB="76198" anchor="ctr">
                    <a:lnL w="12700" cap="flat" cmpd="sng" algn="ctr">
                      <a:solidFill>
                        <a:srgbClr val="F1E4C3"/>
                      </a:solidFill>
                      <a:prstDash val="solid"/>
                      <a:round/>
                      <a:headEnd type="none" w="med" len="med"/>
                      <a:tailEnd type="none" w="med" len="med"/>
                    </a:lnL>
                    <a:lnR w="12700" cap="flat" cmpd="sng" algn="ctr">
                      <a:solidFill>
                        <a:srgbClr val="F1E4C3"/>
                      </a:solidFill>
                      <a:prstDash val="solid"/>
                      <a:round/>
                      <a:headEnd type="none" w="med" len="med"/>
                      <a:tailEnd type="none" w="med" len="med"/>
                    </a:lnR>
                    <a:lnT w="12700" cap="flat" cmpd="sng" algn="ctr">
                      <a:solidFill>
                        <a:srgbClr val="BCB6A6"/>
                      </a:solidFill>
                      <a:prstDash val="solid"/>
                      <a:round/>
                      <a:headEnd type="none" w="med" len="med"/>
                      <a:tailEnd type="none" w="med" len="med"/>
                    </a:lnT>
                    <a:lnB w="12700" cap="flat" cmpd="sng" algn="ctr">
                      <a:solidFill>
                        <a:srgbClr val="BCB6A6"/>
                      </a:solidFill>
                      <a:prstDash val="solid"/>
                      <a:round/>
                      <a:headEnd type="none" w="med" len="med"/>
                      <a:tailEnd type="none" w="med" len="med"/>
                    </a:lnB>
                  </a:tcPr>
                </a:tc>
                <a:tc>
                  <a:txBody>
                    <a:bodyPr/>
                    <a:lstStyle/>
                    <a:p>
                      <a:pPr marL="0" indent="0">
                        <a:buNone/>
                      </a:pPr>
                      <a:r>
                        <a:rPr lang="en-US" sz="1500" dirty="0">
                          <a:solidFill>
                            <a:srgbClr val="14264A"/>
                          </a:solidFill>
                          <a:latin typeface="Rubik" pitchFamily="34" charset="0"/>
                          <a:ea typeface="Rubik" pitchFamily="34" charset="-122"/>
                          <a:cs typeface="Rubik" pitchFamily="34" charset="-120"/>
                        </a:rPr>
                        <a:t>Customer name and room type</a:t>
                      </a:r>
                      <a:endParaRPr lang="en-US" sz="1500" dirty="0">
                        <a:latin typeface="Rubik" charset="0"/>
                        <a:ea typeface="Rubik" charset="0"/>
                        <a:cs typeface="Rubik" charset="0"/>
                      </a:endParaRPr>
                    </a:p>
                  </a:txBody>
                  <a:tcPr marL="126997" marR="126997" marT="76198" marB="76198" anchor="ctr">
                    <a:lnL w="12700" cap="flat" cmpd="sng" algn="ctr">
                      <a:solidFill>
                        <a:srgbClr val="F1E4C3"/>
                      </a:solidFill>
                      <a:prstDash val="solid"/>
                      <a:round/>
                      <a:headEnd type="none" w="med" len="med"/>
                      <a:tailEnd type="none" w="med" len="med"/>
                    </a:lnL>
                    <a:lnR w="12700" cap="flat" cmpd="sng" algn="ctr">
                      <a:solidFill>
                        <a:srgbClr val="F1E4C3"/>
                      </a:solidFill>
                      <a:prstDash val="solid"/>
                      <a:round/>
                      <a:headEnd type="none" w="med" len="med"/>
                      <a:tailEnd type="none" w="med" len="med"/>
                    </a:lnR>
                    <a:lnT w="12700" cap="flat" cmpd="sng" algn="ctr">
                      <a:solidFill>
                        <a:srgbClr val="BCB6A6"/>
                      </a:solidFill>
                      <a:prstDash val="solid"/>
                      <a:round/>
                      <a:headEnd type="none" w="med" len="med"/>
                      <a:tailEnd type="none" w="med" len="med"/>
                    </a:lnT>
                    <a:lnB w="12700" cap="flat" cmpd="sng" algn="ctr">
                      <a:solidFill>
                        <a:srgbClr val="BCB6A6"/>
                      </a:solidFill>
                      <a:prstDash val="solid"/>
                      <a:round/>
                      <a:headEnd type="none" w="med" len="med"/>
                      <a:tailEnd type="none" w="med" len="med"/>
                    </a:lnB>
                  </a:tcPr>
                </a:tc>
                <a:extLst>
                  <a:ext uri="{0D108BD9-81ED-4DB2-BD59-A6C34878D82A}">
                    <a16:rowId xmlns:a16="http://schemas.microsoft.com/office/drawing/2014/main" val="10003"/>
                  </a:ext>
                </a:extLst>
              </a:tr>
              <a:tr h="409565">
                <a:tc>
                  <a:txBody>
                    <a:bodyPr/>
                    <a:lstStyle/>
                    <a:p>
                      <a:pPr marL="0" indent="0">
                        <a:buNone/>
                      </a:pPr>
                      <a:r>
                        <a:rPr lang="en-US" sz="1500" b="1" dirty="0">
                          <a:solidFill>
                            <a:srgbClr val="14264A"/>
                          </a:solidFill>
                          <a:latin typeface="Rubik" pitchFamily="34" charset="0"/>
                          <a:ea typeface="Rubik" pitchFamily="34" charset="-122"/>
                          <a:cs typeface="Rubik" pitchFamily="34" charset="-120"/>
                        </a:rPr>
                        <a:t>Core features</a:t>
                      </a:r>
                      <a:endParaRPr lang="en-US" sz="1500" dirty="0">
                        <a:latin typeface="Rubik" charset="0"/>
                        <a:ea typeface="Rubik" charset="0"/>
                        <a:cs typeface="Rubik" charset="0"/>
                      </a:endParaRPr>
                    </a:p>
                  </a:txBody>
                  <a:tcPr marL="126997" marR="126997" marT="76198" marB="76198" anchor="ctr">
                    <a:lnL w="12700" cap="flat" cmpd="sng" algn="ctr">
                      <a:solidFill>
                        <a:srgbClr val="F1E4C3"/>
                      </a:solidFill>
                      <a:prstDash val="solid"/>
                      <a:round/>
                      <a:headEnd type="none" w="med" len="med"/>
                      <a:tailEnd type="none" w="med" len="med"/>
                    </a:lnL>
                    <a:lnR w="12700" cap="flat" cmpd="sng" algn="ctr">
                      <a:solidFill>
                        <a:srgbClr val="F1E4C3"/>
                      </a:solidFill>
                      <a:prstDash val="solid"/>
                      <a:round/>
                      <a:headEnd type="none" w="med" len="med"/>
                      <a:tailEnd type="none" w="med" len="med"/>
                    </a:lnR>
                    <a:lnT w="12700" cap="flat" cmpd="sng" algn="ctr">
                      <a:solidFill>
                        <a:srgbClr val="BCB6A6"/>
                      </a:solidFill>
                      <a:prstDash val="solid"/>
                      <a:round/>
                      <a:headEnd type="none" w="med" len="med"/>
                      <a:tailEnd type="none" w="med" len="med"/>
                    </a:lnT>
                    <a:lnB w="12700" cap="flat" cmpd="sng" algn="ctr">
                      <a:solidFill>
                        <a:srgbClr val="F1E4C3"/>
                      </a:solidFill>
                      <a:prstDash val="solid"/>
                      <a:round/>
                      <a:headEnd type="none" w="med" len="med"/>
                      <a:tailEnd type="none" w="med" len="med"/>
                    </a:lnB>
                  </a:tcPr>
                </a:tc>
                <a:tc>
                  <a:txBody>
                    <a:bodyPr/>
                    <a:lstStyle/>
                    <a:p>
                      <a:pPr marL="0" indent="0">
                        <a:buNone/>
                      </a:pPr>
                      <a:r>
                        <a:rPr lang="en-US" sz="1500" dirty="0">
                          <a:solidFill>
                            <a:srgbClr val="14264A"/>
                          </a:solidFill>
                          <a:latin typeface="Rubik" pitchFamily="34" charset="0"/>
                          <a:ea typeface="Rubik" pitchFamily="34" charset="-122"/>
                          <a:cs typeface="Rubik" pitchFamily="34" charset="-120"/>
                        </a:rPr>
                        <a:t>Booking inputs</a:t>
                      </a:r>
                      <a:endParaRPr lang="en-US" sz="1500" dirty="0">
                        <a:latin typeface="Rubik" charset="0"/>
                        <a:ea typeface="Rubik" charset="0"/>
                        <a:cs typeface="Rubik" charset="0"/>
                      </a:endParaRPr>
                    </a:p>
                  </a:txBody>
                  <a:tcPr marL="126997" marR="126997" marT="76198" marB="76198" anchor="ctr">
                    <a:lnL w="12700" cap="flat" cmpd="sng" algn="ctr">
                      <a:solidFill>
                        <a:srgbClr val="F1E4C3"/>
                      </a:solidFill>
                      <a:prstDash val="solid"/>
                      <a:round/>
                      <a:headEnd type="none" w="med" len="med"/>
                      <a:tailEnd type="none" w="med" len="med"/>
                    </a:lnL>
                    <a:lnR w="12700" cap="flat" cmpd="sng" algn="ctr">
                      <a:solidFill>
                        <a:srgbClr val="F1E4C3"/>
                      </a:solidFill>
                      <a:prstDash val="solid"/>
                      <a:round/>
                      <a:headEnd type="none" w="med" len="med"/>
                      <a:tailEnd type="none" w="med" len="med"/>
                    </a:lnR>
                    <a:lnT w="12700" cap="flat" cmpd="sng" algn="ctr">
                      <a:solidFill>
                        <a:srgbClr val="BCB6A6"/>
                      </a:solidFill>
                      <a:prstDash val="solid"/>
                      <a:round/>
                      <a:headEnd type="none" w="med" len="med"/>
                      <a:tailEnd type="none" w="med" len="med"/>
                    </a:lnT>
                    <a:lnB w="12700" cap="flat" cmpd="sng" algn="ctr">
                      <a:solidFill>
                        <a:srgbClr val="F1E4C3"/>
                      </a:solidFill>
                      <a:prstDash val="solid"/>
                      <a:round/>
                      <a:headEnd type="none" w="med" len="med"/>
                      <a:tailEnd type="none" w="med" len="med"/>
                    </a:lnB>
                  </a:tcPr>
                </a:tc>
                <a:tc>
                  <a:txBody>
                    <a:bodyPr/>
                    <a:lstStyle/>
                    <a:p>
                      <a:pPr marL="0" indent="0">
                        <a:buNone/>
                      </a:pPr>
                      <a:r>
                        <a:rPr lang="en-US" sz="1500" dirty="0">
                          <a:solidFill>
                            <a:srgbClr val="14264A"/>
                          </a:solidFill>
                          <a:latin typeface="Rubik" pitchFamily="34" charset="0"/>
                          <a:ea typeface="Rubik" pitchFamily="34" charset="-122"/>
                          <a:cs typeface="Rubik" pitchFamily="34" charset="-120"/>
                        </a:rPr>
                        <a:t>Manage guest details</a:t>
                      </a:r>
                      <a:endParaRPr lang="en-US" sz="1500" dirty="0">
                        <a:latin typeface="Rubik" charset="0"/>
                        <a:ea typeface="Rubik" charset="0"/>
                        <a:cs typeface="Rubik" charset="0"/>
                      </a:endParaRPr>
                    </a:p>
                  </a:txBody>
                  <a:tcPr marL="126997" marR="126997" marT="76198" marB="76198" anchor="ctr">
                    <a:lnL w="12700" cap="flat" cmpd="sng" algn="ctr">
                      <a:solidFill>
                        <a:srgbClr val="F1E4C3"/>
                      </a:solidFill>
                      <a:prstDash val="solid"/>
                      <a:round/>
                      <a:headEnd type="none" w="med" len="med"/>
                      <a:tailEnd type="none" w="med" len="med"/>
                    </a:lnL>
                    <a:lnR w="12700" cap="flat" cmpd="sng" algn="ctr">
                      <a:solidFill>
                        <a:srgbClr val="F1E4C3"/>
                      </a:solidFill>
                      <a:prstDash val="solid"/>
                      <a:round/>
                      <a:headEnd type="none" w="med" len="med"/>
                      <a:tailEnd type="none" w="med" len="med"/>
                    </a:lnR>
                    <a:lnT w="12700" cap="flat" cmpd="sng" algn="ctr">
                      <a:solidFill>
                        <a:srgbClr val="BCB6A6"/>
                      </a:solidFill>
                      <a:prstDash val="solid"/>
                      <a:round/>
                      <a:headEnd type="none" w="med" len="med"/>
                      <a:tailEnd type="none" w="med" len="med"/>
                    </a:lnT>
                    <a:lnB w="12700" cap="flat" cmpd="sng" algn="ctr">
                      <a:solidFill>
                        <a:srgbClr val="F1E4C3"/>
                      </a:solidFill>
                      <a:prstDash val="solid"/>
                      <a:round/>
                      <a:headEnd type="none" w="med" len="med"/>
                      <a:tailEnd type="none" w="med" len="med"/>
                    </a:lnB>
                  </a:tcPr>
                </a:tc>
                <a:tc>
                  <a:txBody>
                    <a:bodyPr/>
                    <a:lstStyle/>
                    <a:p>
                      <a:pPr marL="0" indent="0">
                        <a:buNone/>
                      </a:pPr>
                      <a:r>
                        <a:rPr lang="en-US" sz="1500" dirty="0">
                          <a:solidFill>
                            <a:srgbClr val="14264A"/>
                          </a:solidFill>
                          <a:latin typeface="Rubik" pitchFamily="34" charset="0"/>
                          <a:ea typeface="Rubik" pitchFamily="34" charset="-122"/>
                          <a:cs typeface="Rubik" pitchFamily="34" charset="-120"/>
                        </a:rPr>
                        <a:t>Select room type</a:t>
                      </a:r>
                      <a:endParaRPr lang="en-US" sz="1500" dirty="0">
                        <a:latin typeface="Rubik" charset="0"/>
                        <a:ea typeface="Rubik" charset="0"/>
                        <a:cs typeface="Rubik" charset="0"/>
                      </a:endParaRPr>
                    </a:p>
                  </a:txBody>
                  <a:tcPr marL="126997" marR="126997" marT="76198" marB="76198" anchor="ctr">
                    <a:lnL w="12700" cap="flat" cmpd="sng" algn="ctr">
                      <a:solidFill>
                        <a:srgbClr val="F1E4C3"/>
                      </a:solidFill>
                      <a:prstDash val="solid"/>
                      <a:round/>
                      <a:headEnd type="none" w="med" len="med"/>
                      <a:tailEnd type="none" w="med" len="med"/>
                    </a:lnL>
                    <a:lnR w="12700" cap="flat" cmpd="sng" algn="ctr">
                      <a:solidFill>
                        <a:srgbClr val="F1E4C3"/>
                      </a:solidFill>
                      <a:prstDash val="solid"/>
                      <a:round/>
                      <a:headEnd type="none" w="med" len="med"/>
                      <a:tailEnd type="none" w="med" len="med"/>
                    </a:lnR>
                    <a:lnT w="12700" cap="flat" cmpd="sng" algn="ctr">
                      <a:solidFill>
                        <a:srgbClr val="BCB6A6"/>
                      </a:solidFill>
                      <a:prstDash val="solid"/>
                      <a:round/>
                      <a:headEnd type="none" w="med" len="med"/>
                      <a:tailEnd type="none" w="med" len="med"/>
                    </a:lnT>
                    <a:lnB w="12700" cap="flat" cmpd="sng" algn="ctr">
                      <a:solidFill>
                        <a:srgbClr val="F1E4C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Text 2"/>
          <p:cNvSpPr/>
          <p:nvPr/>
        </p:nvSpPr>
        <p:spPr>
          <a:xfrm>
            <a:off x="609585" y="4150916"/>
            <a:ext cx="10972526" cy="259060"/>
          </a:xfrm>
          <a:prstGeom prst="rect">
            <a:avLst/>
          </a:prstGeom>
          <a:noFill/>
          <a:ln/>
        </p:spPr>
        <p:txBody>
          <a:bodyPr wrap="none" lIns="0" tIns="0" rIns="0" bIns="0" rtlCol="0" anchor="t"/>
          <a:lstStyle/>
          <a:p>
            <a:pPr marL="0" indent="0" algn="l">
              <a:lnSpc>
                <a:spcPct val="100000"/>
              </a:lnSpc>
              <a:buNone/>
            </a:pPr>
            <a:r>
              <a:rPr lang="en-US" sz="1700" dirty="0">
                <a:solidFill>
                  <a:srgbClr val="14264A"/>
                </a:solidFill>
                <a:latin typeface="Rubik SemiBold" pitchFamily="34" charset="0"/>
                <a:ea typeface="Rubik SemiBold" pitchFamily="34" charset="-122"/>
                <a:cs typeface="Rubik SemiBold" pitchFamily="34" charset="-120"/>
              </a:rPr>
              <a:t>Two core features support booking setup</a:t>
            </a:r>
            <a:endParaRPr lang="en-US" sz="1700" dirty="0"/>
          </a:p>
        </p:txBody>
      </p:sp>
      <p:sp>
        <p:nvSpPr>
          <p:cNvPr id="6" name="Text 3"/>
          <p:cNvSpPr/>
          <p:nvPr/>
        </p:nvSpPr>
        <p:spPr>
          <a:xfrm>
            <a:off x="609585" y="4546501"/>
            <a:ext cx="11582110" cy="198041"/>
          </a:xfrm>
          <a:prstGeom prst="rect">
            <a:avLst/>
          </a:prstGeom>
          <a:noFill/>
          <a:ln/>
        </p:spPr>
        <p:txBody>
          <a:bodyPr wrap="none" lIns="0" tIns="0" rIns="0" bIns="0" rtlCol="0" anchor="t"/>
          <a:lstStyle/>
          <a:p>
            <a:pPr marL="0" indent="0" algn="l">
              <a:lnSpc>
                <a:spcPct val="108000"/>
              </a:lnSpc>
              <a:buNone/>
            </a:pPr>
            <a:r>
              <a:rPr lang="en-US" sz="1200" dirty="0">
                <a:solidFill>
                  <a:srgbClr val="336A85"/>
                </a:solidFill>
                <a:latin typeface="Rubik Medium" pitchFamily="34" charset="0"/>
                <a:ea typeface="Rubik Medium" pitchFamily="34" charset="-122"/>
                <a:cs typeface="Rubik Medium" pitchFamily="34" charset="-120"/>
              </a:rPr>
              <a:t>Customer name input and room type selection.</a:t>
            </a:r>
            <a:endParaRPr lang="en-US" sz="1200" dirty="0"/>
          </a:p>
        </p:txBody>
      </p:sp>
      <p:sp>
        <p:nvSpPr>
          <p:cNvPr id="7" name="Shape 4"/>
          <p:cNvSpPr/>
          <p:nvPr/>
        </p:nvSpPr>
        <p:spPr>
          <a:xfrm>
            <a:off x="0" y="5270500"/>
            <a:ext cx="12191695" cy="1587500"/>
          </a:xfrm>
          <a:custGeom>
            <a:avLst/>
            <a:gdLst/>
            <a:ahLst/>
            <a:cxnLst/>
            <a:rect l="l" t="t" r="r" b="b"/>
            <a:pathLst>
              <a:path w="12191695" h="1587500">
                <a:moveTo>
                  <a:pt x="0" y="278289"/>
                </a:moveTo>
                <a:lnTo>
                  <a:pt x="253587" y="256381"/>
                </a:lnTo>
                <a:lnTo>
                  <a:pt x="508394" y="232728"/>
                </a:lnTo>
                <a:lnTo>
                  <a:pt x="761981" y="207804"/>
                </a:lnTo>
                <a:lnTo>
                  <a:pt x="1015568" y="182404"/>
                </a:lnTo>
                <a:lnTo>
                  <a:pt x="1270375" y="156845"/>
                </a:lnTo>
                <a:lnTo>
                  <a:pt x="1523962" y="131763"/>
                </a:lnTo>
                <a:lnTo>
                  <a:pt x="1777549" y="107633"/>
                </a:lnTo>
                <a:lnTo>
                  <a:pt x="2032356" y="85249"/>
                </a:lnTo>
                <a:lnTo>
                  <a:pt x="2285943" y="64929"/>
                </a:lnTo>
                <a:lnTo>
                  <a:pt x="2539530" y="47149"/>
                </a:lnTo>
                <a:lnTo>
                  <a:pt x="2794336" y="32385"/>
                </a:lnTo>
                <a:lnTo>
                  <a:pt x="3047924" y="21114"/>
                </a:lnTo>
                <a:lnTo>
                  <a:pt x="3301511" y="13494"/>
                </a:lnTo>
                <a:lnTo>
                  <a:pt x="3556317" y="9843"/>
                </a:lnTo>
                <a:lnTo>
                  <a:pt x="3809905" y="10478"/>
                </a:lnTo>
                <a:lnTo>
                  <a:pt x="4063492" y="15240"/>
                </a:lnTo>
                <a:lnTo>
                  <a:pt x="4318298" y="24447"/>
                </a:lnTo>
                <a:lnTo>
                  <a:pt x="4571886" y="37941"/>
                </a:lnTo>
                <a:lnTo>
                  <a:pt x="4825473" y="55721"/>
                </a:lnTo>
                <a:lnTo>
                  <a:pt x="5080279" y="77470"/>
                </a:lnTo>
                <a:lnTo>
                  <a:pt x="5333867" y="103029"/>
                </a:lnTo>
                <a:lnTo>
                  <a:pt x="5587454" y="132080"/>
                </a:lnTo>
                <a:lnTo>
                  <a:pt x="5842260" y="164306"/>
                </a:lnTo>
                <a:lnTo>
                  <a:pt x="6095848" y="199231"/>
                </a:lnTo>
                <a:lnTo>
                  <a:pt x="6349435" y="236379"/>
                </a:lnTo>
                <a:lnTo>
                  <a:pt x="6604241" y="275273"/>
                </a:lnTo>
                <a:lnTo>
                  <a:pt x="6857828" y="315436"/>
                </a:lnTo>
                <a:lnTo>
                  <a:pt x="7111416" y="356076"/>
                </a:lnTo>
                <a:lnTo>
                  <a:pt x="7366222" y="396875"/>
                </a:lnTo>
                <a:lnTo>
                  <a:pt x="7619809" y="437197"/>
                </a:lnTo>
                <a:lnTo>
                  <a:pt x="7873397" y="476568"/>
                </a:lnTo>
                <a:lnTo>
                  <a:pt x="8128203" y="514191"/>
                </a:lnTo>
                <a:lnTo>
                  <a:pt x="8381790" y="549751"/>
                </a:lnTo>
                <a:lnTo>
                  <a:pt x="8635378" y="582771"/>
                </a:lnTo>
                <a:lnTo>
                  <a:pt x="8890184" y="612775"/>
                </a:lnTo>
                <a:lnTo>
                  <a:pt x="9143771" y="639286"/>
                </a:lnTo>
                <a:lnTo>
                  <a:pt x="9397359" y="662146"/>
                </a:lnTo>
                <a:lnTo>
                  <a:pt x="9652165" y="681038"/>
                </a:lnTo>
                <a:lnTo>
                  <a:pt x="9905752" y="695643"/>
                </a:lnTo>
                <a:lnTo>
                  <a:pt x="10159339" y="706120"/>
                </a:lnTo>
                <a:lnTo>
                  <a:pt x="10414146" y="712153"/>
                </a:lnTo>
                <a:lnTo>
                  <a:pt x="10667733" y="713899"/>
                </a:lnTo>
                <a:lnTo>
                  <a:pt x="10921320" y="711359"/>
                </a:lnTo>
                <a:lnTo>
                  <a:pt x="11176127" y="704850"/>
                </a:lnTo>
                <a:lnTo>
                  <a:pt x="11429714" y="694531"/>
                </a:lnTo>
                <a:lnTo>
                  <a:pt x="11683301" y="680720"/>
                </a:lnTo>
                <a:lnTo>
                  <a:pt x="11938108" y="663734"/>
                </a:lnTo>
                <a:lnTo>
                  <a:pt x="12191695" y="644049"/>
                </a:lnTo>
                <a:lnTo>
                  <a:pt x="12191695" y="1587500"/>
                </a:lnTo>
                <a:lnTo>
                  <a:pt x="0" y="1587500"/>
                </a:lnTo>
                <a:close/>
              </a:path>
            </a:pathLst>
          </a:custGeom>
          <a:solidFill>
            <a:srgbClr val="86A69F"/>
          </a:solidFill>
          <a:ln/>
        </p:spPr>
      </p:sp>
      <p:sp>
        <p:nvSpPr>
          <p:cNvPr id="8" name="Shape 5"/>
          <p:cNvSpPr/>
          <p:nvPr/>
        </p:nvSpPr>
        <p:spPr>
          <a:xfrm>
            <a:off x="0" y="5867400"/>
            <a:ext cx="12191695" cy="990600"/>
          </a:xfrm>
          <a:custGeom>
            <a:avLst/>
            <a:gdLst/>
            <a:ahLst/>
            <a:cxnLst/>
            <a:rect l="l" t="t" r="r" b="b"/>
            <a:pathLst>
              <a:path w="12191695" h="990600">
                <a:moveTo>
                  <a:pt x="0" y="369494"/>
                </a:moveTo>
                <a:lnTo>
                  <a:pt x="253587" y="348394"/>
                </a:lnTo>
                <a:lnTo>
                  <a:pt x="508394" y="325016"/>
                </a:lnTo>
                <a:lnTo>
                  <a:pt x="761981" y="299756"/>
                </a:lnTo>
                <a:lnTo>
                  <a:pt x="1015568" y="273108"/>
                </a:lnTo>
                <a:lnTo>
                  <a:pt x="1270375" y="245372"/>
                </a:lnTo>
                <a:lnTo>
                  <a:pt x="1523962" y="217239"/>
                </a:lnTo>
                <a:lnTo>
                  <a:pt x="1777549" y="189006"/>
                </a:lnTo>
                <a:lnTo>
                  <a:pt x="2032356" y="161270"/>
                </a:lnTo>
                <a:lnTo>
                  <a:pt x="2285943" y="134523"/>
                </a:lnTo>
                <a:lnTo>
                  <a:pt x="2539530" y="109065"/>
                </a:lnTo>
                <a:lnTo>
                  <a:pt x="2794336" y="85489"/>
                </a:lnTo>
                <a:lnTo>
                  <a:pt x="3047924" y="64191"/>
                </a:lnTo>
                <a:lnTo>
                  <a:pt x="3301511" y="45469"/>
                </a:lnTo>
                <a:lnTo>
                  <a:pt x="3556317" y="29619"/>
                </a:lnTo>
                <a:lnTo>
                  <a:pt x="3809905" y="16939"/>
                </a:lnTo>
                <a:lnTo>
                  <a:pt x="4063492" y="7727"/>
                </a:lnTo>
                <a:lnTo>
                  <a:pt x="4318298" y="1981"/>
                </a:lnTo>
                <a:lnTo>
                  <a:pt x="4571886" y="0"/>
                </a:lnTo>
                <a:lnTo>
                  <a:pt x="4825473" y="1684"/>
                </a:lnTo>
                <a:lnTo>
                  <a:pt x="5080279" y="7033"/>
                </a:lnTo>
                <a:lnTo>
                  <a:pt x="5333867" y="15949"/>
                </a:lnTo>
                <a:lnTo>
                  <a:pt x="5587454" y="28232"/>
                </a:lnTo>
                <a:lnTo>
                  <a:pt x="5842260" y="43785"/>
                </a:lnTo>
                <a:lnTo>
                  <a:pt x="6095848" y="62309"/>
                </a:lnTo>
                <a:lnTo>
                  <a:pt x="6349435" y="83409"/>
                </a:lnTo>
                <a:lnTo>
                  <a:pt x="6604241" y="106787"/>
                </a:lnTo>
                <a:lnTo>
                  <a:pt x="6857828" y="132047"/>
                </a:lnTo>
                <a:lnTo>
                  <a:pt x="7111416" y="158694"/>
                </a:lnTo>
                <a:lnTo>
                  <a:pt x="7366222" y="186431"/>
                </a:lnTo>
                <a:lnTo>
                  <a:pt x="7619809" y="214564"/>
                </a:lnTo>
                <a:lnTo>
                  <a:pt x="7873397" y="242796"/>
                </a:lnTo>
                <a:lnTo>
                  <a:pt x="8128203" y="270533"/>
                </a:lnTo>
                <a:lnTo>
                  <a:pt x="8381790" y="297279"/>
                </a:lnTo>
                <a:lnTo>
                  <a:pt x="8635378" y="322737"/>
                </a:lnTo>
                <a:lnTo>
                  <a:pt x="8890184" y="346314"/>
                </a:lnTo>
                <a:lnTo>
                  <a:pt x="9143771" y="367612"/>
                </a:lnTo>
                <a:lnTo>
                  <a:pt x="9397359" y="386334"/>
                </a:lnTo>
                <a:lnTo>
                  <a:pt x="9652165" y="402184"/>
                </a:lnTo>
                <a:lnTo>
                  <a:pt x="9905752" y="414863"/>
                </a:lnTo>
                <a:lnTo>
                  <a:pt x="10159339" y="424076"/>
                </a:lnTo>
                <a:lnTo>
                  <a:pt x="10414146" y="429821"/>
                </a:lnTo>
                <a:lnTo>
                  <a:pt x="10667733" y="431803"/>
                </a:lnTo>
                <a:lnTo>
                  <a:pt x="10921320" y="430119"/>
                </a:lnTo>
                <a:lnTo>
                  <a:pt x="11176127" y="424769"/>
                </a:lnTo>
                <a:lnTo>
                  <a:pt x="11429714" y="415854"/>
                </a:lnTo>
                <a:lnTo>
                  <a:pt x="11683301" y="403570"/>
                </a:lnTo>
                <a:lnTo>
                  <a:pt x="11938108" y="388018"/>
                </a:lnTo>
                <a:lnTo>
                  <a:pt x="12191695" y="369494"/>
                </a:lnTo>
                <a:lnTo>
                  <a:pt x="12191695" y="990600"/>
                </a:lnTo>
                <a:lnTo>
                  <a:pt x="0" y="990600"/>
                </a:lnTo>
                <a:close/>
              </a:path>
            </a:pathLst>
          </a:custGeom>
          <a:solidFill>
            <a:srgbClr val="4A8895"/>
          </a:solidFill>
          <a:ln/>
        </p:spPr>
      </p:sp>
      <p:sp>
        <p:nvSpPr>
          <p:cNvPr id="9" name="Shape 6"/>
          <p:cNvSpPr/>
          <p:nvPr/>
        </p:nvSpPr>
        <p:spPr>
          <a:xfrm>
            <a:off x="0" y="6286500"/>
            <a:ext cx="12191695" cy="571500"/>
          </a:xfrm>
          <a:custGeom>
            <a:avLst/>
            <a:gdLst/>
            <a:ahLst/>
            <a:cxnLst/>
            <a:rect l="l" t="t" r="r" b="b"/>
            <a:pathLst>
              <a:path w="12191695" h="571500">
                <a:moveTo>
                  <a:pt x="0" y="454114"/>
                </a:moveTo>
                <a:lnTo>
                  <a:pt x="253587" y="435369"/>
                </a:lnTo>
                <a:lnTo>
                  <a:pt x="508394" y="414509"/>
                </a:lnTo>
                <a:lnTo>
                  <a:pt x="761981" y="391820"/>
                </a:lnTo>
                <a:lnTo>
                  <a:pt x="1015568" y="367532"/>
                </a:lnTo>
                <a:lnTo>
                  <a:pt x="1270375" y="341986"/>
                </a:lnTo>
                <a:lnTo>
                  <a:pt x="1523962" y="315468"/>
                </a:lnTo>
                <a:lnTo>
                  <a:pt x="1777549" y="288265"/>
                </a:lnTo>
                <a:lnTo>
                  <a:pt x="2032356" y="260775"/>
                </a:lnTo>
                <a:lnTo>
                  <a:pt x="2285943" y="233286"/>
                </a:lnTo>
                <a:lnTo>
                  <a:pt x="2539530" y="206140"/>
                </a:lnTo>
                <a:lnTo>
                  <a:pt x="2794336" y="179622"/>
                </a:lnTo>
                <a:lnTo>
                  <a:pt x="3047924" y="154191"/>
                </a:lnTo>
                <a:lnTo>
                  <a:pt x="3301511" y="130073"/>
                </a:lnTo>
                <a:lnTo>
                  <a:pt x="3556317" y="107556"/>
                </a:lnTo>
                <a:lnTo>
                  <a:pt x="3809905" y="86868"/>
                </a:lnTo>
                <a:lnTo>
                  <a:pt x="4063492" y="68237"/>
                </a:lnTo>
                <a:lnTo>
                  <a:pt x="4318298" y="51892"/>
                </a:lnTo>
                <a:lnTo>
                  <a:pt x="4571886" y="38005"/>
                </a:lnTo>
                <a:lnTo>
                  <a:pt x="4825473" y="26575"/>
                </a:lnTo>
                <a:lnTo>
                  <a:pt x="5080279" y="17774"/>
                </a:lnTo>
                <a:lnTo>
                  <a:pt x="5333867" y="11601"/>
                </a:lnTo>
                <a:lnTo>
                  <a:pt x="5587454" y="7944"/>
                </a:lnTo>
                <a:lnTo>
                  <a:pt x="5842260" y="6858"/>
                </a:lnTo>
                <a:lnTo>
                  <a:pt x="6095848" y="8172"/>
                </a:lnTo>
                <a:lnTo>
                  <a:pt x="6349435" y="11716"/>
                </a:lnTo>
                <a:lnTo>
                  <a:pt x="6604241" y="17316"/>
                </a:lnTo>
                <a:lnTo>
                  <a:pt x="6857828" y="24746"/>
                </a:lnTo>
                <a:lnTo>
                  <a:pt x="7111416" y="33776"/>
                </a:lnTo>
                <a:lnTo>
                  <a:pt x="7366222" y="44063"/>
                </a:lnTo>
                <a:lnTo>
                  <a:pt x="7619809" y="55378"/>
                </a:lnTo>
                <a:lnTo>
                  <a:pt x="7873397" y="67323"/>
                </a:lnTo>
                <a:lnTo>
                  <a:pt x="8128203" y="79610"/>
                </a:lnTo>
                <a:lnTo>
                  <a:pt x="8381790" y="91840"/>
                </a:lnTo>
                <a:lnTo>
                  <a:pt x="8635378" y="103784"/>
                </a:lnTo>
                <a:lnTo>
                  <a:pt x="8890184" y="114986"/>
                </a:lnTo>
                <a:lnTo>
                  <a:pt x="9143771" y="125216"/>
                </a:lnTo>
                <a:lnTo>
                  <a:pt x="9397359" y="134074"/>
                </a:lnTo>
                <a:lnTo>
                  <a:pt x="9652165" y="141389"/>
                </a:lnTo>
                <a:lnTo>
                  <a:pt x="9905752" y="146818"/>
                </a:lnTo>
                <a:lnTo>
                  <a:pt x="10159339" y="150190"/>
                </a:lnTo>
                <a:lnTo>
                  <a:pt x="10414146" y="151276"/>
                </a:lnTo>
                <a:lnTo>
                  <a:pt x="10667733" y="149962"/>
                </a:lnTo>
                <a:lnTo>
                  <a:pt x="10921320" y="146133"/>
                </a:lnTo>
                <a:lnTo>
                  <a:pt x="11176127" y="139675"/>
                </a:lnTo>
                <a:lnTo>
                  <a:pt x="11429714" y="130645"/>
                </a:lnTo>
                <a:lnTo>
                  <a:pt x="11683301" y="119043"/>
                </a:lnTo>
                <a:lnTo>
                  <a:pt x="11938108" y="104927"/>
                </a:lnTo>
                <a:lnTo>
                  <a:pt x="12191695" y="88354"/>
                </a:lnTo>
                <a:lnTo>
                  <a:pt x="12191695" y="571500"/>
                </a:lnTo>
                <a:lnTo>
                  <a:pt x="0" y="571500"/>
                </a:lnTo>
                <a:close/>
              </a:path>
            </a:pathLst>
          </a:custGeom>
          <a:solidFill>
            <a:srgbClr val="336A85"/>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5848" y="0"/>
            <a:ext cx="6095848" cy="6858000"/>
          </a:xfrm>
          <a:prstGeom prst="rect">
            <a:avLst/>
          </a:prstGeom>
        </p:spPr>
      </p:pic>
      <p:sp>
        <p:nvSpPr>
          <p:cNvPr id="3" name="Shape 0"/>
          <p:cNvSpPr/>
          <p:nvPr/>
        </p:nvSpPr>
        <p:spPr>
          <a:xfrm>
            <a:off x="5283068" y="0"/>
            <a:ext cx="1625559" cy="6858000"/>
          </a:xfrm>
          <a:custGeom>
            <a:avLst/>
            <a:gdLst/>
            <a:ahLst/>
            <a:cxnLst/>
            <a:rect l="l" t="t" r="r" b="b"/>
            <a:pathLst>
              <a:path w="1625559" h="6858000">
                <a:moveTo>
                  <a:pt x="0" y="0"/>
                </a:moveTo>
                <a:lnTo>
                  <a:pt x="812780" y="0"/>
                </a:lnTo>
                <a:arcTo wR="812780" hR="812800" stAng="16200000" swAng="5400000"/>
                <a:lnTo>
                  <a:pt x="1625559" y="6045200"/>
                </a:lnTo>
                <a:arcTo wR="812780" hR="812800" stAng="0" swAng="5400000"/>
                <a:lnTo>
                  <a:pt x="0" y="6858000"/>
                </a:lnTo>
                <a:lnTo>
                  <a:pt x="0" y="0"/>
                </a:lnTo>
                <a:close/>
              </a:path>
            </a:pathLst>
          </a:custGeom>
          <a:solidFill>
            <a:srgbClr val="F1E4C3"/>
          </a:solidFill>
          <a:ln/>
        </p:spPr>
      </p:sp>
      <p:sp>
        <p:nvSpPr>
          <p:cNvPr id="4" name="Shape 1"/>
          <p:cNvSpPr/>
          <p:nvPr/>
        </p:nvSpPr>
        <p:spPr>
          <a:xfrm>
            <a:off x="0" y="0"/>
            <a:ext cx="6095848" cy="6858000"/>
          </a:xfrm>
          <a:prstGeom prst="rect">
            <a:avLst/>
          </a:prstGeom>
          <a:solidFill>
            <a:srgbClr val="F1E4C3"/>
          </a:solidFill>
          <a:ln/>
        </p:spPr>
      </p:sp>
      <p:sp>
        <p:nvSpPr>
          <p:cNvPr id="5" name="Text 2"/>
          <p:cNvSpPr/>
          <p:nvPr/>
        </p:nvSpPr>
        <p:spPr>
          <a:xfrm>
            <a:off x="609585" y="1311176"/>
            <a:ext cx="5435464" cy="190500"/>
          </a:xfrm>
          <a:prstGeom prst="rect">
            <a:avLst/>
          </a:prstGeom>
          <a:noFill/>
          <a:ln/>
        </p:spPr>
        <p:txBody>
          <a:bodyPr wrap="none" lIns="0" tIns="0" rIns="0" bIns="0" rtlCol="0" anchor="t"/>
          <a:lstStyle/>
          <a:p>
            <a:pPr marL="0" indent="0" algn="l">
              <a:lnSpc>
                <a:spcPct val="104000"/>
              </a:lnSpc>
              <a:buNone/>
            </a:pPr>
            <a:r>
              <a:rPr lang="en-US" sz="1200" kern="0" spc="96" dirty="0">
                <a:solidFill>
                  <a:srgbClr val="000000"/>
                </a:solidFill>
                <a:latin typeface="Rubik SemiBold" pitchFamily="34" charset="0"/>
                <a:ea typeface="Rubik SemiBold" pitchFamily="34" charset="-122"/>
                <a:cs typeface="Rubik SemiBold" pitchFamily="34" charset="-120"/>
              </a:rPr>
              <a:t>ROOM TYPES</a:t>
            </a:r>
            <a:endParaRPr lang="en-US" sz="1200" dirty="0"/>
          </a:p>
        </p:txBody>
      </p:sp>
      <p:sp>
        <p:nvSpPr>
          <p:cNvPr id="6" name="Text 3"/>
          <p:cNvSpPr/>
          <p:nvPr/>
        </p:nvSpPr>
        <p:spPr>
          <a:xfrm>
            <a:off x="609585" y="1577876"/>
            <a:ext cx="4825879" cy="853281"/>
          </a:xfrm>
          <a:prstGeom prst="rect">
            <a:avLst/>
          </a:prstGeom>
          <a:noFill/>
          <a:ln/>
        </p:spPr>
        <p:txBody>
          <a:bodyPr wrap="square" lIns="0" tIns="0" rIns="0" bIns="0" rtlCol="0" anchor="t">
            <a:normAutofit/>
          </a:bodyPr>
          <a:lstStyle/>
          <a:p>
            <a:pPr marL="0" indent="0" algn="l">
              <a:lnSpc>
                <a:spcPct val="87000"/>
              </a:lnSpc>
              <a:buNone/>
            </a:pPr>
            <a:r>
              <a:rPr lang="en-US" sz="3200" kern="0" spc="-48" dirty="0">
                <a:solidFill>
                  <a:srgbClr val="000000"/>
                </a:solidFill>
                <a:latin typeface="Fraunces Black" pitchFamily="34" charset="0"/>
                <a:ea typeface="Fraunces Black" pitchFamily="34" charset="-122"/>
                <a:cs typeface="Fraunces Black" pitchFamily="34" charset="-120"/>
              </a:rPr>
              <a:t>Room booking cost formula</a:t>
            </a:r>
            <a:endParaRPr lang="en-US" sz="3200" dirty="0"/>
          </a:p>
        </p:txBody>
      </p:sp>
      <p:sp>
        <p:nvSpPr>
          <p:cNvPr id="7" name="Shape 4"/>
          <p:cNvSpPr/>
          <p:nvPr/>
        </p:nvSpPr>
        <p:spPr>
          <a:xfrm>
            <a:off x="609585" y="2621657"/>
            <a:ext cx="333367" cy="333375"/>
          </a:xfrm>
          <a:prstGeom prst="ellipse">
            <a:avLst/>
          </a:prstGeom>
          <a:solidFill>
            <a:srgbClr val="D96B3A"/>
          </a:solidFill>
          <a:ln/>
        </p:spPr>
      </p:sp>
      <p:sp>
        <p:nvSpPr>
          <p:cNvPr id="8" name="Text 5"/>
          <p:cNvSpPr/>
          <p:nvPr/>
        </p:nvSpPr>
        <p:spPr>
          <a:xfrm>
            <a:off x="728843" y="2693095"/>
            <a:ext cx="704336" cy="190500"/>
          </a:xfrm>
          <a:prstGeom prst="rect">
            <a:avLst/>
          </a:prstGeom>
          <a:noFill/>
          <a:ln/>
        </p:spPr>
        <p:txBody>
          <a:bodyPr wrap="none" lIns="0" tIns="0" rIns="0" bIns="0" rtlCol="0" anchor="t"/>
          <a:lstStyle/>
          <a:p>
            <a:pPr marL="0" indent="0" algn="l">
              <a:lnSpc>
                <a:spcPct val="83000"/>
              </a:lnSpc>
              <a:buNone/>
            </a:pPr>
            <a:r>
              <a:rPr lang="en-US" sz="1500" b="1" dirty="0">
                <a:solidFill>
                  <a:srgbClr val="14264A"/>
                </a:solidFill>
                <a:latin typeface="Rubik Bold" pitchFamily="34" charset="0"/>
                <a:ea typeface="Rubik Bold" pitchFamily="34" charset="-122"/>
                <a:cs typeface="Rubik Bold" pitchFamily="34" charset="-120"/>
              </a:rPr>
              <a:t>1</a:t>
            </a:r>
            <a:endParaRPr lang="en-US" sz="1500" dirty="0"/>
          </a:p>
        </p:txBody>
      </p:sp>
      <p:sp>
        <p:nvSpPr>
          <p:cNvPr id="9" name="Text 6"/>
          <p:cNvSpPr/>
          <p:nvPr/>
        </p:nvSpPr>
        <p:spPr>
          <a:xfrm>
            <a:off x="1069948" y="2654995"/>
            <a:ext cx="4365516" cy="259060"/>
          </a:xfrm>
          <a:prstGeom prst="rect">
            <a:avLst/>
          </a:prstGeom>
          <a:noFill/>
          <a:ln/>
        </p:spPr>
        <p:txBody>
          <a:bodyPr wrap="none" lIns="0" tIns="0" rIns="0" bIns="0" rtlCol="0" anchor="t"/>
          <a:lstStyle/>
          <a:p>
            <a:pPr marL="0" indent="0" algn="l">
              <a:lnSpc>
                <a:spcPct val="100000"/>
              </a:lnSpc>
              <a:buNone/>
            </a:pPr>
            <a:r>
              <a:rPr lang="en-US" sz="1700" dirty="0">
                <a:solidFill>
                  <a:srgbClr val="000000"/>
                </a:solidFill>
                <a:latin typeface="Rubik SemiBold" pitchFamily="34" charset="0"/>
                <a:ea typeface="Rubik SemiBold" pitchFamily="34" charset="-122"/>
                <a:cs typeface="Rubik SemiBold" pitchFamily="34" charset="-120"/>
              </a:rPr>
              <a:t>Total amount</a:t>
            </a:r>
            <a:endParaRPr lang="en-US" sz="1700" dirty="0"/>
          </a:p>
        </p:txBody>
      </p:sp>
      <p:sp>
        <p:nvSpPr>
          <p:cNvPr id="10" name="Text 7"/>
          <p:cNvSpPr/>
          <p:nvPr/>
        </p:nvSpPr>
        <p:spPr>
          <a:xfrm>
            <a:off x="1069948" y="3050580"/>
            <a:ext cx="4365516" cy="514350"/>
          </a:xfrm>
          <a:prstGeom prst="rect">
            <a:avLst/>
          </a:prstGeom>
          <a:noFill/>
          <a:ln/>
        </p:spPr>
        <p:txBody>
          <a:bodyPr wrap="square" lIns="0" tIns="0" rIns="0" bIns="0" rtlCol="0" anchor="t">
            <a:normAutofit/>
          </a:bodyPr>
          <a:lstStyle/>
          <a:p>
            <a:pPr marL="0" indent="0" algn="l">
              <a:lnSpc>
                <a:spcPct val="113000"/>
              </a:lnSpc>
              <a:buNone/>
            </a:pPr>
            <a:r>
              <a:rPr lang="en-US" sz="1500" dirty="0">
                <a:solidFill>
                  <a:srgbClr val="000000"/>
                </a:solidFill>
                <a:latin typeface="Rubik" pitchFamily="34" charset="0"/>
                <a:ea typeface="Rubik" pitchFamily="34" charset="-122"/>
                <a:cs typeface="Rubik" pitchFamily="34" charset="-120"/>
              </a:rPr>
              <a:t>Room Price × Number of Rooms × Number of Days</a:t>
            </a:r>
            <a:endParaRPr lang="en-US" sz="1500" dirty="0"/>
          </a:p>
        </p:txBody>
      </p:sp>
      <p:sp>
        <p:nvSpPr>
          <p:cNvPr id="11" name="Shape 8"/>
          <p:cNvSpPr/>
          <p:nvPr/>
        </p:nvSpPr>
        <p:spPr>
          <a:xfrm>
            <a:off x="609585" y="3869730"/>
            <a:ext cx="333367" cy="333375"/>
          </a:xfrm>
          <a:prstGeom prst="ellipse">
            <a:avLst/>
          </a:prstGeom>
          <a:solidFill>
            <a:srgbClr val="D96B3A"/>
          </a:solidFill>
          <a:ln/>
        </p:spPr>
      </p:sp>
      <p:sp>
        <p:nvSpPr>
          <p:cNvPr id="12" name="Text 9"/>
          <p:cNvSpPr/>
          <p:nvPr/>
        </p:nvSpPr>
        <p:spPr>
          <a:xfrm>
            <a:off x="714357" y="3941167"/>
            <a:ext cx="733407" cy="190500"/>
          </a:xfrm>
          <a:prstGeom prst="rect">
            <a:avLst/>
          </a:prstGeom>
          <a:noFill/>
          <a:ln/>
        </p:spPr>
        <p:txBody>
          <a:bodyPr wrap="none" lIns="0" tIns="0" rIns="0" bIns="0" rtlCol="0" anchor="t"/>
          <a:lstStyle/>
          <a:p>
            <a:pPr marL="0" indent="0" algn="l">
              <a:lnSpc>
                <a:spcPct val="83000"/>
              </a:lnSpc>
              <a:buNone/>
            </a:pPr>
            <a:r>
              <a:rPr lang="en-US" sz="1500" b="1" dirty="0">
                <a:solidFill>
                  <a:srgbClr val="14264A"/>
                </a:solidFill>
                <a:latin typeface="Rubik Bold" pitchFamily="34" charset="0"/>
                <a:ea typeface="Rubik Bold" pitchFamily="34" charset="-122"/>
                <a:cs typeface="Rubik Bold" pitchFamily="34" charset="-120"/>
              </a:rPr>
              <a:t>2</a:t>
            </a:r>
            <a:endParaRPr lang="en-US" sz="1500" dirty="0"/>
          </a:p>
        </p:txBody>
      </p:sp>
      <p:sp>
        <p:nvSpPr>
          <p:cNvPr id="13" name="Text 10"/>
          <p:cNvSpPr/>
          <p:nvPr/>
        </p:nvSpPr>
        <p:spPr>
          <a:xfrm>
            <a:off x="1069948" y="3903067"/>
            <a:ext cx="4365516" cy="259060"/>
          </a:xfrm>
          <a:prstGeom prst="rect">
            <a:avLst/>
          </a:prstGeom>
          <a:noFill/>
          <a:ln/>
        </p:spPr>
        <p:txBody>
          <a:bodyPr wrap="none" lIns="0" tIns="0" rIns="0" bIns="0" rtlCol="0" anchor="t"/>
          <a:lstStyle/>
          <a:p>
            <a:pPr marL="0" indent="0" algn="l">
              <a:lnSpc>
                <a:spcPct val="100000"/>
              </a:lnSpc>
              <a:buNone/>
            </a:pPr>
            <a:r>
              <a:rPr lang="en-US" sz="1700" dirty="0">
                <a:solidFill>
                  <a:srgbClr val="000000"/>
                </a:solidFill>
                <a:latin typeface="Rubik SemiBold" pitchFamily="34" charset="0"/>
                <a:ea typeface="Rubik SemiBold" pitchFamily="34" charset="-122"/>
                <a:cs typeface="Rubik SemiBold" pitchFamily="34" charset="-120"/>
              </a:rPr>
              <a:t>Room price</a:t>
            </a:r>
            <a:endParaRPr lang="en-US" sz="1700" dirty="0"/>
          </a:p>
        </p:txBody>
      </p:sp>
      <p:sp>
        <p:nvSpPr>
          <p:cNvPr id="14" name="Text 11"/>
          <p:cNvSpPr/>
          <p:nvPr/>
        </p:nvSpPr>
        <p:spPr>
          <a:xfrm>
            <a:off x="1069948" y="4298652"/>
            <a:ext cx="4365516" cy="257175"/>
          </a:xfrm>
          <a:prstGeom prst="rect">
            <a:avLst/>
          </a:prstGeom>
          <a:noFill/>
          <a:ln/>
        </p:spPr>
        <p:txBody>
          <a:bodyPr wrap="none" lIns="0" tIns="0" rIns="0" bIns="0" rtlCol="0" anchor="t"/>
          <a:lstStyle/>
          <a:p>
            <a:pPr marL="0" indent="0" algn="l">
              <a:lnSpc>
                <a:spcPct val="113000"/>
              </a:lnSpc>
              <a:buNone/>
            </a:pPr>
            <a:r>
              <a:rPr lang="en-US" sz="1500" dirty="0">
                <a:solidFill>
                  <a:srgbClr val="000000"/>
                </a:solidFill>
                <a:latin typeface="Rubik" pitchFamily="34" charset="0"/>
                <a:ea typeface="Rubik" pitchFamily="34" charset="-122"/>
                <a:cs typeface="Rubik" pitchFamily="34" charset="-120"/>
              </a:rPr>
              <a:t>The price assigned to the selected room type.</a:t>
            </a:r>
            <a:endParaRPr lang="en-US" sz="1500" dirty="0"/>
          </a:p>
        </p:txBody>
      </p:sp>
      <p:sp>
        <p:nvSpPr>
          <p:cNvPr id="15" name="Shape 12"/>
          <p:cNvSpPr/>
          <p:nvPr/>
        </p:nvSpPr>
        <p:spPr>
          <a:xfrm>
            <a:off x="609585" y="4860627"/>
            <a:ext cx="333367" cy="333375"/>
          </a:xfrm>
          <a:prstGeom prst="ellipse">
            <a:avLst/>
          </a:prstGeom>
          <a:solidFill>
            <a:srgbClr val="D96B3A"/>
          </a:solidFill>
          <a:ln/>
        </p:spPr>
      </p:sp>
      <p:sp>
        <p:nvSpPr>
          <p:cNvPr id="16" name="Text 13"/>
          <p:cNvSpPr/>
          <p:nvPr/>
        </p:nvSpPr>
        <p:spPr>
          <a:xfrm>
            <a:off x="713464" y="4932065"/>
            <a:ext cx="735193" cy="190500"/>
          </a:xfrm>
          <a:prstGeom prst="rect">
            <a:avLst/>
          </a:prstGeom>
          <a:noFill/>
          <a:ln/>
        </p:spPr>
        <p:txBody>
          <a:bodyPr wrap="none" lIns="0" tIns="0" rIns="0" bIns="0" rtlCol="0" anchor="t"/>
          <a:lstStyle/>
          <a:p>
            <a:pPr marL="0" indent="0" algn="l">
              <a:lnSpc>
                <a:spcPct val="83000"/>
              </a:lnSpc>
              <a:buNone/>
            </a:pPr>
            <a:r>
              <a:rPr lang="en-US" sz="1500" b="1" dirty="0">
                <a:solidFill>
                  <a:srgbClr val="14264A"/>
                </a:solidFill>
                <a:latin typeface="Rubik Bold" pitchFamily="34" charset="0"/>
                <a:ea typeface="Rubik Bold" pitchFamily="34" charset="-122"/>
                <a:cs typeface="Rubik Bold" pitchFamily="34" charset="-120"/>
              </a:rPr>
              <a:t>3</a:t>
            </a:r>
            <a:endParaRPr lang="en-US" sz="1500" dirty="0"/>
          </a:p>
        </p:txBody>
      </p:sp>
      <p:sp>
        <p:nvSpPr>
          <p:cNvPr id="17" name="Text 14"/>
          <p:cNvSpPr/>
          <p:nvPr/>
        </p:nvSpPr>
        <p:spPr>
          <a:xfrm>
            <a:off x="1069948" y="4893965"/>
            <a:ext cx="4365516" cy="259060"/>
          </a:xfrm>
          <a:prstGeom prst="rect">
            <a:avLst/>
          </a:prstGeom>
          <a:noFill/>
          <a:ln/>
        </p:spPr>
        <p:txBody>
          <a:bodyPr wrap="none" lIns="0" tIns="0" rIns="0" bIns="0" rtlCol="0" anchor="t"/>
          <a:lstStyle/>
          <a:p>
            <a:pPr marL="0" indent="0" algn="l">
              <a:lnSpc>
                <a:spcPct val="100000"/>
              </a:lnSpc>
              <a:buNone/>
            </a:pPr>
            <a:r>
              <a:rPr lang="en-US" sz="1700" dirty="0">
                <a:solidFill>
                  <a:srgbClr val="000000"/>
                </a:solidFill>
                <a:latin typeface="Rubik SemiBold" pitchFamily="34" charset="0"/>
                <a:ea typeface="Rubik SemiBold" pitchFamily="34" charset="-122"/>
                <a:cs typeface="Rubik SemiBold" pitchFamily="34" charset="-120"/>
              </a:rPr>
              <a:t>Booking inputs</a:t>
            </a:r>
            <a:endParaRPr lang="en-US" sz="1700" dirty="0"/>
          </a:p>
        </p:txBody>
      </p:sp>
      <p:sp>
        <p:nvSpPr>
          <p:cNvPr id="18" name="Text 15"/>
          <p:cNvSpPr/>
          <p:nvPr/>
        </p:nvSpPr>
        <p:spPr>
          <a:xfrm>
            <a:off x="1069948" y="5289550"/>
            <a:ext cx="4365516" cy="257175"/>
          </a:xfrm>
          <a:prstGeom prst="rect">
            <a:avLst/>
          </a:prstGeom>
          <a:noFill/>
          <a:ln/>
        </p:spPr>
        <p:txBody>
          <a:bodyPr wrap="none" lIns="0" tIns="0" rIns="0" bIns="0" rtlCol="0" anchor="t"/>
          <a:lstStyle/>
          <a:p>
            <a:pPr marL="0" indent="0" algn="l">
              <a:lnSpc>
                <a:spcPct val="113000"/>
              </a:lnSpc>
              <a:buNone/>
            </a:pPr>
            <a:r>
              <a:rPr lang="en-US" sz="1500" dirty="0">
                <a:solidFill>
                  <a:srgbClr val="000000"/>
                </a:solidFill>
                <a:latin typeface="Rubik" pitchFamily="34" charset="0"/>
                <a:ea typeface="Rubik" pitchFamily="34" charset="-122"/>
                <a:cs typeface="Rubik" pitchFamily="34" charset="-120"/>
              </a:rPr>
              <a:t>Number of rooms and number of days.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09600"/>
            <a:ext cx="11582110" cy="190500"/>
          </a:xfrm>
          <a:prstGeom prst="rect">
            <a:avLst/>
          </a:prstGeom>
          <a:noFill/>
          <a:ln/>
        </p:spPr>
        <p:txBody>
          <a:bodyPr wrap="none" lIns="0" tIns="0" rIns="0" bIns="0" rtlCol="0" anchor="t"/>
          <a:lstStyle/>
          <a:p>
            <a:pPr marL="0" indent="0" algn="l">
              <a:lnSpc>
                <a:spcPct val="104000"/>
              </a:lnSpc>
              <a:buNone/>
            </a:pPr>
            <a:r>
              <a:rPr lang="en-US" sz="1200" kern="0" spc="96" dirty="0">
                <a:solidFill>
                  <a:srgbClr val="14264A"/>
                </a:solidFill>
                <a:latin typeface="Rubik SemiBold" pitchFamily="34" charset="0"/>
                <a:ea typeface="Rubik SemiBold" pitchFamily="34" charset="-122"/>
                <a:cs typeface="Rubik SemiBold" pitchFamily="34" charset="-120"/>
              </a:rPr>
              <a:t>MEMBERSHIP CATEGORIES</a:t>
            </a:r>
            <a:endParaRPr lang="en-US" sz="1200" dirty="0"/>
          </a:p>
        </p:txBody>
      </p:sp>
      <p:sp>
        <p:nvSpPr>
          <p:cNvPr id="3" name="Text 1"/>
          <p:cNvSpPr/>
          <p:nvPr/>
        </p:nvSpPr>
        <p:spPr>
          <a:xfrm>
            <a:off x="609585" y="876300"/>
            <a:ext cx="10972526" cy="426641"/>
          </a:xfrm>
          <a:prstGeom prst="rect">
            <a:avLst/>
          </a:prstGeom>
          <a:noFill/>
          <a:ln/>
        </p:spPr>
        <p:txBody>
          <a:bodyPr wrap="none" lIns="0" tIns="0" rIns="0" bIns="0" rtlCol="0" anchor="t"/>
          <a:lstStyle/>
          <a:p>
            <a:pPr marL="0" indent="0" algn="l">
              <a:lnSpc>
                <a:spcPct val="87000"/>
              </a:lnSpc>
              <a:buNone/>
            </a:pPr>
            <a:r>
              <a:rPr lang="en-US" sz="3200" kern="0" spc="-48" dirty="0">
                <a:solidFill>
                  <a:srgbClr val="14264A"/>
                </a:solidFill>
                <a:latin typeface="Fraunces Black" pitchFamily="34" charset="0"/>
                <a:ea typeface="Fraunces Black" pitchFamily="34" charset="-122"/>
                <a:cs typeface="Fraunces Black" pitchFamily="34" charset="-120"/>
              </a:rPr>
              <a:t>Membership categories are based on total amount</a:t>
            </a:r>
            <a:endParaRPr lang="en-US" sz="3200" dirty="0"/>
          </a:p>
        </p:txBody>
      </p:sp>
      <p:sp>
        <p:nvSpPr>
          <p:cNvPr id="4" name="Text 2"/>
          <p:cNvSpPr/>
          <p:nvPr/>
        </p:nvSpPr>
        <p:spPr>
          <a:xfrm>
            <a:off x="609585" y="1493441"/>
            <a:ext cx="11582110" cy="291405"/>
          </a:xfrm>
          <a:prstGeom prst="rect">
            <a:avLst/>
          </a:prstGeom>
          <a:noFill/>
          <a:ln/>
        </p:spPr>
        <p:txBody>
          <a:bodyPr wrap="none" lIns="0" tIns="0" rIns="0" bIns="0" rtlCol="0" anchor="t"/>
          <a:lstStyle/>
          <a:p>
            <a:pPr marL="0" indent="0" algn="l">
              <a:lnSpc>
                <a:spcPct val="112000"/>
              </a:lnSpc>
              <a:buNone/>
            </a:pPr>
            <a:r>
              <a:rPr lang="en-US" sz="1700" dirty="0">
                <a:solidFill>
                  <a:srgbClr val="14264A"/>
                </a:solidFill>
                <a:latin typeface="Rubik" pitchFamily="34" charset="0"/>
                <a:ea typeface="Rubik" pitchFamily="34" charset="-122"/>
                <a:cs typeface="Rubik" pitchFamily="34" charset="-120"/>
              </a:rPr>
              <a:t>Membership is checked after the total amount is calculated.</a:t>
            </a:r>
            <a:endParaRPr lang="en-US" sz="1700" dirty="0"/>
          </a:p>
        </p:txBody>
      </p:sp>
      <p:sp>
        <p:nvSpPr>
          <p:cNvPr id="5" name="Text 3"/>
          <p:cNvSpPr/>
          <p:nvPr/>
        </p:nvSpPr>
        <p:spPr>
          <a:xfrm>
            <a:off x="838179" y="2242046"/>
            <a:ext cx="828158" cy="190500"/>
          </a:xfrm>
          <a:prstGeom prst="rect">
            <a:avLst/>
          </a:prstGeom>
          <a:noFill/>
          <a:ln/>
        </p:spPr>
        <p:txBody>
          <a:bodyPr wrap="none" lIns="0" tIns="0" rIns="0" bIns="0" rtlCol="0" anchor="t"/>
          <a:lstStyle/>
          <a:p>
            <a:pPr marL="0" indent="0" algn="l">
              <a:lnSpc>
                <a:spcPct val="83000"/>
              </a:lnSpc>
              <a:buNone/>
            </a:pPr>
            <a:r>
              <a:rPr lang="en-US" sz="1500" dirty="0">
                <a:solidFill>
                  <a:srgbClr val="C4472A"/>
                </a:solidFill>
                <a:latin typeface="Rubik SemiBold" pitchFamily="34" charset="0"/>
                <a:ea typeface="Rubik SemiBold" pitchFamily="34" charset="-122"/>
                <a:cs typeface="Rubik SemiBold" pitchFamily="34" charset="-120"/>
              </a:rPr>
              <a:t>01</a:t>
            </a:r>
            <a:endParaRPr lang="en-US" sz="1500" dirty="0"/>
          </a:p>
        </p:txBody>
      </p:sp>
      <p:sp>
        <p:nvSpPr>
          <p:cNvPr id="6" name="Shape 4"/>
          <p:cNvSpPr/>
          <p:nvPr/>
        </p:nvSpPr>
        <p:spPr>
          <a:xfrm>
            <a:off x="838179" y="2508746"/>
            <a:ext cx="2997125" cy="19050"/>
          </a:xfrm>
          <a:prstGeom prst="rect">
            <a:avLst/>
          </a:prstGeom>
          <a:solidFill>
            <a:srgbClr val="C4472A"/>
          </a:solidFill>
          <a:ln/>
        </p:spPr>
      </p:sp>
      <p:sp>
        <p:nvSpPr>
          <p:cNvPr id="7" name="Text 5"/>
          <p:cNvSpPr/>
          <p:nvPr/>
        </p:nvSpPr>
        <p:spPr>
          <a:xfrm>
            <a:off x="838179" y="2642096"/>
            <a:ext cx="2997125" cy="259060"/>
          </a:xfrm>
          <a:prstGeom prst="rect">
            <a:avLst/>
          </a:prstGeom>
          <a:noFill/>
          <a:ln/>
        </p:spPr>
        <p:txBody>
          <a:bodyPr wrap="none" lIns="0" tIns="0" rIns="0" bIns="0" rtlCol="0" anchor="t"/>
          <a:lstStyle/>
          <a:p>
            <a:pPr marL="0" indent="0" algn="l">
              <a:lnSpc>
                <a:spcPct val="100000"/>
              </a:lnSpc>
              <a:buNone/>
            </a:pPr>
            <a:r>
              <a:rPr lang="en-US" sz="1700" dirty="0">
                <a:solidFill>
                  <a:srgbClr val="14264A"/>
                </a:solidFill>
                <a:latin typeface="Rubik SemiBold" pitchFamily="34" charset="0"/>
                <a:ea typeface="Rubik SemiBold" pitchFamily="34" charset="-122"/>
                <a:cs typeface="Rubik SemiBold" pitchFamily="34" charset="-120"/>
              </a:rPr>
              <a:t>Gold</a:t>
            </a:r>
            <a:endParaRPr lang="en-US" sz="1700" dirty="0"/>
          </a:p>
        </p:txBody>
      </p:sp>
      <p:sp>
        <p:nvSpPr>
          <p:cNvPr id="8" name="Text 6"/>
          <p:cNvSpPr/>
          <p:nvPr/>
        </p:nvSpPr>
        <p:spPr>
          <a:xfrm>
            <a:off x="838179" y="3037681"/>
            <a:ext cx="3225719" cy="257175"/>
          </a:xfrm>
          <a:prstGeom prst="rect">
            <a:avLst/>
          </a:prstGeom>
          <a:noFill/>
          <a:ln/>
        </p:spPr>
        <p:txBody>
          <a:bodyPr wrap="none" lIns="0" tIns="0" rIns="0" bIns="0" rtlCol="0" anchor="t"/>
          <a:lstStyle/>
          <a:p>
            <a:pPr marL="0" indent="0" algn="l">
              <a:lnSpc>
                <a:spcPct val="113000"/>
              </a:lnSpc>
              <a:buNone/>
            </a:pPr>
            <a:r>
              <a:rPr lang="en-US" sz="1500" dirty="0">
                <a:solidFill>
                  <a:srgbClr val="14264A"/>
                </a:solidFill>
                <a:latin typeface="Rubik" pitchFamily="34" charset="0"/>
                <a:ea typeface="Rubik" pitchFamily="34" charset="-122"/>
                <a:cs typeface="Rubik" pitchFamily="34" charset="-120"/>
              </a:rPr>
              <a:t>₹10,000–₹14,999</a:t>
            </a:r>
            <a:endParaRPr lang="en-US" sz="1500" dirty="0"/>
          </a:p>
        </p:txBody>
      </p:sp>
      <p:sp>
        <p:nvSpPr>
          <p:cNvPr id="9" name="Text 7"/>
          <p:cNvSpPr/>
          <p:nvPr/>
        </p:nvSpPr>
        <p:spPr>
          <a:xfrm>
            <a:off x="4597285" y="2242046"/>
            <a:ext cx="857625" cy="190500"/>
          </a:xfrm>
          <a:prstGeom prst="rect">
            <a:avLst/>
          </a:prstGeom>
          <a:noFill/>
          <a:ln/>
        </p:spPr>
        <p:txBody>
          <a:bodyPr wrap="none" lIns="0" tIns="0" rIns="0" bIns="0" rtlCol="0" anchor="t"/>
          <a:lstStyle/>
          <a:p>
            <a:pPr marL="0" indent="0" algn="l">
              <a:lnSpc>
                <a:spcPct val="83000"/>
              </a:lnSpc>
              <a:buNone/>
            </a:pPr>
            <a:r>
              <a:rPr lang="en-US" sz="1500" dirty="0">
                <a:solidFill>
                  <a:srgbClr val="C4472A"/>
                </a:solidFill>
                <a:latin typeface="Rubik SemiBold" pitchFamily="34" charset="0"/>
                <a:ea typeface="Rubik SemiBold" pitchFamily="34" charset="-122"/>
                <a:cs typeface="Rubik SemiBold" pitchFamily="34" charset="-120"/>
              </a:rPr>
              <a:t>02</a:t>
            </a:r>
            <a:endParaRPr lang="en-US" sz="1500" dirty="0"/>
          </a:p>
        </p:txBody>
      </p:sp>
      <p:sp>
        <p:nvSpPr>
          <p:cNvPr id="10" name="Shape 8"/>
          <p:cNvSpPr/>
          <p:nvPr/>
        </p:nvSpPr>
        <p:spPr>
          <a:xfrm>
            <a:off x="4597285" y="2508746"/>
            <a:ext cx="2997125" cy="19050"/>
          </a:xfrm>
          <a:prstGeom prst="rect">
            <a:avLst/>
          </a:prstGeom>
          <a:solidFill>
            <a:srgbClr val="C4472A"/>
          </a:solidFill>
          <a:ln/>
        </p:spPr>
      </p:sp>
      <p:sp>
        <p:nvSpPr>
          <p:cNvPr id="11" name="Text 9"/>
          <p:cNvSpPr/>
          <p:nvPr/>
        </p:nvSpPr>
        <p:spPr>
          <a:xfrm>
            <a:off x="4597285" y="2642096"/>
            <a:ext cx="2997125" cy="259060"/>
          </a:xfrm>
          <a:prstGeom prst="rect">
            <a:avLst/>
          </a:prstGeom>
          <a:noFill/>
          <a:ln/>
        </p:spPr>
        <p:txBody>
          <a:bodyPr wrap="none" lIns="0" tIns="0" rIns="0" bIns="0" rtlCol="0" anchor="t"/>
          <a:lstStyle/>
          <a:p>
            <a:pPr marL="0" indent="0" algn="l">
              <a:lnSpc>
                <a:spcPct val="100000"/>
              </a:lnSpc>
              <a:buNone/>
            </a:pPr>
            <a:r>
              <a:rPr lang="en-US" sz="1700" dirty="0">
                <a:solidFill>
                  <a:srgbClr val="14264A"/>
                </a:solidFill>
                <a:latin typeface="Rubik SemiBold" pitchFamily="34" charset="0"/>
                <a:ea typeface="Rubik SemiBold" pitchFamily="34" charset="-122"/>
                <a:cs typeface="Rubik SemiBold" pitchFamily="34" charset="-120"/>
              </a:rPr>
              <a:t>Silver</a:t>
            </a:r>
            <a:endParaRPr lang="en-US" sz="1700" dirty="0"/>
          </a:p>
        </p:txBody>
      </p:sp>
      <p:sp>
        <p:nvSpPr>
          <p:cNvPr id="12" name="Text 10"/>
          <p:cNvSpPr/>
          <p:nvPr/>
        </p:nvSpPr>
        <p:spPr>
          <a:xfrm>
            <a:off x="4597285" y="3037681"/>
            <a:ext cx="3225719" cy="257175"/>
          </a:xfrm>
          <a:prstGeom prst="rect">
            <a:avLst/>
          </a:prstGeom>
          <a:noFill/>
          <a:ln/>
        </p:spPr>
        <p:txBody>
          <a:bodyPr wrap="none" lIns="0" tIns="0" rIns="0" bIns="0" rtlCol="0" anchor="t"/>
          <a:lstStyle/>
          <a:p>
            <a:pPr marL="0" indent="0" algn="l">
              <a:lnSpc>
                <a:spcPct val="113000"/>
              </a:lnSpc>
              <a:buNone/>
            </a:pPr>
            <a:r>
              <a:rPr lang="en-US" sz="1500" dirty="0">
                <a:solidFill>
                  <a:srgbClr val="14264A"/>
                </a:solidFill>
                <a:latin typeface="Rubik" pitchFamily="34" charset="0"/>
                <a:ea typeface="Rubik" pitchFamily="34" charset="-122"/>
                <a:cs typeface="Rubik" pitchFamily="34" charset="-120"/>
              </a:rPr>
              <a:t>₹5,000–₹9,999</a:t>
            </a:r>
            <a:endParaRPr lang="en-US" sz="1500" dirty="0"/>
          </a:p>
        </p:txBody>
      </p:sp>
      <p:sp>
        <p:nvSpPr>
          <p:cNvPr id="13" name="Text 11"/>
          <p:cNvSpPr/>
          <p:nvPr/>
        </p:nvSpPr>
        <p:spPr>
          <a:xfrm>
            <a:off x="8356391" y="2242046"/>
            <a:ext cx="859610" cy="190500"/>
          </a:xfrm>
          <a:prstGeom prst="rect">
            <a:avLst/>
          </a:prstGeom>
          <a:noFill/>
          <a:ln/>
        </p:spPr>
        <p:txBody>
          <a:bodyPr wrap="none" lIns="0" tIns="0" rIns="0" bIns="0" rtlCol="0" anchor="t"/>
          <a:lstStyle/>
          <a:p>
            <a:pPr marL="0" indent="0" algn="l">
              <a:lnSpc>
                <a:spcPct val="83000"/>
              </a:lnSpc>
              <a:buNone/>
            </a:pPr>
            <a:r>
              <a:rPr lang="en-US" sz="1500" dirty="0">
                <a:solidFill>
                  <a:srgbClr val="C4472A"/>
                </a:solidFill>
                <a:latin typeface="Rubik SemiBold" pitchFamily="34" charset="0"/>
                <a:ea typeface="Rubik SemiBold" pitchFamily="34" charset="-122"/>
                <a:cs typeface="Rubik SemiBold" pitchFamily="34" charset="-120"/>
              </a:rPr>
              <a:t>03</a:t>
            </a:r>
            <a:endParaRPr lang="en-US" sz="1500" dirty="0"/>
          </a:p>
        </p:txBody>
      </p:sp>
      <p:sp>
        <p:nvSpPr>
          <p:cNvPr id="14" name="Shape 12"/>
          <p:cNvSpPr/>
          <p:nvPr/>
        </p:nvSpPr>
        <p:spPr>
          <a:xfrm>
            <a:off x="8356391" y="2508746"/>
            <a:ext cx="2997125" cy="19050"/>
          </a:xfrm>
          <a:prstGeom prst="rect">
            <a:avLst/>
          </a:prstGeom>
          <a:solidFill>
            <a:srgbClr val="C4472A"/>
          </a:solidFill>
          <a:ln/>
        </p:spPr>
      </p:sp>
      <p:sp>
        <p:nvSpPr>
          <p:cNvPr id="15" name="Text 13"/>
          <p:cNvSpPr/>
          <p:nvPr/>
        </p:nvSpPr>
        <p:spPr>
          <a:xfrm>
            <a:off x="8356391" y="2642096"/>
            <a:ext cx="2997125" cy="259060"/>
          </a:xfrm>
          <a:prstGeom prst="rect">
            <a:avLst/>
          </a:prstGeom>
          <a:noFill/>
          <a:ln/>
        </p:spPr>
        <p:txBody>
          <a:bodyPr wrap="none" lIns="0" tIns="0" rIns="0" bIns="0" rtlCol="0" anchor="t"/>
          <a:lstStyle/>
          <a:p>
            <a:pPr marL="0" indent="0" algn="l">
              <a:lnSpc>
                <a:spcPct val="100000"/>
              </a:lnSpc>
              <a:buNone/>
            </a:pPr>
            <a:r>
              <a:rPr lang="en-US" sz="1700" dirty="0">
                <a:solidFill>
                  <a:srgbClr val="14264A"/>
                </a:solidFill>
                <a:latin typeface="Rubik SemiBold" pitchFamily="34" charset="0"/>
                <a:ea typeface="Rubik SemiBold" pitchFamily="34" charset="-122"/>
                <a:cs typeface="Rubik SemiBold" pitchFamily="34" charset="-120"/>
              </a:rPr>
              <a:t>Platinum</a:t>
            </a:r>
            <a:endParaRPr lang="en-US" sz="1700" dirty="0"/>
          </a:p>
        </p:txBody>
      </p:sp>
      <p:sp>
        <p:nvSpPr>
          <p:cNvPr id="16" name="Text 14"/>
          <p:cNvSpPr/>
          <p:nvPr/>
        </p:nvSpPr>
        <p:spPr>
          <a:xfrm>
            <a:off x="8356391" y="3037681"/>
            <a:ext cx="3225719" cy="257175"/>
          </a:xfrm>
          <a:prstGeom prst="rect">
            <a:avLst/>
          </a:prstGeom>
          <a:noFill/>
          <a:ln/>
        </p:spPr>
        <p:txBody>
          <a:bodyPr wrap="none" lIns="0" tIns="0" rIns="0" bIns="0" rtlCol="0" anchor="t"/>
          <a:lstStyle/>
          <a:p>
            <a:pPr marL="0" indent="0" algn="l">
              <a:lnSpc>
                <a:spcPct val="113000"/>
              </a:lnSpc>
              <a:buNone/>
            </a:pPr>
            <a:r>
              <a:rPr lang="en-US" sz="1500" dirty="0">
                <a:solidFill>
                  <a:srgbClr val="14264A"/>
                </a:solidFill>
                <a:latin typeface="Rubik" pitchFamily="34" charset="0"/>
                <a:ea typeface="Rubik" pitchFamily="34" charset="-122"/>
                <a:cs typeface="Rubik" pitchFamily="34" charset="-120"/>
              </a:rPr>
              <a:t>₹15,000 and above</a:t>
            </a:r>
            <a:endParaRPr lang="en-US" sz="1500" dirty="0"/>
          </a:p>
        </p:txBody>
      </p:sp>
      <p:sp>
        <p:nvSpPr>
          <p:cNvPr id="17" name="Shape 15"/>
          <p:cNvSpPr/>
          <p:nvPr/>
        </p:nvSpPr>
        <p:spPr>
          <a:xfrm>
            <a:off x="0" y="5791200"/>
            <a:ext cx="12191695" cy="1066800"/>
          </a:xfrm>
          <a:custGeom>
            <a:avLst/>
            <a:gdLst/>
            <a:ahLst/>
            <a:cxnLst/>
            <a:rect l="l" t="t" r="r" b="b"/>
            <a:pathLst>
              <a:path w="12191695" h="1066800">
                <a:moveTo>
                  <a:pt x="0" y="197038"/>
                </a:moveTo>
                <a:lnTo>
                  <a:pt x="253587" y="212613"/>
                </a:lnTo>
                <a:lnTo>
                  <a:pt x="508394" y="224881"/>
                </a:lnTo>
                <a:lnTo>
                  <a:pt x="761981" y="233629"/>
                </a:lnTo>
                <a:lnTo>
                  <a:pt x="1015568" y="238963"/>
                </a:lnTo>
                <a:lnTo>
                  <a:pt x="1270375" y="240777"/>
                </a:lnTo>
                <a:lnTo>
                  <a:pt x="1523962" y="239283"/>
                </a:lnTo>
                <a:lnTo>
                  <a:pt x="1777549" y="234696"/>
                </a:lnTo>
                <a:lnTo>
                  <a:pt x="2032356" y="227015"/>
                </a:lnTo>
                <a:lnTo>
                  <a:pt x="2285943" y="216667"/>
                </a:lnTo>
                <a:lnTo>
                  <a:pt x="2539530" y="203972"/>
                </a:lnTo>
                <a:lnTo>
                  <a:pt x="2794336" y="189144"/>
                </a:lnTo>
                <a:lnTo>
                  <a:pt x="3047924" y="172715"/>
                </a:lnTo>
                <a:lnTo>
                  <a:pt x="3301511" y="155006"/>
                </a:lnTo>
                <a:lnTo>
                  <a:pt x="3556317" y="136444"/>
                </a:lnTo>
                <a:lnTo>
                  <a:pt x="3809905" y="117455"/>
                </a:lnTo>
                <a:lnTo>
                  <a:pt x="4063492" y="98572"/>
                </a:lnTo>
                <a:lnTo>
                  <a:pt x="4318298" y="80330"/>
                </a:lnTo>
                <a:lnTo>
                  <a:pt x="4571886" y="62941"/>
                </a:lnTo>
                <a:lnTo>
                  <a:pt x="4825473" y="46939"/>
                </a:lnTo>
                <a:lnTo>
                  <a:pt x="5080279" y="32857"/>
                </a:lnTo>
                <a:lnTo>
                  <a:pt x="5333867" y="20803"/>
                </a:lnTo>
                <a:lnTo>
                  <a:pt x="5587454" y="11415"/>
                </a:lnTo>
                <a:lnTo>
                  <a:pt x="5842260" y="4694"/>
                </a:lnTo>
                <a:lnTo>
                  <a:pt x="6095848" y="1067"/>
                </a:lnTo>
                <a:lnTo>
                  <a:pt x="6349435" y="747"/>
                </a:lnTo>
                <a:lnTo>
                  <a:pt x="6604241" y="3734"/>
                </a:lnTo>
                <a:lnTo>
                  <a:pt x="6857828" y="10241"/>
                </a:lnTo>
                <a:lnTo>
                  <a:pt x="7111416" y="20163"/>
                </a:lnTo>
                <a:lnTo>
                  <a:pt x="7366222" y="33498"/>
                </a:lnTo>
                <a:lnTo>
                  <a:pt x="7619809" y="50246"/>
                </a:lnTo>
                <a:lnTo>
                  <a:pt x="7873397" y="70089"/>
                </a:lnTo>
                <a:lnTo>
                  <a:pt x="8128203" y="93025"/>
                </a:lnTo>
                <a:lnTo>
                  <a:pt x="8381790" y="118628"/>
                </a:lnTo>
                <a:lnTo>
                  <a:pt x="8635378" y="146578"/>
                </a:lnTo>
                <a:lnTo>
                  <a:pt x="8890184" y="176555"/>
                </a:lnTo>
                <a:lnTo>
                  <a:pt x="9143771" y="208346"/>
                </a:lnTo>
                <a:lnTo>
                  <a:pt x="9397359" y="241310"/>
                </a:lnTo>
                <a:lnTo>
                  <a:pt x="9652165" y="275128"/>
                </a:lnTo>
                <a:lnTo>
                  <a:pt x="9905752" y="309265"/>
                </a:lnTo>
                <a:lnTo>
                  <a:pt x="10159339" y="343296"/>
                </a:lnTo>
                <a:lnTo>
                  <a:pt x="10414146" y="376900"/>
                </a:lnTo>
                <a:lnTo>
                  <a:pt x="10667733" y="409545"/>
                </a:lnTo>
                <a:lnTo>
                  <a:pt x="10921320" y="440695"/>
                </a:lnTo>
                <a:lnTo>
                  <a:pt x="11176127" y="470139"/>
                </a:lnTo>
                <a:lnTo>
                  <a:pt x="11429714" y="497342"/>
                </a:lnTo>
                <a:lnTo>
                  <a:pt x="11683301" y="521985"/>
                </a:lnTo>
                <a:lnTo>
                  <a:pt x="11938108" y="543961"/>
                </a:lnTo>
                <a:lnTo>
                  <a:pt x="12191695" y="562737"/>
                </a:lnTo>
                <a:lnTo>
                  <a:pt x="12191695" y="1066800"/>
                </a:lnTo>
                <a:lnTo>
                  <a:pt x="0" y="1066800"/>
                </a:lnTo>
                <a:close/>
              </a:path>
            </a:pathLst>
          </a:custGeom>
          <a:solidFill>
            <a:srgbClr val="86A69F"/>
          </a:solidFill>
          <a:ln/>
        </p:spPr>
      </p:sp>
      <p:sp>
        <p:nvSpPr>
          <p:cNvPr id="18" name="Shape 16"/>
          <p:cNvSpPr/>
          <p:nvPr/>
        </p:nvSpPr>
        <p:spPr>
          <a:xfrm>
            <a:off x="0" y="6273800"/>
            <a:ext cx="12191695" cy="584200"/>
          </a:xfrm>
          <a:custGeom>
            <a:avLst/>
            <a:gdLst/>
            <a:ahLst/>
            <a:cxnLst/>
            <a:rect l="l" t="t" r="r" b="b"/>
            <a:pathLst>
              <a:path w="12191695" h="584200">
                <a:moveTo>
                  <a:pt x="0" y="304427"/>
                </a:moveTo>
                <a:lnTo>
                  <a:pt x="253587" y="304543"/>
                </a:lnTo>
                <a:lnTo>
                  <a:pt x="508394" y="302031"/>
                </a:lnTo>
                <a:lnTo>
                  <a:pt x="761981" y="296949"/>
                </a:lnTo>
                <a:lnTo>
                  <a:pt x="1015568" y="289413"/>
                </a:lnTo>
                <a:lnTo>
                  <a:pt x="1270375" y="279540"/>
                </a:lnTo>
                <a:lnTo>
                  <a:pt x="1523962" y="267505"/>
                </a:lnTo>
                <a:lnTo>
                  <a:pt x="1777549" y="253484"/>
                </a:lnTo>
                <a:lnTo>
                  <a:pt x="2032356" y="237769"/>
                </a:lnTo>
                <a:lnTo>
                  <a:pt x="2285943" y="220535"/>
                </a:lnTo>
                <a:lnTo>
                  <a:pt x="2539530" y="202133"/>
                </a:lnTo>
                <a:lnTo>
                  <a:pt x="2794336" y="182913"/>
                </a:lnTo>
                <a:lnTo>
                  <a:pt x="3047924" y="163167"/>
                </a:lnTo>
                <a:lnTo>
                  <a:pt x="3301511" y="143246"/>
                </a:lnTo>
                <a:lnTo>
                  <a:pt x="3556317" y="123441"/>
                </a:lnTo>
                <a:lnTo>
                  <a:pt x="3809905" y="104163"/>
                </a:lnTo>
                <a:lnTo>
                  <a:pt x="4063492" y="85702"/>
                </a:lnTo>
                <a:lnTo>
                  <a:pt x="4318298" y="68410"/>
                </a:lnTo>
                <a:lnTo>
                  <a:pt x="4571886" y="52520"/>
                </a:lnTo>
                <a:lnTo>
                  <a:pt x="4825473" y="38382"/>
                </a:lnTo>
                <a:lnTo>
                  <a:pt x="5080279" y="26114"/>
                </a:lnTo>
                <a:lnTo>
                  <a:pt x="5333867" y="16065"/>
                </a:lnTo>
                <a:lnTo>
                  <a:pt x="5587454" y="8354"/>
                </a:lnTo>
                <a:lnTo>
                  <a:pt x="5842260" y="3096"/>
                </a:lnTo>
                <a:lnTo>
                  <a:pt x="6095848" y="409"/>
                </a:lnTo>
                <a:lnTo>
                  <a:pt x="6349435" y="292"/>
                </a:lnTo>
                <a:lnTo>
                  <a:pt x="6604241" y="2746"/>
                </a:lnTo>
                <a:lnTo>
                  <a:pt x="6857828" y="7828"/>
                </a:lnTo>
                <a:lnTo>
                  <a:pt x="7111416" y="15364"/>
                </a:lnTo>
                <a:lnTo>
                  <a:pt x="7366222" y="25237"/>
                </a:lnTo>
                <a:lnTo>
                  <a:pt x="7619809" y="37272"/>
                </a:lnTo>
                <a:lnTo>
                  <a:pt x="7873397" y="51293"/>
                </a:lnTo>
                <a:lnTo>
                  <a:pt x="8128203" y="67066"/>
                </a:lnTo>
                <a:lnTo>
                  <a:pt x="8381790" y="84242"/>
                </a:lnTo>
                <a:lnTo>
                  <a:pt x="8635378" y="102644"/>
                </a:lnTo>
                <a:lnTo>
                  <a:pt x="8890184" y="121864"/>
                </a:lnTo>
                <a:lnTo>
                  <a:pt x="9143771" y="141610"/>
                </a:lnTo>
                <a:lnTo>
                  <a:pt x="9397359" y="161531"/>
                </a:lnTo>
                <a:lnTo>
                  <a:pt x="9652165" y="181336"/>
                </a:lnTo>
                <a:lnTo>
                  <a:pt x="9905752" y="200614"/>
                </a:lnTo>
                <a:lnTo>
                  <a:pt x="10159339" y="219075"/>
                </a:lnTo>
                <a:lnTo>
                  <a:pt x="10414146" y="236367"/>
                </a:lnTo>
                <a:lnTo>
                  <a:pt x="10667733" y="252258"/>
                </a:lnTo>
                <a:lnTo>
                  <a:pt x="10921320" y="266454"/>
                </a:lnTo>
                <a:lnTo>
                  <a:pt x="11176127" y="278663"/>
                </a:lnTo>
                <a:lnTo>
                  <a:pt x="11429714" y="288712"/>
                </a:lnTo>
                <a:lnTo>
                  <a:pt x="11683301" y="296423"/>
                </a:lnTo>
                <a:lnTo>
                  <a:pt x="11938108" y="301739"/>
                </a:lnTo>
                <a:lnTo>
                  <a:pt x="12191695" y="304427"/>
                </a:lnTo>
                <a:lnTo>
                  <a:pt x="12191695" y="584200"/>
                </a:lnTo>
                <a:lnTo>
                  <a:pt x="0" y="584200"/>
                </a:lnTo>
                <a:close/>
              </a:path>
            </a:pathLst>
          </a:custGeom>
          <a:solidFill>
            <a:srgbClr val="4A8895"/>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09600"/>
            <a:ext cx="11582110" cy="190500"/>
          </a:xfrm>
          <a:prstGeom prst="rect">
            <a:avLst/>
          </a:prstGeom>
          <a:noFill/>
          <a:ln/>
        </p:spPr>
        <p:txBody>
          <a:bodyPr wrap="none" lIns="0" tIns="0" rIns="0" bIns="0" rtlCol="0" anchor="t"/>
          <a:lstStyle/>
          <a:p>
            <a:pPr marL="0" indent="0" algn="l">
              <a:lnSpc>
                <a:spcPct val="104000"/>
              </a:lnSpc>
              <a:buNone/>
            </a:pPr>
            <a:r>
              <a:rPr lang="en-US" sz="1200" kern="0" spc="96" dirty="0">
                <a:solidFill>
                  <a:srgbClr val="14264A"/>
                </a:solidFill>
                <a:latin typeface="Rubik SemiBold" pitchFamily="34" charset="0"/>
                <a:ea typeface="Rubik SemiBold" pitchFamily="34" charset="-122"/>
                <a:cs typeface="Rubik SemiBold" pitchFamily="34" charset="-120"/>
              </a:rPr>
              <a:t>PROGRAM FLOW</a:t>
            </a:r>
            <a:endParaRPr lang="en-US" sz="1200" dirty="0"/>
          </a:p>
        </p:txBody>
      </p:sp>
      <p:sp>
        <p:nvSpPr>
          <p:cNvPr id="3" name="Text 1"/>
          <p:cNvSpPr/>
          <p:nvPr/>
        </p:nvSpPr>
        <p:spPr>
          <a:xfrm>
            <a:off x="609585" y="876300"/>
            <a:ext cx="10972526" cy="426641"/>
          </a:xfrm>
          <a:prstGeom prst="rect">
            <a:avLst/>
          </a:prstGeom>
          <a:noFill/>
          <a:ln/>
        </p:spPr>
        <p:txBody>
          <a:bodyPr wrap="none" lIns="0" tIns="0" rIns="0" bIns="0" rtlCol="0" anchor="t"/>
          <a:lstStyle/>
          <a:p>
            <a:pPr marL="0" indent="0" algn="l">
              <a:lnSpc>
                <a:spcPct val="87000"/>
              </a:lnSpc>
              <a:buNone/>
            </a:pPr>
            <a:r>
              <a:rPr lang="en-US" sz="3200" kern="0" spc="-48" dirty="0">
                <a:solidFill>
                  <a:srgbClr val="14264A"/>
                </a:solidFill>
                <a:latin typeface="Fraunces Black" pitchFamily="34" charset="0"/>
                <a:ea typeface="Fraunces Black" pitchFamily="34" charset="-122"/>
                <a:cs typeface="Fraunces Black" pitchFamily="34" charset="-120"/>
              </a:rPr>
              <a:t>Program flow for a booking</a:t>
            </a:r>
            <a:endParaRPr lang="en-US" sz="3200" dirty="0"/>
          </a:p>
        </p:txBody>
      </p:sp>
      <p:sp>
        <p:nvSpPr>
          <p:cNvPr id="4" name="Text 2"/>
          <p:cNvSpPr/>
          <p:nvPr/>
        </p:nvSpPr>
        <p:spPr>
          <a:xfrm>
            <a:off x="609585" y="1493441"/>
            <a:ext cx="10972526" cy="582811"/>
          </a:xfrm>
          <a:prstGeom prst="rect">
            <a:avLst/>
          </a:prstGeom>
          <a:noFill/>
          <a:ln/>
        </p:spPr>
        <p:txBody>
          <a:bodyPr wrap="square" lIns="0" tIns="0" rIns="0" bIns="0" rtlCol="0" anchor="t">
            <a:normAutofit/>
          </a:bodyPr>
          <a:lstStyle/>
          <a:p>
            <a:pPr marL="0" indent="0" algn="l">
              <a:lnSpc>
                <a:spcPct val="112000"/>
              </a:lnSpc>
              <a:buNone/>
            </a:pPr>
            <a:r>
              <a:rPr lang="en-US" sz="1700" dirty="0">
                <a:solidFill>
                  <a:srgbClr val="14264A"/>
                </a:solidFill>
                <a:latin typeface="Rubik" pitchFamily="34" charset="0"/>
                <a:ea typeface="Rubik" pitchFamily="34" charset="-122"/>
                <a:cs typeface="Rubik" pitchFamily="34" charset="-120"/>
              </a:rPr>
              <a:t>The program collects details, calculates the total, checks membership and occupancy, and displays the result.</a:t>
            </a:r>
            <a:endParaRPr lang="en-US" sz="1700" dirty="0"/>
          </a:p>
        </p:txBody>
      </p:sp>
      <p:sp>
        <p:nvSpPr>
          <p:cNvPr id="5" name="Shape 3"/>
          <p:cNvSpPr/>
          <p:nvPr/>
        </p:nvSpPr>
        <p:spPr>
          <a:xfrm>
            <a:off x="609585" y="2228652"/>
            <a:ext cx="38099" cy="1641574"/>
          </a:xfrm>
          <a:prstGeom prst="rect">
            <a:avLst/>
          </a:prstGeom>
          <a:solidFill>
            <a:srgbClr val="336A85"/>
          </a:solidFill>
          <a:ln/>
        </p:spPr>
      </p:sp>
      <p:sp>
        <p:nvSpPr>
          <p:cNvPr id="6" name="Text 4"/>
          <p:cNvSpPr/>
          <p:nvPr/>
        </p:nvSpPr>
        <p:spPr>
          <a:xfrm>
            <a:off x="850879" y="2330252"/>
            <a:ext cx="5016375" cy="259060"/>
          </a:xfrm>
          <a:prstGeom prst="rect">
            <a:avLst/>
          </a:prstGeom>
          <a:noFill/>
          <a:ln/>
        </p:spPr>
        <p:txBody>
          <a:bodyPr wrap="none" lIns="0" tIns="0" rIns="0" bIns="0" rtlCol="0" anchor="t"/>
          <a:lstStyle/>
          <a:p>
            <a:pPr marL="0" indent="0" algn="l">
              <a:lnSpc>
                <a:spcPct val="100000"/>
              </a:lnSpc>
              <a:buNone/>
            </a:pPr>
            <a:r>
              <a:rPr lang="en-US" sz="1700" dirty="0">
                <a:solidFill>
                  <a:srgbClr val="14264A"/>
                </a:solidFill>
                <a:latin typeface="Rubik SemiBold" pitchFamily="34" charset="0"/>
                <a:ea typeface="Rubik SemiBold" pitchFamily="34" charset="-122"/>
                <a:cs typeface="Rubik SemiBold" pitchFamily="34" charset="-120"/>
              </a:rPr>
              <a:t>Start → Enter customer details</a:t>
            </a:r>
            <a:endParaRPr lang="en-US" sz="1700" dirty="0"/>
          </a:p>
        </p:txBody>
      </p:sp>
      <p:sp>
        <p:nvSpPr>
          <p:cNvPr id="7" name="Text 5"/>
          <p:cNvSpPr/>
          <p:nvPr/>
        </p:nvSpPr>
        <p:spPr>
          <a:xfrm>
            <a:off x="850879" y="2725837"/>
            <a:ext cx="5016375" cy="257175"/>
          </a:xfrm>
          <a:prstGeom prst="rect">
            <a:avLst/>
          </a:prstGeom>
          <a:noFill/>
          <a:ln/>
        </p:spPr>
        <p:txBody>
          <a:bodyPr wrap="none" lIns="0" tIns="0" rIns="0" bIns="0" rtlCol="0" anchor="t"/>
          <a:lstStyle/>
          <a:p>
            <a:pPr marL="0" indent="0" algn="l">
              <a:lnSpc>
                <a:spcPct val="113000"/>
              </a:lnSpc>
              <a:buNone/>
            </a:pPr>
            <a:r>
              <a:rPr lang="en-US" sz="1500" dirty="0">
                <a:solidFill>
                  <a:srgbClr val="14264A"/>
                </a:solidFill>
                <a:latin typeface="Rubik" pitchFamily="34" charset="0"/>
                <a:ea typeface="Rubik" pitchFamily="34" charset="-122"/>
                <a:cs typeface="Rubik" pitchFamily="34" charset="-120"/>
              </a:rPr>
              <a:t>Begin the booking process and enter customer details.</a:t>
            </a:r>
            <a:endParaRPr lang="en-US" sz="1500" dirty="0"/>
          </a:p>
        </p:txBody>
      </p:sp>
      <p:sp>
        <p:nvSpPr>
          <p:cNvPr id="8" name="Shape 6"/>
          <p:cNvSpPr/>
          <p:nvPr/>
        </p:nvSpPr>
        <p:spPr>
          <a:xfrm>
            <a:off x="6324442" y="2228652"/>
            <a:ext cx="38099" cy="1641574"/>
          </a:xfrm>
          <a:prstGeom prst="rect">
            <a:avLst/>
          </a:prstGeom>
          <a:solidFill>
            <a:srgbClr val="336A85"/>
          </a:solidFill>
          <a:ln/>
        </p:spPr>
      </p:sp>
      <p:sp>
        <p:nvSpPr>
          <p:cNvPr id="9" name="Text 7"/>
          <p:cNvSpPr/>
          <p:nvPr/>
        </p:nvSpPr>
        <p:spPr>
          <a:xfrm>
            <a:off x="6565736" y="2330252"/>
            <a:ext cx="5016375" cy="259060"/>
          </a:xfrm>
          <a:prstGeom prst="rect">
            <a:avLst/>
          </a:prstGeom>
          <a:noFill/>
          <a:ln/>
        </p:spPr>
        <p:txBody>
          <a:bodyPr wrap="none" lIns="0" tIns="0" rIns="0" bIns="0" rtlCol="0" anchor="t"/>
          <a:lstStyle/>
          <a:p>
            <a:pPr marL="0" indent="0" algn="l">
              <a:lnSpc>
                <a:spcPct val="100000"/>
              </a:lnSpc>
              <a:buNone/>
            </a:pPr>
            <a:r>
              <a:rPr lang="en-US" sz="1700" dirty="0">
                <a:solidFill>
                  <a:srgbClr val="14264A"/>
                </a:solidFill>
                <a:latin typeface="Rubik SemiBold" pitchFamily="34" charset="0"/>
                <a:ea typeface="Rubik SemiBold" pitchFamily="34" charset="-122"/>
                <a:cs typeface="Rubik SemiBold" pitchFamily="34" charset="-120"/>
              </a:rPr>
              <a:t>Select room type → Enter number of rooms</a:t>
            </a:r>
            <a:endParaRPr lang="en-US" sz="1700" dirty="0"/>
          </a:p>
        </p:txBody>
      </p:sp>
      <p:sp>
        <p:nvSpPr>
          <p:cNvPr id="10" name="Text 8"/>
          <p:cNvSpPr/>
          <p:nvPr/>
        </p:nvSpPr>
        <p:spPr>
          <a:xfrm>
            <a:off x="6565736" y="2725837"/>
            <a:ext cx="5016375" cy="257175"/>
          </a:xfrm>
          <a:prstGeom prst="rect">
            <a:avLst/>
          </a:prstGeom>
          <a:noFill/>
          <a:ln/>
        </p:spPr>
        <p:txBody>
          <a:bodyPr wrap="none" lIns="0" tIns="0" rIns="0" bIns="0" rtlCol="0" anchor="t"/>
          <a:lstStyle/>
          <a:p>
            <a:pPr marL="0" indent="0" algn="l">
              <a:lnSpc>
                <a:spcPct val="113000"/>
              </a:lnSpc>
              <a:buNone/>
            </a:pPr>
            <a:r>
              <a:rPr lang="en-US" sz="1500" dirty="0">
                <a:solidFill>
                  <a:srgbClr val="14264A"/>
                </a:solidFill>
                <a:latin typeface="Rubik" pitchFamily="34" charset="0"/>
                <a:ea typeface="Rubik" pitchFamily="34" charset="-122"/>
                <a:cs typeface="Rubik" pitchFamily="34" charset="-120"/>
              </a:rPr>
              <a:t>Choose the room type and enter the number of rooms.</a:t>
            </a:r>
            <a:endParaRPr lang="en-US" sz="1500" dirty="0"/>
          </a:p>
        </p:txBody>
      </p:sp>
      <p:sp>
        <p:nvSpPr>
          <p:cNvPr id="11" name="Shape 9"/>
          <p:cNvSpPr/>
          <p:nvPr/>
        </p:nvSpPr>
        <p:spPr>
          <a:xfrm>
            <a:off x="609585" y="4327426"/>
            <a:ext cx="38099" cy="1641574"/>
          </a:xfrm>
          <a:prstGeom prst="rect">
            <a:avLst/>
          </a:prstGeom>
          <a:solidFill>
            <a:srgbClr val="336A85"/>
          </a:solidFill>
          <a:ln/>
        </p:spPr>
      </p:sp>
      <p:sp>
        <p:nvSpPr>
          <p:cNvPr id="12" name="Text 10"/>
          <p:cNvSpPr/>
          <p:nvPr/>
        </p:nvSpPr>
        <p:spPr>
          <a:xfrm>
            <a:off x="850879" y="4429026"/>
            <a:ext cx="5016375" cy="259060"/>
          </a:xfrm>
          <a:prstGeom prst="rect">
            <a:avLst/>
          </a:prstGeom>
          <a:noFill/>
          <a:ln/>
        </p:spPr>
        <p:txBody>
          <a:bodyPr wrap="none" lIns="0" tIns="0" rIns="0" bIns="0" rtlCol="0" anchor="t"/>
          <a:lstStyle/>
          <a:p>
            <a:pPr marL="0" indent="0" algn="l">
              <a:lnSpc>
                <a:spcPct val="100000"/>
              </a:lnSpc>
              <a:buNone/>
            </a:pPr>
            <a:r>
              <a:rPr lang="en-US" sz="1700" dirty="0">
                <a:solidFill>
                  <a:srgbClr val="14264A"/>
                </a:solidFill>
                <a:latin typeface="Rubik SemiBold" pitchFamily="34" charset="0"/>
                <a:ea typeface="Rubik SemiBold" pitchFamily="34" charset="-122"/>
                <a:cs typeface="Rubik SemiBold" pitchFamily="34" charset="-120"/>
              </a:rPr>
              <a:t>Enter number of days → Calculate total amount</a:t>
            </a:r>
            <a:endParaRPr lang="en-US" sz="1700" dirty="0"/>
          </a:p>
        </p:txBody>
      </p:sp>
      <p:sp>
        <p:nvSpPr>
          <p:cNvPr id="13" name="Text 11"/>
          <p:cNvSpPr/>
          <p:nvPr/>
        </p:nvSpPr>
        <p:spPr>
          <a:xfrm>
            <a:off x="850879" y="4824611"/>
            <a:ext cx="5016375" cy="514350"/>
          </a:xfrm>
          <a:prstGeom prst="rect">
            <a:avLst/>
          </a:prstGeom>
          <a:noFill/>
          <a:ln/>
        </p:spPr>
        <p:txBody>
          <a:bodyPr wrap="square" lIns="0" tIns="0" rIns="0" bIns="0" rtlCol="0" anchor="t">
            <a:normAutofit/>
          </a:bodyPr>
          <a:lstStyle/>
          <a:p>
            <a:pPr marL="0" indent="0" algn="l">
              <a:lnSpc>
                <a:spcPct val="113000"/>
              </a:lnSpc>
              <a:buNone/>
            </a:pPr>
            <a:r>
              <a:rPr lang="en-US" sz="1500" dirty="0">
                <a:solidFill>
                  <a:srgbClr val="14264A"/>
                </a:solidFill>
                <a:latin typeface="Rubik" pitchFamily="34" charset="0"/>
                <a:ea typeface="Rubik" pitchFamily="34" charset="-122"/>
                <a:cs typeface="Rubik" pitchFamily="34" charset="-120"/>
              </a:rPr>
              <a:t>Enter the number of days and calculate the total amount.</a:t>
            </a:r>
            <a:endParaRPr lang="en-US" sz="1500" dirty="0"/>
          </a:p>
        </p:txBody>
      </p:sp>
      <p:sp>
        <p:nvSpPr>
          <p:cNvPr id="14" name="Shape 12"/>
          <p:cNvSpPr/>
          <p:nvPr/>
        </p:nvSpPr>
        <p:spPr>
          <a:xfrm>
            <a:off x="6324442" y="4327426"/>
            <a:ext cx="38099" cy="1641574"/>
          </a:xfrm>
          <a:prstGeom prst="rect">
            <a:avLst/>
          </a:prstGeom>
          <a:solidFill>
            <a:srgbClr val="336A85"/>
          </a:solidFill>
          <a:ln/>
        </p:spPr>
      </p:sp>
      <p:sp>
        <p:nvSpPr>
          <p:cNvPr id="15" name="Text 13"/>
          <p:cNvSpPr/>
          <p:nvPr/>
        </p:nvSpPr>
        <p:spPr>
          <a:xfrm>
            <a:off x="6565736" y="4429026"/>
            <a:ext cx="5016375" cy="518120"/>
          </a:xfrm>
          <a:prstGeom prst="rect">
            <a:avLst/>
          </a:prstGeom>
          <a:noFill/>
          <a:ln/>
        </p:spPr>
        <p:txBody>
          <a:bodyPr wrap="square" lIns="0" tIns="0" rIns="0" bIns="0" rtlCol="0" anchor="t">
            <a:normAutofit/>
          </a:bodyPr>
          <a:lstStyle/>
          <a:p>
            <a:pPr marL="0" indent="0" algn="l">
              <a:lnSpc>
                <a:spcPct val="100000"/>
              </a:lnSpc>
              <a:buNone/>
            </a:pPr>
            <a:r>
              <a:rPr lang="en-US" sz="1700" dirty="0">
                <a:solidFill>
                  <a:srgbClr val="14264A"/>
                </a:solidFill>
                <a:latin typeface="Rubik SemiBold" pitchFamily="34" charset="0"/>
                <a:ea typeface="Rubik SemiBold" pitchFamily="34" charset="-122"/>
                <a:cs typeface="Rubik SemiBold" pitchFamily="34" charset="-120"/>
              </a:rPr>
              <a:t>Check membership → Check occupancy → Display result</a:t>
            </a:r>
            <a:endParaRPr lang="en-US" sz="1700" dirty="0"/>
          </a:p>
        </p:txBody>
      </p:sp>
      <p:sp>
        <p:nvSpPr>
          <p:cNvPr id="16" name="Text 14"/>
          <p:cNvSpPr/>
          <p:nvPr/>
        </p:nvSpPr>
        <p:spPr>
          <a:xfrm>
            <a:off x="6565736" y="5083671"/>
            <a:ext cx="5016375" cy="514350"/>
          </a:xfrm>
          <a:prstGeom prst="rect">
            <a:avLst/>
          </a:prstGeom>
          <a:noFill/>
          <a:ln/>
        </p:spPr>
        <p:txBody>
          <a:bodyPr wrap="square" lIns="0" tIns="0" rIns="0" bIns="0" rtlCol="0" anchor="t">
            <a:normAutofit/>
          </a:bodyPr>
          <a:lstStyle/>
          <a:p>
            <a:pPr marL="0" indent="0" algn="l">
              <a:lnSpc>
                <a:spcPct val="113000"/>
              </a:lnSpc>
              <a:buNone/>
            </a:pPr>
            <a:r>
              <a:rPr lang="en-US" sz="1500" dirty="0">
                <a:solidFill>
                  <a:srgbClr val="14264A"/>
                </a:solidFill>
                <a:latin typeface="Rubik" pitchFamily="34" charset="0"/>
                <a:ea typeface="Rubik" pitchFamily="34" charset="-122"/>
                <a:cs typeface="Rubik" pitchFamily="34" charset="-120"/>
              </a:rPr>
              <a:t>Check the membership category and room occupancy, then display the result.</a:t>
            </a:r>
            <a:endParaRPr lang="en-US" sz="1500" dirty="0"/>
          </a:p>
        </p:txBody>
      </p:sp>
      <p:sp>
        <p:nvSpPr>
          <p:cNvPr id="17" name="Shape 15"/>
          <p:cNvSpPr/>
          <p:nvPr/>
        </p:nvSpPr>
        <p:spPr>
          <a:xfrm>
            <a:off x="0" y="6159500"/>
            <a:ext cx="12191695" cy="698500"/>
          </a:xfrm>
          <a:custGeom>
            <a:avLst/>
            <a:gdLst/>
            <a:ahLst/>
            <a:cxnLst/>
            <a:rect l="l" t="t" r="r" b="b"/>
            <a:pathLst>
              <a:path w="12191695" h="698500">
                <a:moveTo>
                  <a:pt x="0" y="224917"/>
                </a:moveTo>
                <a:lnTo>
                  <a:pt x="253587" y="219259"/>
                </a:lnTo>
                <a:lnTo>
                  <a:pt x="508394" y="211436"/>
                </a:lnTo>
                <a:lnTo>
                  <a:pt x="761981" y="201517"/>
                </a:lnTo>
                <a:lnTo>
                  <a:pt x="1015568" y="189922"/>
                </a:lnTo>
                <a:lnTo>
                  <a:pt x="1270375" y="176721"/>
                </a:lnTo>
                <a:lnTo>
                  <a:pt x="1523962" y="162331"/>
                </a:lnTo>
                <a:lnTo>
                  <a:pt x="1777549" y="147104"/>
                </a:lnTo>
                <a:lnTo>
                  <a:pt x="2032356" y="131178"/>
                </a:lnTo>
                <a:lnTo>
                  <a:pt x="2285943" y="115113"/>
                </a:lnTo>
                <a:lnTo>
                  <a:pt x="2539530" y="99047"/>
                </a:lnTo>
                <a:lnTo>
                  <a:pt x="2794336" y="83471"/>
                </a:lnTo>
                <a:lnTo>
                  <a:pt x="3047924" y="68663"/>
                </a:lnTo>
                <a:lnTo>
                  <a:pt x="3301511" y="54902"/>
                </a:lnTo>
                <a:lnTo>
                  <a:pt x="3556317" y="42609"/>
                </a:lnTo>
                <a:lnTo>
                  <a:pt x="3809905" y="31852"/>
                </a:lnTo>
                <a:lnTo>
                  <a:pt x="4063492" y="23120"/>
                </a:lnTo>
                <a:lnTo>
                  <a:pt x="4318298" y="16485"/>
                </a:lnTo>
                <a:lnTo>
                  <a:pt x="4571886" y="12084"/>
                </a:lnTo>
                <a:lnTo>
                  <a:pt x="4825473" y="10198"/>
                </a:lnTo>
                <a:lnTo>
                  <a:pt x="5080279" y="10827"/>
                </a:lnTo>
                <a:lnTo>
                  <a:pt x="5333867" y="14040"/>
                </a:lnTo>
                <a:lnTo>
                  <a:pt x="5587454" y="19907"/>
                </a:lnTo>
                <a:lnTo>
                  <a:pt x="5842260" y="28289"/>
                </a:lnTo>
                <a:lnTo>
                  <a:pt x="6095848" y="39256"/>
                </a:lnTo>
                <a:lnTo>
                  <a:pt x="6349435" y="52527"/>
                </a:lnTo>
                <a:lnTo>
                  <a:pt x="6604241" y="67964"/>
                </a:lnTo>
                <a:lnTo>
                  <a:pt x="6857828" y="85496"/>
                </a:lnTo>
                <a:lnTo>
                  <a:pt x="7111416" y="104705"/>
                </a:lnTo>
                <a:lnTo>
                  <a:pt x="7366222" y="125520"/>
                </a:lnTo>
                <a:lnTo>
                  <a:pt x="7619809" y="147523"/>
                </a:lnTo>
                <a:lnTo>
                  <a:pt x="7873397" y="170434"/>
                </a:lnTo>
                <a:lnTo>
                  <a:pt x="8128203" y="193904"/>
                </a:lnTo>
                <a:lnTo>
                  <a:pt x="8381790" y="217653"/>
                </a:lnTo>
                <a:lnTo>
                  <a:pt x="8635378" y="241262"/>
                </a:lnTo>
                <a:lnTo>
                  <a:pt x="8890184" y="264522"/>
                </a:lnTo>
                <a:lnTo>
                  <a:pt x="9143771" y="286944"/>
                </a:lnTo>
                <a:lnTo>
                  <a:pt x="9397359" y="308318"/>
                </a:lnTo>
                <a:lnTo>
                  <a:pt x="9652165" y="328295"/>
                </a:lnTo>
                <a:lnTo>
                  <a:pt x="9905752" y="346596"/>
                </a:lnTo>
                <a:lnTo>
                  <a:pt x="10159339" y="362941"/>
                </a:lnTo>
                <a:lnTo>
                  <a:pt x="10414146" y="377260"/>
                </a:lnTo>
                <a:lnTo>
                  <a:pt x="10667733" y="389204"/>
                </a:lnTo>
                <a:lnTo>
                  <a:pt x="10921320" y="398704"/>
                </a:lnTo>
                <a:lnTo>
                  <a:pt x="11176127" y="405689"/>
                </a:lnTo>
                <a:lnTo>
                  <a:pt x="11429714" y="410089"/>
                </a:lnTo>
                <a:lnTo>
                  <a:pt x="11683301" y="411905"/>
                </a:lnTo>
                <a:lnTo>
                  <a:pt x="11938108" y="411067"/>
                </a:lnTo>
                <a:lnTo>
                  <a:pt x="12191695" y="407784"/>
                </a:lnTo>
                <a:lnTo>
                  <a:pt x="12191695" y="698500"/>
                </a:lnTo>
                <a:lnTo>
                  <a:pt x="0" y="698500"/>
                </a:lnTo>
                <a:close/>
              </a:path>
            </a:pathLst>
          </a:custGeom>
          <a:solidFill>
            <a:srgbClr val="86A69F"/>
          </a:solidFill>
          <a:ln/>
        </p:spPr>
      </p:sp>
      <p:sp>
        <p:nvSpPr>
          <p:cNvPr id="18" name="Shape 16"/>
          <p:cNvSpPr/>
          <p:nvPr/>
        </p:nvSpPr>
        <p:spPr>
          <a:xfrm>
            <a:off x="0" y="6527800"/>
            <a:ext cx="12191695" cy="330200"/>
          </a:xfrm>
          <a:custGeom>
            <a:avLst/>
            <a:gdLst/>
            <a:ahLst/>
            <a:cxnLst/>
            <a:rect l="l" t="t" r="r" b="b"/>
            <a:pathLst>
              <a:path w="12191695" h="330200">
                <a:moveTo>
                  <a:pt x="0" y="177350"/>
                </a:moveTo>
                <a:lnTo>
                  <a:pt x="253587" y="167874"/>
                </a:lnTo>
                <a:lnTo>
                  <a:pt x="508394" y="157274"/>
                </a:lnTo>
                <a:lnTo>
                  <a:pt x="761981" y="145684"/>
                </a:lnTo>
                <a:lnTo>
                  <a:pt x="1015568" y="133368"/>
                </a:lnTo>
                <a:lnTo>
                  <a:pt x="1270375" y="120490"/>
                </a:lnTo>
                <a:lnTo>
                  <a:pt x="1523962" y="107315"/>
                </a:lnTo>
                <a:lnTo>
                  <a:pt x="1777549" y="94008"/>
                </a:lnTo>
                <a:lnTo>
                  <a:pt x="2032356" y="80866"/>
                </a:lnTo>
                <a:lnTo>
                  <a:pt x="2285943" y="68054"/>
                </a:lnTo>
                <a:lnTo>
                  <a:pt x="2539530" y="55837"/>
                </a:lnTo>
                <a:lnTo>
                  <a:pt x="2794336" y="44379"/>
                </a:lnTo>
                <a:lnTo>
                  <a:pt x="3047924" y="33912"/>
                </a:lnTo>
                <a:lnTo>
                  <a:pt x="3301511" y="24600"/>
                </a:lnTo>
                <a:lnTo>
                  <a:pt x="3556317" y="16609"/>
                </a:lnTo>
                <a:lnTo>
                  <a:pt x="3809905" y="10071"/>
                </a:lnTo>
                <a:lnTo>
                  <a:pt x="4063492" y="5085"/>
                </a:lnTo>
                <a:lnTo>
                  <a:pt x="4318298" y="1783"/>
                </a:lnTo>
                <a:lnTo>
                  <a:pt x="4571886" y="165"/>
                </a:lnTo>
                <a:lnTo>
                  <a:pt x="4825473" y="297"/>
                </a:lnTo>
                <a:lnTo>
                  <a:pt x="5080279" y="2146"/>
                </a:lnTo>
                <a:lnTo>
                  <a:pt x="5333867" y="5712"/>
                </a:lnTo>
                <a:lnTo>
                  <a:pt x="5587454" y="10897"/>
                </a:lnTo>
                <a:lnTo>
                  <a:pt x="5842260" y="17633"/>
                </a:lnTo>
                <a:lnTo>
                  <a:pt x="6095848" y="25822"/>
                </a:lnTo>
                <a:lnTo>
                  <a:pt x="6349435" y="35331"/>
                </a:lnTo>
                <a:lnTo>
                  <a:pt x="6604241" y="45931"/>
                </a:lnTo>
                <a:lnTo>
                  <a:pt x="6857828" y="57521"/>
                </a:lnTo>
                <a:lnTo>
                  <a:pt x="7111416" y="69837"/>
                </a:lnTo>
                <a:lnTo>
                  <a:pt x="7366222" y="82715"/>
                </a:lnTo>
                <a:lnTo>
                  <a:pt x="7619809" y="95890"/>
                </a:lnTo>
                <a:lnTo>
                  <a:pt x="7873397" y="109197"/>
                </a:lnTo>
                <a:lnTo>
                  <a:pt x="8128203" y="122339"/>
                </a:lnTo>
                <a:lnTo>
                  <a:pt x="8381790" y="135151"/>
                </a:lnTo>
                <a:lnTo>
                  <a:pt x="8635378" y="147368"/>
                </a:lnTo>
                <a:lnTo>
                  <a:pt x="8890184" y="158826"/>
                </a:lnTo>
                <a:lnTo>
                  <a:pt x="9143771" y="169294"/>
                </a:lnTo>
                <a:lnTo>
                  <a:pt x="9397359" y="178605"/>
                </a:lnTo>
                <a:lnTo>
                  <a:pt x="9652165" y="186596"/>
                </a:lnTo>
                <a:lnTo>
                  <a:pt x="9905752" y="193134"/>
                </a:lnTo>
                <a:lnTo>
                  <a:pt x="10159339" y="198120"/>
                </a:lnTo>
                <a:lnTo>
                  <a:pt x="10414146" y="201422"/>
                </a:lnTo>
                <a:lnTo>
                  <a:pt x="10667733" y="203040"/>
                </a:lnTo>
                <a:lnTo>
                  <a:pt x="10921320" y="202908"/>
                </a:lnTo>
                <a:lnTo>
                  <a:pt x="11176127" y="201059"/>
                </a:lnTo>
                <a:lnTo>
                  <a:pt x="11429714" y="197493"/>
                </a:lnTo>
                <a:lnTo>
                  <a:pt x="11683301" y="192308"/>
                </a:lnTo>
                <a:lnTo>
                  <a:pt x="11938108" y="185539"/>
                </a:lnTo>
                <a:lnTo>
                  <a:pt x="12191695" y="177350"/>
                </a:lnTo>
                <a:lnTo>
                  <a:pt x="12191695" y="330200"/>
                </a:lnTo>
                <a:lnTo>
                  <a:pt x="0" y="330200"/>
                </a:lnTo>
                <a:close/>
              </a:path>
            </a:pathLst>
          </a:custGeom>
          <a:solidFill>
            <a:srgbClr val="336A85"/>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09600"/>
            <a:ext cx="11582110" cy="176213"/>
          </a:xfrm>
          <a:prstGeom prst="rect">
            <a:avLst/>
          </a:prstGeom>
          <a:noFill/>
          <a:ln/>
        </p:spPr>
        <p:txBody>
          <a:bodyPr wrap="none" lIns="0" tIns="0" rIns="0" bIns="0" rtlCol="0" anchor="t"/>
          <a:lstStyle/>
          <a:p>
            <a:pPr marL="0" indent="0" algn="l">
              <a:lnSpc>
                <a:spcPct val="104000"/>
              </a:lnSpc>
              <a:buNone/>
            </a:pPr>
            <a:r>
              <a:rPr lang="en-US" sz="1100" kern="0" spc="89" dirty="0">
                <a:solidFill>
                  <a:srgbClr val="14264A"/>
                </a:solidFill>
                <a:latin typeface="Rubik SemiBold" pitchFamily="34" charset="0"/>
                <a:ea typeface="Rubik SemiBold" pitchFamily="34" charset="-122"/>
                <a:cs typeface="Rubik SemiBold" pitchFamily="34" charset="-120"/>
              </a:rPr>
              <a:t>CONCLUSION</a:t>
            </a:r>
            <a:endParaRPr lang="en-US" sz="1100" dirty="0"/>
          </a:p>
        </p:txBody>
      </p:sp>
      <p:sp>
        <p:nvSpPr>
          <p:cNvPr id="3" name="Text 1"/>
          <p:cNvSpPr/>
          <p:nvPr/>
        </p:nvSpPr>
        <p:spPr>
          <a:xfrm>
            <a:off x="609585" y="850999"/>
            <a:ext cx="10972526" cy="789384"/>
          </a:xfrm>
          <a:prstGeom prst="rect">
            <a:avLst/>
          </a:prstGeom>
          <a:noFill/>
          <a:ln/>
        </p:spPr>
        <p:txBody>
          <a:bodyPr wrap="square" lIns="0" tIns="0" rIns="0" bIns="0" rtlCol="0" anchor="t">
            <a:normAutofit/>
          </a:bodyPr>
          <a:lstStyle/>
          <a:p>
            <a:pPr marL="0" indent="0" algn="l">
              <a:lnSpc>
                <a:spcPct val="88000"/>
              </a:lnSpc>
              <a:buNone/>
            </a:pPr>
            <a:r>
              <a:rPr lang="en-US" sz="2950" kern="0" spc="-44" dirty="0">
                <a:solidFill>
                  <a:srgbClr val="14264A"/>
                </a:solidFill>
                <a:latin typeface="Fraunces Black" pitchFamily="34" charset="0"/>
                <a:ea typeface="Fraunces Black" pitchFamily="34" charset="-122"/>
                <a:cs typeface="Fraunces Black" pitchFamily="34" charset="-120"/>
              </a:rPr>
              <a:t>The Hotel Booking &amp; Occupancy Manager provides a simple solution</a:t>
            </a:r>
            <a:endParaRPr lang="en-US" sz="2950" dirty="0"/>
          </a:p>
        </p:txBody>
      </p:sp>
      <p:sp>
        <p:nvSpPr>
          <p:cNvPr id="4" name="Text 2"/>
          <p:cNvSpPr/>
          <p:nvPr/>
        </p:nvSpPr>
        <p:spPr>
          <a:xfrm>
            <a:off x="609585" y="1803301"/>
            <a:ext cx="11582110" cy="228898"/>
          </a:xfrm>
          <a:prstGeom prst="rect">
            <a:avLst/>
          </a:prstGeom>
          <a:noFill/>
          <a:ln/>
        </p:spPr>
        <p:txBody>
          <a:bodyPr wrap="none" lIns="0" tIns="0" rIns="0" bIns="0" rtlCol="0" anchor="t"/>
          <a:lstStyle/>
          <a:p>
            <a:pPr marL="0" indent="0" algn="l">
              <a:lnSpc>
                <a:spcPct val="108000"/>
              </a:lnSpc>
              <a:buNone/>
            </a:pPr>
            <a:r>
              <a:rPr lang="en-US" sz="1400" dirty="0">
                <a:solidFill>
                  <a:srgbClr val="14264A"/>
                </a:solidFill>
                <a:latin typeface="Rubik" pitchFamily="34" charset="0"/>
                <a:ea typeface="Rubik" pitchFamily="34" charset="-122"/>
                <a:cs typeface="Rubik" pitchFamily="34" charset="-120"/>
              </a:rPr>
              <a:t> . Java programming concepts are used to automate calculations and decision-making</a:t>
            </a:r>
            <a:endParaRPr lang="en-US" sz="1400" dirty="0"/>
          </a:p>
        </p:txBody>
      </p:sp>
      <p:sp>
        <p:nvSpPr>
          <p:cNvPr id="5" name="Text 3"/>
          <p:cNvSpPr/>
          <p:nvPr/>
        </p:nvSpPr>
        <p:spPr>
          <a:xfrm>
            <a:off x="609585" y="2178844"/>
            <a:ext cx="10972526" cy="604441"/>
          </a:xfrm>
          <a:prstGeom prst="rect">
            <a:avLst/>
          </a:prstGeom>
          <a:noFill/>
          <a:ln/>
        </p:spPr>
        <p:txBody>
          <a:bodyPr wrap="square" lIns="0" tIns="0" rIns="0" bIns="0" rtlCol="0" anchor="t"/>
          <a:lstStyle/>
          <a:p>
            <a:pPr marL="0" indent="0" algn="l">
              <a:lnSpc>
                <a:spcPct val="108000"/>
              </a:lnSpc>
              <a:spcAft>
                <a:spcPts val="1150"/>
              </a:spcAft>
              <a:buNone/>
            </a:pPr>
            <a:r>
              <a:rPr lang="en-US" sz="1400" dirty="0">
                <a:solidFill>
                  <a:srgbClr val="14264A"/>
                </a:solidFill>
                <a:latin typeface="Rubik" pitchFamily="34" charset="0"/>
                <a:ea typeface="Rubik" pitchFamily="34" charset="-122"/>
                <a:cs typeface="Rubik" pitchFamily="34" charset="-120"/>
              </a:rPr>
              <a:t>•The system improves accuracy and makes booking management easier</a:t>
            </a:r>
            <a:endParaRPr lang="en-US" sz="1400" dirty="0"/>
          </a:p>
          <a:p>
            <a:pPr marL="0" indent="0" algn="l">
              <a:lnSpc>
                <a:spcPct val="108000"/>
              </a:lnSpc>
              <a:buNone/>
            </a:pPr>
            <a:r>
              <a:rPr lang="en-US" sz="1400" dirty="0">
                <a:solidFill>
                  <a:srgbClr val="14264A"/>
                </a:solidFill>
                <a:latin typeface="Rubik" pitchFamily="34" charset="0"/>
                <a:ea typeface="Rubik" pitchFamily="34" charset="-122"/>
                <a:cs typeface="Rubik" pitchFamily="34" charset="-120"/>
              </a:rPr>
              <a:t>•It can be further developed into a complete hotel management application</a:t>
            </a:r>
            <a:endParaRPr lang="en-US" sz="1400" dirty="0"/>
          </a:p>
        </p:txBody>
      </p:sp>
      <p:sp>
        <p:nvSpPr>
          <p:cNvPr id="6" name="Text 4"/>
          <p:cNvSpPr/>
          <p:nvPr/>
        </p:nvSpPr>
        <p:spPr>
          <a:xfrm>
            <a:off x="609585" y="2929930"/>
            <a:ext cx="11582110" cy="176213"/>
          </a:xfrm>
          <a:prstGeom prst="rect">
            <a:avLst/>
          </a:prstGeom>
          <a:noFill/>
          <a:ln/>
        </p:spPr>
        <p:txBody>
          <a:bodyPr wrap="none" lIns="0" tIns="0" rIns="0" bIns="0" rtlCol="0" anchor="t"/>
          <a:lstStyle/>
          <a:p>
            <a:pPr marL="0" indent="0" algn="l">
              <a:lnSpc>
                <a:spcPct val="104000"/>
              </a:lnSpc>
              <a:buNone/>
            </a:pPr>
            <a:r>
              <a:rPr lang="en-US" sz="1100" kern="0" spc="89" dirty="0">
                <a:solidFill>
                  <a:srgbClr val="14264A"/>
                </a:solidFill>
                <a:latin typeface="Rubik SemiBold" pitchFamily="34" charset="0"/>
                <a:ea typeface="Rubik SemiBold" pitchFamily="34" charset="-122"/>
                <a:cs typeface="Rubik SemiBold" pitchFamily="34" charset="-120"/>
              </a:rPr>
              <a:t>ADVANTAGES :</a:t>
            </a:r>
            <a:endParaRPr lang="en-US" sz="1100" dirty="0"/>
          </a:p>
        </p:txBody>
      </p:sp>
      <p:sp>
        <p:nvSpPr>
          <p:cNvPr id="7" name="Text 5"/>
          <p:cNvSpPr/>
          <p:nvPr/>
        </p:nvSpPr>
        <p:spPr>
          <a:xfrm>
            <a:off x="609585" y="3252788"/>
            <a:ext cx="11582110" cy="228898"/>
          </a:xfrm>
          <a:prstGeom prst="rect">
            <a:avLst/>
          </a:prstGeom>
          <a:noFill/>
          <a:ln/>
        </p:spPr>
        <p:txBody>
          <a:bodyPr wrap="none" lIns="0" tIns="0" rIns="0" bIns="0" rtlCol="0" anchor="t"/>
          <a:lstStyle/>
          <a:p>
            <a:pPr marL="0" indent="0" algn="l">
              <a:lnSpc>
                <a:spcPct val="108000"/>
              </a:lnSpc>
              <a:buNone/>
            </a:pPr>
            <a:r>
              <a:rPr lang="en-US" sz="1400" dirty="0">
                <a:solidFill>
                  <a:srgbClr val="14264A"/>
                </a:solidFill>
                <a:latin typeface="Rubik" pitchFamily="34" charset="0"/>
                <a:ea typeface="Rubik" pitchFamily="34" charset="-122"/>
                <a:cs typeface="Rubik" pitchFamily="34" charset="-120"/>
              </a:rPr>
              <a:t>•  Easy to use</a:t>
            </a:r>
            <a:endParaRPr lang="en-US" sz="1400" dirty="0"/>
          </a:p>
        </p:txBody>
      </p:sp>
      <p:sp>
        <p:nvSpPr>
          <p:cNvPr id="8" name="Text 6"/>
          <p:cNvSpPr/>
          <p:nvPr/>
        </p:nvSpPr>
        <p:spPr>
          <a:xfrm>
            <a:off x="609585" y="3628330"/>
            <a:ext cx="10972526" cy="3233241"/>
          </a:xfrm>
          <a:prstGeom prst="rect">
            <a:avLst/>
          </a:prstGeom>
          <a:noFill/>
          <a:ln/>
        </p:spPr>
        <p:txBody>
          <a:bodyPr wrap="square" lIns="0" tIns="0" rIns="0" bIns="0" rtlCol="0" anchor="t"/>
          <a:lstStyle/>
          <a:p>
            <a:pPr marL="0" indent="0" algn="l">
              <a:lnSpc>
                <a:spcPct val="108000"/>
              </a:lnSpc>
              <a:spcAft>
                <a:spcPts val="1150"/>
              </a:spcAft>
              <a:buNone/>
            </a:pPr>
            <a:r>
              <a:rPr lang="en-US" sz="1400" dirty="0">
                <a:solidFill>
                  <a:srgbClr val="14264A"/>
                </a:solidFill>
                <a:latin typeface="Rubik" pitchFamily="34" charset="0"/>
                <a:ea typeface="Rubik" pitchFamily="34" charset="-122"/>
                <a:cs typeface="Rubik" pitchFamily="34" charset="-120"/>
              </a:rPr>
              <a:t>•  Fast calculations</a:t>
            </a:r>
            <a:endParaRPr lang="en-US" sz="1400" dirty="0"/>
          </a:p>
          <a:p>
            <a:pPr marL="0" indent="0" algn="l">
              <a:lnSpc>
                <a:spcPct val="108000"/>
              </a:lnSpc>
              <a:spcAft>
                <a:spcPts val="1150"/>
              </a:spcAft>
              <a:buNone/>
            </a:pPr>
            <a:r>
              <a:rPr lang="en-US" sz="1400" dirty="0">
                <a:solidFill>
                  <a:srgbClr val="14264A"/>
                </a:solidFill>
                <a:latin typeface="Rubik" pitchFamily="34" charset="0"/>
                <a:ea typeface="Rubik" pitchFamily="34" charset="-122"/>
                <a:cs typeface="Rubik" pitchFamily="34" charset="-120"/>
              </a:rPr>
              <a:t>•  Reduces human errors</a:t>
            </a:r>
            <a:endParaRPr lang="en-US" sz="1400" dirty="0"/>
          </a:p>
          <a:p>
            <a:pPr marL="0" indent="0" algn="l">
              <a:lnSpc>
                <a:spcPct val="108000"/>
              </a:lnSpc>
              <a:spcAft>
                <a:spcPts val="1150"/>
              </a:spcAft>
              <a:buNone/>
            </a:pPr>
            <a:r>
              <a:rPr lang="en-US" sz="1400" dirty="0">
                <a:solidFill>
                  <a:srgbClr val="14264A"/>
                </a:solidFill>
                <a:latin typeface="Rubik" pitchFamily="34" charset="0"/>
                <a:ea typeface="Rubik" pitchFamily="34" charset="-122"/>
                <a:cs typeface="Rubik" pitchFamily="34" charset="-120"/>
              </a:rPr>
              <a:t>•  Tracks room occupancy</a:t>
            </a:r>
            <a:endParaRPr lang="en-US" sz="1400" dirty="0"/>
          </a:p>
          <a:p>
            <a:pPr marL="0" indent="0" algn="l">
              <a:lnSpc>
                <a:spcPct val="108000"/>
              </a:lnSpc>
              <a:spcAft>
                <a:spcPts val="1150"/>
              </a:spcAft>
              <a:buNone/>
            </a:pPr>
            <a:r>
              <a:rPr lang="en-US" sz="1400" dirty="0">
                <a:solidFill>
                  <a:srgbClr val="14264A"/>
                </a:solidFill>
                <a:latin typeface="Rubik" pitchFamily="34" charset="0"/>
                <a:ea typeface="Rubik" pitchFamily="34" charset="-122"/>
                <a:cs typeface="Rubik" pitchFamily="34" charset="-120"/>
              </a:rPr>
              <a:t>•  Organizes booking information</a:t>
            </a:r>
            <a:endParaRPr lang="en-US" sz="1400" dirty="0"/>
          </a:p>
          <a:p>
            <a:pPr marL="0" indent="0" algn="l">
              <a:lnSpc>
                <a:spcPct val="108000"/>
              </a:lnSpc>
              <a:spcAft>
                <a:spcPts val="1150"/>
              </a:spcAft>
              <a:buNone/>
            </a:pPr>
            <a:r>
              <a:rPr lang="en-US" sz="1400" dirty="0">
                <a:solidFill>
                  <a:srgbClr val="14264A"/>
                </a:solidFill>
                <a:latin typeface="Rubik" pitchFamily="34" charset="0"/>
                <a:ea typeface="Rubik" pitchFamily="34" charset="-122"/>
                <a:cs typeface="Rubik" pitchFamily="34" charset="-120"/>
              </a:rPr>
              <a:t>•  Simple Java implementation</a:t>
            </a:r>
            <a:endParaRPr lang="en-US" sz="1400" dirty="0"/>
          </a:p>
          <a:p>
            <a:pPr marL="0" indent="0" algn="l">
              <a:lnSpc>
                <a:spcPct val="108000"/>
              </a:lnSpc>
              <a:spcAft>
                <a:spcPts val="1150"/>
              </a:spcAft>
              <a:buNone/>
            </a:pPr>
            <a:r>
              <a:rPr lang="en-US" sz="1400" dirty="0">
                <a:solidFill>
                  <a:srgbClr val="14264A"/>
                </a:solidFill>
                <a:latin typeface="Rubik" pitchFamily="34" charset="0"/>
                <a:ea typeface="Rubik" pitchFamily="34" charset="-122"/>
                <a:cs typeface="Rubik" pitchFamily="34" charset="-120"/>
              </a:rPr>
              <a:t>•  Can be expanded for real hotel management</a:t>
            </a:r>
            <a:endParaRPr lang="en-US" sz="1400" dirty="0"/>
          </a:p>
          <a:p>
            <a:pPr marL="0" indent="0" algn="l">
              <a:lnSpc>
                <a:spcPct val="108000"/>
              </a:lnSpc>
              <a:spcAft>
                <a:spcPts val="1150"/>
              </a:spcAft>
              <a:buNone/>
            </a:pPr>
            <a:endParaRPr lang="en-US" sz="1400" dirty="0"/>
          </a:p>
          <a:p>
            <a:pPr marL="0" indent="0" algn="l">
              <a:lnSpc>
                <a:spcPct val="108000"/>
              </a:lnSpc>
              <a:spcAft>
                <a:spcPts val="1150"/>
              </a:spcAft>
              <a:buNone/>
            </a:pPr>
            <a:endParaRPr lang="en-US" sz="1400" dirty="0"/>
          </a:p>
        </p:txBody>
      </p:sp>
      <p:sp>
        <p:nvSpPr>
          <p:cNvPr id="9" name="Shape 7"/>
          <p:cNvSpPr/>
          <p:nvPr/>
        </p:nvSpPr>
        <p:spPr>
          <a:xfrm>
            <a:off x="0" y="6159500"/>
            <a:ext cx="12191695" cy="698500"/>
          </a:xfrm>
          <a:custGeom>
            <a:avLst/>
            <a:gdLst/>
            <a:ahLst/>
            <a:cxnLst/>
            <a:rect l="l" t="t" r="r" b="b"/>
            <a:pathLst>
              <a:path w="12191695" h="698500">
                <a:moveTo>
                  <a:pt x="0" y="224917"/>
                </a:moveTo>
                <a:lnTo>
                  <a:pt x="253587" y="219259"/>
                </a:lnTo>
                <a:lnTo>
                  <a:pt x="508394" y="211436"/>
                </a:lnTo>
                <a:lnTo>
                  <a:pt x="761981" y="201517"/>
                </a:lnTo>
                <a:lnTo>
                  <a:pt x="1015568" y="189922"/>
                </a:lnTo>
                <a:lnTo>
                  <a:pt x="1270375" y="176721"/>
                </a:lnTo>
                <a:lnTo>
                  <a:pt x="1523962" y="162331"/>
                </a:lnTo>
                <a:lnTo>
                  <a:pt x="1777549" y="147104"/>
                </a:lnTo>
                <a:lnTo>
                  <a:pt x="2032356" y="131178"/>
                </a:lnTo>
                <a:lnTo>
                  <a:pt x="2285943" y="115113"/>
                </a:lnTo>
                <a:lnTo>
                  <a:pt x="2539530" y="99047"/>
                </a:lnTo>
                <a:lnTo>
                  <a:pt x="2794336" y="83471"/>
                </a:lnTo>
                <a:lnTo>
                  <a:pt x="3047924" y="68663"/>
                </a:lnTo>
                <a:lnTo>
                  <a:pt x="3301511" y="54902"/>
                </a:lnTo>
                <a:lnTo>
                  <a:pt x="3556317" y="42609"/>
                </a:lnTo>
                <a:lnTo>
                  <a:pt x="3809905" y="31852"/>
                </a:lnTo>
                <a:lnTo>
                  <a:pt x="4063492" y="23120"/>
                </a:lnTo>
                <a:lnTo>
                  <a:pt x="4318298" y="16485"/>
                </a:lnTo>
                <a:lnTo>
                  <a:pt x="4571886" y="12084"/>
                </a:lnTo>
                <a:lnTo>
                  <a:pt x="4825473" y="10198"/>
                </a:lnTo>
                <a:lnTo>
                  <a:pt x="5080279" y="10827"/>
                </a:lnTo>
                <a:lnTo>
                  <a:pt x="5333867" y="14040"/>
                </a:lnTo>
                <a:lnTo>
                  <a:pt x="5587454" y="19907"/>
                </a:lnTo>
                <a:lnTo>
                  <a:pt x="5842260" y="28289"/>
                </a:lnTo>
                <a:lnTo>
                  <a:pt x="6095848" y="39256"/>
                </a:lnTo>
                <a:lnTo>
                  <a:pt x="6349435" y="52527"/>
                </a:lnTo>
                <a:lnTo>
                  <a:pt x="6604241" y="67964"/>
                </a:lnTo>
                <a:lnTo>
                  <a:pt x="6857828" y="85496"/>
                </a:lnTo>
                <a:lnTo>
                  <a:pt x="7111416" y="104705"/>
                </a:lnTo>
                <a:lnTo>
                  <a:pt x="7366222" y="125520"/>
                </a:lnTo>
                <a:lnTo>
                  <a:pt x="7619809" y="147523"/>
                </a:lnTo>
                <a:lnTo>
                  <a:pt x="7873397" y="170434"/>
                </a:lnTo>
                <a:lnTo>
                  <a:pt x="8128203" y="193904"/>
                </a:lnTo>
                <a:lnTo>
                  <a:pt x="8381790" y="217653"/>
                </a:lnTo>
                <a:lnTo>
                  <a:pt x="8635378" y="241262"/>
                </a:lnTo>
                <a:lnTo>
                  <a:pt x="8890184" y="264522"/>
                </a:lnTo>
                <a:lnTo>
                  <a:pt x="9143771" y="286944"/>
                </a:lnTo>
                <a:lnTo>
                  <a:pt x="9397359" y="308318"/>
                </a:lnTo>
                <a:lnTo>
                  <a:pt x="9652165" y="328295"/>
                </a:lnTo>
                <a:lnTo>
                  <a:pt x="9905752" y="346596"/>
                </a:lnTo>
                <a:lnTo>
                  <a:pt x="10159339" y="362941"/>
                </a:lnTo>
                <a:lnTo>
                  <a:pt x="10414146" y="377260"/>
                </a:lnTo>
                <a:lnTo>
                  <a:pt x="10667733" y="389204"/>
                </a:lnTo>
                <a:lnTo>
                  <a:pt x="10921320" y="398704"/>
                </a:lnTo>
                <a:lnTo>
                  <a:pt x="11176127" y="405689"/>
                </a:lnTo>
                <a:lnTo>
                  <a:pt x="11429714" y="410089"/>
                </a:lnTo>
                <a:lnTo>
                  <a:pt x="11683301" y="411905"/>
                </a:lnTo>
                <a:lnTo>
                  <a:pt x="11938108" y="411067"/>
                </a:lnTo>
                <a:lnTo>
                  <a:pt x="12191695" y="407784"/>
                </a:lnTo>
                <a:lnTo>
                  <a:pt x="12191695" y="698500"/>
                </a:lnTo>
                <a:lnTo>
                  <a:pt x="0" y="698500"/>
                </a:lnTo>
                <a:close/>
              </a:path>
            </a:pathLst>
          </a:custGeom>
          <a:solidFill>
            <a:srgbClr val="14264A"/>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09600"/>
            <a:ext cx="9550161" cy="666750"/>
          </a:xfrm>
          <a:prstGeom prst="rect">
            <a:avLst/>
          </a:prstGeom>
          <a:noFill/>
          <a:ln/>
        </p:spPr>
        <p:txBody>
          <a:bodyPr wrap="none" lIns="0" tIns="0" rIns="0" bIns="0" rtlCol="0" anchor="t"/>
          <a:lstStyle/>
          <a:p>
            <a:pPr marL="0" indent="0" algn="l">
              <a:lnSpc>
                <a:spcPct val="87000"/>
              </a:lnSpc>
              <a:buNone/>
            </a:pPr>
            <a:r>
              <a:rPr lang="en-US" sz="5000" kern="0" spc="-100" dirty="0">
                <a:solidFill>
                  <a:srgbClr val="14264A"/>
                </a:solidFill>
                <a:latin typeface="Fraunces Black" pitchFamily="34" charset="0"/>
                <a:ea typeface="Fraunces Black" pitchFamily="34" charset="-122"/>
                <a:cs typeface="Fraunces Black" pitchFamily="34" charset="-120"/>
              </a:rPr>
              <a:t>        </a:t>
            </a:r>
            <a:endParaRPr lang="en-US" sz="5000" dirty="0"/>
          </a:p>
        </p:txBody>
      </p:sp>
      <p:sp>
        <p:nvSpPr>
          <p:cNvPr id="3" name="Text 1"/>
          <p:cNvSpPr/>
          <p:nvPr/>
        </p:nvSpPr>
        <p:spPr>
          <a:xfrm>
            <a:off x="609585" y="1895475"/>
            <a:ext cx="9550161" cy="2632075"/>
          </a:xfrm>
          <a:prstGeom prst="rect">
            <a:avLst/>
          </a:prstGeom>
          <a:noFill/>
          <a:ln/>
        </p:spPr>
        <p:txBody>
          <a:bodyPr wrap="square" lIns="0" tIns="0" rIns="0" bIns="0" rtlCol="0" anchor="t"/>
          <a:lstStyle/>
          <a:p>
            <a:pPr marL="0" indent="0" algn="l">
              <a:lnSpc>
                <a:spcPct val="104000"/>
              </a:lnSpc>
              <a:spcAft>
                <a:spcPts val="1300"/>
              </a:spcAft>
              <a:buNone/>
            </a:pPr>
            <a:endParaRPr lang="en-US" sz="1200" dirty="0"/>
          </a:p>
          <a:p>
            <a:pPr marL="0" indent="0" algn="l">
              <a:lnSpc>
                <a:spcPct val="104000"/>
              </a:lnSpc>
              <a:spcAft>
                <a:spcPts val="1300"/>
              </a:spcAft>
              <a:buNone/>
            </a:pPr>
            <a:endParaRPr lang="en-US" sz="1200" dirty="0"/>
          </a:p>
          <a:p>
            <a:pPr marL="0" indent="0" algn="l">
              <a:lnSpc>
                <a:spcPct val="104000"/>
              </a:lnSpc>
              <a:spcAft>
                <a:spcPts val="1300"/>
              </a:spcAft>
              <a:buNone/>
            </a:pPr>
            <a:endParaRPr lang="en-US" sz="1200" dirty="0"/>
          </a:p>
          <a:p>
            <a:pPr marL="0" indent="0" algn="l">
              <a:lnSpc>
                <a:spcPct val="104000"/>
              </a:lnSpc>
              <a:spcAft>
                <a:spcPts val="1300"/>
              </a:spcAft>
              <a:buNone/>
            </a:pPr>
            <a:r>
              <a:rPr lang="en-US" sz="5400" kern="0" spc="96" dirty="0">
                <a:solidFill>
                  <a:srgbClr val="14264A"/>
                </a:solidFill>
                <a:latin typeface="Rubik SemiBold" pitchFamily="34" charset="0"/>
                <a:ea typeface="Rubik SemiBold" pitchFamily="34" charset="-122"/>
                <a:cs typeface="Rubik SemiBold" pitchFamily="34" charset="-120"/>
              </a:rPr>
              <a:t>                                                                                       THANK YOU</a:t>
            </a:r>
            <a:endParaRPr lang="en-US" sz="5400" dirty="0"/>
          </a:p>
          <a:p>
            <a:pPr marL="0" indent="0" algn="l">
              <a:lnSpc>
                <a:spcPct val="104000"/>
              </a:lnSpc>
              <a:spcAft>
                <a:spcPts val="2550"/>
              </a:spcAft>
              <a:buNone/>
            </a:pPr>
            <a:endParaRPr lang="en-US" sz="1200" dirty="0"/>
          </a:p>
        </p:txBody>
      </p:sp>
      <p:sp>
        <p:nvSpPr>
          <p:cNvPr id="4" name="Text 2"/>
          <p:cNvSpPr/>
          <p:nvPr/>
        </p:nvSpPr>
        <p:spPr>
          <a:xfrm>
            <a:off x="609585" y="4603750"/>
            <a:ext cx="9550161" cy="365720"/>
          </a:xfrm>
          <a:prstGeom prst="rect">
            <a:avLst/>
          </a:prstGeom>
          <a:noFill/>
          <a:ln/>
        </p:spPr>
        <p:txBody>
          <a:bodyPr wrap="none" lIns="0" tIns="0" rIns="0" bIns="0" rtlCol="0" anchor="t"/>
          <a:lstStyle/>
          <a:p>
            <a:pPr marL="0" indent="0" algn="l">
              <a:lnSpc>
                <a:spcPct val="100000"/>
              </a:lnSpc>
              <a:buNone/>
            </a:pPr>
            <a:r>
              <a:rPr lang="en-US" sz="2400" dirty="0">
                <a:solidFill>
                  <a:srgbClr val="14264A"/>
                </a:solidFill>
                <a:latin typeface="Rubik SemiBold" pitchFamily="34" charset="0"/>
                <a:ea typeface="Rubik SemiBold" pitchFamily="34" charset="-122"/>
                <a:cs typeface="Rubik SemiBold" pitchFamily="34" charset="-120"/>
              </a:rPr>
              <a:t>                                             </a:t>
            </a:r>
            <a:endParaRPr lang="en-US" sz="2400" dirty="0"/>
          </a:p>
        </p:txBody>
      </p:sp>
      <p:sp>
        <p:nvSpPr>
          <p:cNvPr id="5" name="Text 3"/>
          <p:cNvSpPr/>
          <p:nvPr/>
        </p:nvSpPr>
        <p:spPr>
          <a:xfrm>
            <a:off x="609585" y="5105995"/>
            <a:ext cx="9550161" cy="914400"/>
          </a:xfrm>
          <a:prstGeom prst="rect">
            <a:avLst/>
          </a:prstGeom>
          <a:noFill/>
          <a:ln/>
        </p:spPr>
        <p:txBody>
          <a:bodyPr wrap="square" lIns="0" tIns="0" rIns="0" bIns="0" rtlCol="0" anchor="t"/>
          <a:lstStyle/>
          <a:p>
            <a:pPr marL="0" indent="0" algn="l">
              <a:lnSpc>
                <a:spcPct val="104000"/>
              </a:lnSpc>
              <a:spcAft>
                <a:spcPts val="1300"/>
              </a:spcAft>
              <a:buNone/>
            </a:pPr>
            <a:endParaRPr lang="en-US" sz="1200" dirty="0"/>
          </a:p>
          <a:p>
            <a:pPr marL="0" indent="0" algn="l">
              <a:lnSpc>
                <a:spcPct val="104000"/>
              </a:lnSpc>
              <a:spcAft>
                <a:spcPts val="1300"/>
              </a:spcAft>
              <a:buNone/>
            </a:pPr>
            <a:endParaRPr lang="en-US" sz="1200" dirty="0"/>
          </a:p>
          <a:p>
            <a:pPr marL="0" indent="0" algn="l">
              <a:lnSpc>
                <a:spcPct val="104000"/>
              </a:lnSpc>
              <a:buNone/>
            </a:pPr>
            <a:r>
              <a:rPr lang="en-US" sz="1200" kern="0" spc="96" dirty="0">
                <a:solidFill>
                  <a:srgbClr val="14264A"/>
                </a:solidFill>
                <a:latin typeface="Rubik SemiBold" pitchFamily="34" charset="0"/>
                <a:ea typeface="Rubik SemiBold" pitchFamily="34" charset="-122"/>
                <a:cs typeface="Rubik SemiBold" pitchFamily="34" charset="-120"/>
              </a:rPr>
              <a:t>                                                </a:t>
            </a:r>
            <a:endParaRPr lang="en-US" sz="1200" dirty="0"/>
          </a:p>
        </p:txBody>
      </p:sp>
      <p:sp>
        <p:nvSpPr>
          <p:cNvPr id="7" name="Shape 15">
            <a:extLst>
              <a:ext uri="{FF2B5EF4-FFF2-40B4-BE49-F238E27FC236}">
                <a16:creationId xmlns:a16="http://schemas.microsoft.com/office/drawing/2014/main" id="{FAFEA378-492B-D58B-6894-0C00EC190D8F}"/>
              </a:ext>
            </a:extLst>
          </p:cNvPr>
          <p:cNvSpPr/>
          <p:nvPr/>
        </p:nvSpPr>
        <p:spPr>
          <a:xfrm>
            <a:off x="0" y="5740698"/>
            <a:ext cx="12191695" cy="698500"/>
          </a:xfrm>
          <a:custGeom>
            <a:avLst/>
            <a:gdLst/>
            <a:ahLst/>
            <a:cxnLst/>
            <a:rect l="l" t="t" r="r" b="b"/>
            <a:pathLst>
              <a:path w="12191695" h="698500">
                <a:moveTo>
                  <a:pt x="0" y="224917"/>
                </a:moveTo>
                <a:lnTo>
                  <a:pt x="253587" y="219259"/>
                </a:lnTo>
                <a:lnTo>
                  <a:pt x="508394" y="211436"/>
                </a:lnTo>
                <a:lnTo>
                  <a:pt x="761981" y="201517"/>
                </a:lnTo>
                <a:lnTo>
                  <a:pt x="1015568" y="189922"/>
                </a:lnTo>
                <a:lnTo>
                  <a:pt x="1270375" y="176721"/>
                </a:lnTo>
                <a:lnTo>
                  <a:pt x="1523962" y="162331"/>
                </a:lnTo>
                <a:lnTo>
                  <a:pt x="1777549" y="147104"/>
                </a:lnTo>
                <a:lnTo>
                  <a:pt x="2032356" y="131178"/>
                </a:lnTo>
                <a:lnTo>
                  <a:pt x="2285943" y="115113"/>
                </a:lnTo>
                <a:lnTo>
                  <a:pt x="2539530" y="99047"/>
                </a:lnTo>
                <a:lnTo>
                  <a:pt x="2794336" y="83471"/>
                </a:lnTo>
                <a:lnTo>
                  <a:pt x="3047924" y="68663"/>
                </a:lnTo>
                <a:lnTo>
                  <a:pt x="3301511" y="54902"/>
                </a:lnTo>
                <a:lnTo>
                  <a:pt x="3556317" y="42609"/>
                </a:lnTo>
                <a:lnTo>
                  <a:pt x="3809905" y="31852"/>
                </a:lnTo>
                <a:lnTo>
                  <a:pt x="4063492" y="23120"/>
                </a:lnTo>
                <a:lnTo>
                  <a:pt x="4318298" y="16485"/>
                </a:lnTo>
                <a:lnTo>
                  <a:pt x="4571886" y="12084"/>
                </a:lnTo>
                <a:lnTo>
                  <a:pt x="4825473" y="10198"/>
                </a:lnTo>
                <a:lnTo>
                  <a:pt x="5080279" y="10827"/>
                </a:lnTo>
                <a:lnTo>
                  <a:pt x="5333867" y="14040"/>
                </a:lnTo>
                <a:lnTo>
                  <a:pt x="5587454" y="19907"/>
                </a:lnTo>
                <a:lnTo>
                  <a:pt x="5842260" y="28289"/>
                </a:lnTo>
                <a:lnTo>
                  <a:pt x="6095848" y="39256"/>
                </a:lnTo>
                <a:lnTo>
                  <a:pt x="6349435" y="52527"/>
                </a:lnTo>
                <a:lnTo>
                  <a:pt x="6604241" y="67964"/>
                </a:lnTo>
                <a:lnTo>
                  <a:pt x="6857828" y="85496"/>
                </a:lnTo>
                <a:lnTo>
                  <a:pt x="7111416" y="104705"/>
                </a:lnTo>
                <a:lnTo>
                  <a:pt x="7366222" y="125520"/>
                </a:lnTo>
                <a:lnTo>
                  <a:pt x="7619809" y="147523"/>
                </a:lnTo>
                <a:lnTo>
                  <a:pt x="7873397" y="170434"/>
                </a:lnTo>
                <a:lnTo>
                  <a:pt x="8128203" y="193904"/>
                </a:lnTo>
                <a:lnTo>
                  <a:pt x="8381790" y="217653"/>
                </a:lnTo>
                <a:lnTo>
                  <a:pt x="8635378" y="241262"/>
                </a:lnTo>
                <a:lnTo>
                  <a:pt x="8890184" y="264522"/>
                </a:lnTo>
                <a:lnTo>
                  <a:pt x="9143771" y="286944"/>
                </a:lnTo>
                <a:lnTo>
                  <a:pt x="9397359" y="308318"/>
                </a:lnTo>
                <a:lnTo>
                  <a:pt x="9652165" y="328295"/>
                </a:lnTo>
                <a:lnTo>
                  <a:pt x="9905752" y="346596"/>
                </a:lnTo>
                <a:lnTo>
                  <a:pt x="10159339" y="362941"/>
                </a:lnTo>
                <a:lnTo>
                  <a:pt x="10414146" y="377260"/>
                </a:lnTo>
                <a:lnTo>
                  <a:pt x="10667733" y="389204"/>
                </a:lnTo>
                <a:lnTo>
                  <a:pt x="10921320" y="398704"/>
                </a:lnTo>
                <a:lnTo>
                  <a:pt x="11176127" y="405689"/>
                </a:lnTo>
                <a:lnTo>
                  <a:pt x="11429714" y="410089"/>
                </a:lnTo>
                <a:lnTo>
                  <a:pt x="11683301" y="411905"/>
                </a:lnTo>
                <a:lnTo>
                  <a:pt x="11938108" y="411067"/>
                </a:lnTo>
                <a:lnTo>
                  <a:pt x="12191695" y="407784"/>
                </a:lnTo>
                <a:lnTo>
                  <a:pt x="12191695" y="698500"/>
                </a:lnTo>
                <a:lnTo>
                  <a:pt x="0" y="698500"/>
                </a:lnTo>
                <a:close/>
              </a:path>
            </a:pathLst>
          </a:custGeom>
          <a:solidFill>
            <a:srgbClr val="86A69F"/>
          </a:solidFill>
          <a:ln/>
        </p:spPr>
      </p:sp>
      <p:sp>
        <p:nvSpPr>
          <p:cNvPr id="9" name="Shape 7">
            <a:extLst>
              <a:ext uri="{FF2B5EF4-FFF2-40B4-BE49-F238E27FC236}">
                <a16:creationId xmlns:a16="http://schemas.microsoft.com/office/drawing/2014/main" id="{CBF065A6-E7E5-1B16-AB6C-2D26D3F26E3C}"/>
              </a:ext>
            </a:extLst>
          </p:cNvPr>
          <p:cNvSpPr/>
          <p:nvPr/>
        </p:nvSpPr>
        <p:spPr>
          <a:xfrm>
            <a:off x="0" y="6159500"/>
            <a:ext cx="12191695" cy="698500"/>
          </a:xfrm>
          <a:custGeom>
            <a:avLst/>
            <a:gdLst/>
            <a:ahLst/>
            <a:cxnLst/>
            <a:rect l="l" t="t" r="r" b="b"/>
            <a:pathLst>
              <a:path w="12191695" h="698500">
                <a:moveTo>
                  <a:pt x="0" y="224917"/>
                </a:moveTo>
                <a:lnTo>
                  <a:pt x="253587" y="219259"/>
                </a:lnTo>
                <a:lnTo>
                  <a:pt x="508394" y="211436"/>
                </a:lnTo>
                <a:lnTo>
                  <a:pt x="761981" y="201517"/>
                </a:lnTo>
                <a:lnTo>
                  <a:pt x="1015568" y="189922"/>
                </a:lnTo>
                <a:lnTo>
                  <a:pt x="1270375" y="176721"/>
                </a:lnTo>
                <a:lnTo>
                  <a:pt x="1523962" y="162331"/>
                </a:lnTo>
                <a:lnTo>
                  <a:pt x="1777549" y="147104"/>
                </a:lnTo>
                <a:lnTo>
                  <a:pt x="2032356" y="131178"/>
                </a:lnTo>
                <a:lnTo>
                  <a:pt x="2285943" y="115113"/>
                </a:lnTo>
                <a:lnTo>
                  <a:pt x="2539530" y="99047"/>
                </a:lnTo>
                <a:lnTo>
                  <a:pt x="2794336" y="83471"/>
                </a:lnTo>
                <a:lnTo>
                  <a:pt x="3047924" y="68663"/>
                </a:lnTo>
                <a:lnTo>
                  <a:pt x="3301511" y="54902"/>
                </a:lnTo>
                <a:lnTo>
                  <a:pt x="3556317" y="42609"/>
                </a:lnTo>
                <a:lnTo>
                  <a:pt x="3809905" y="31852"/>
                </a:lnTo>
                <a:lnTo>
                  <a:pt x="4063492" y="23120"/>
                </a:lnTo>
                <a:lnTo>
                  <a:pt x="4318298" y="16485"/>
                </a:lnTo>
                <a:lnTo>
                  <a:pt x="4571886" y="12084"/>
                </a:lnTo>
                <a:lnTo>
                  <a:pt x="4825473" y="10198"/>
                </a:lnTo>
                <a:lnTo>
                  <a:pt x="5080279" y="10827"/>
                </a:lnTo>
                <a:lnTo>
                  <a:pt x="5333867" y="14040"/>
                </a:lnTo>
                <a:lnTo>
                  <a:pt x="5587454" y="19907"/>
                </a:lnTo>
                <a:lnTo>
                  <a:pt x="5842260" y="28289"/>
                </a:lnTo>
                <a:lnTo>
                  <a:pt x="6095848" y="39256"/>
                </a:lnTo>
                <a:lnTo>
                  <a:pt x="6349435" y="52527"/>
                </a:lnTo>
                <a:lnTo>
                  <a:pt x="6604241" y="67964"/>
                </a:lnTo>
                <a:lnTo>
                  <a:pt x="6857828" y="85496"/>
                </a:lnTo>
                <a:lnTo>
                  <a:pt x="7111416" y="104705"/>
                </a:lnTo>
                <a:lnTo>
                  <a:pt x="7366222" y="125520"/>
                </a:lnTo>
                <a:lnTo>
                  <a:pt x="7619809" y="147523"/>
                </a:lnTo>
                <a:lnTo>
                  <a:pt x="7873397" y="170434"/>
                </a:lnTo>
                <a:lnTo>
                  <a:pt x="8128203" y="193904"/>
                </a:lnTo>
                <a:lnTo>
                  <a:pt x="8381790" y="217653"/>
                </a:lnTo>
                <a:lnTo>
                  <a:pt x="8635378" y="241262"/>
                </a:lnTo>
                <a:lnTo>
                  <a:pt x="8890184" y="264522"/>
                </a:lnTo>
                <a:lnTo>
                  <a:pt x="9143771" y="286944"/>
                </a:lnTo>
                <a:lnTo>
                  <a:pt x="9397359" y="308318"/>
                </a:lnTo>
                <a:lnTo>
                  <a:pt x="9652165" y="328295"/>
                </a:lnTo>
                <a:lnTo>
                  <a:pt x="9905752" y="346596"/>
                </a:lnTo>
                <a:lnTo>
                  <a:pt x="10159339" y="362941"/>
                </a:lnTo>
                <a:lnTo>
                  <a:pt x="10414146" y="377260"/>
                </a:lnTo>
                <a:lnTo>
                  <a:pt x="10667733" y="389204"/>
                </a:lnTo>
                <a:lnTo>
                  <a:pt x="10921320" y="398704"/>
                </a:lnTo>
                <a:lnTo>
                  <a:pt x="11176127" y="405689"/>
                </a:lnTo>
                <a:lnTo>
                  <a:pt x="11429714" y="410089"/>
                </a:lnTo>
                <a:lnTo>
                  <a:pt x="11683301" y="411905"/>
                </a:lnTo>
                <a:lnTo>
                  <a:pt x="11938108" y="411067"/>
                </a:lnTo>
                <a:lnTo>
                  <a:pt x="12191695" y="407784"/>
                </a:lnTo>
                <a:lnTo>
                  <a:pt x="12191695" y="698500"/>
                </a:lnTo>
                <a:lnTo>
                  <a:pt x="0" y="698500"/>
                </a:lnTo>
                <a:close/>
              </a:path>
            </a:pathLst>
          </a:custGeom>
          <a:solidFill>
            <a:srgbClr val="14264A"/>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802</Words>
  <Application>Microsoft Office PowerPoint</Application>
  <PresentationFormat>Widescreen</PresentationFormat>
  <Paragraphs>128</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Rubik</vt:lpstr>
      <vt:lpstr>Fraunces Black</vt:lpstr>
      <vt:lpstr>Arial</vt:lpstr>
      <vt:lpstr>Rubik Bold</vt:lpstr>
      <vt:lpstr>Rubik SemiBold</vt:lpstr>
      <vt:lpstr>Rubik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HARINI GOPALASETTI</cp:lastModifiedBy>
  <cp:revision>2</cp:revision>
  <dcterms:created xsi:type="dcterms:W3CDTF">2026-09-23T05:02:13Z</dcterms:created>
  <dcterms:modified xsi:type="dcterms:W3CDTF">2026-09-23T05:04:56Z</dcterms:modified>
</cp:coreProperties>
</file>