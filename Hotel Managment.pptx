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5" r:id="rId9"/>
    <p:sldId id="266" r:id="rId10"/>
  </p:sldIdLst>
  <p:sldSz cx="18288000" cy="10287000"/>
  <p:notesSz cx="6858000" cy="9144000"/>
  <p:embeddedFontLst>
    <p:embeddedFont>
      <p:font typeface="Neue Machina" panose="020B0604020202020204" charset="0"/>
      <p:regular r:id="rId11"/>
    </p:embeddedFont>
    <p:embeddedFont>
      <p:font typeface="Neue Machina Ultra-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483"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I GOPALASETTI" userId="8cc03db8da3ed838" providerId="LiveId" clId="{5C8537F6-AF85-4224-90B0-F8A831DC3E1C}"/>
    <pc:docChg chg="delSld">
      <pc:chgData name="HARINI GOPALASETTI" userId="8cc03db8da3ed838" providerId="LiveId" clId="{5C8537F6-AF85-4224-90B0-F8A831DC3E1C}" dt="2026-09-21T07:53:01.389" v="1" actId="2696"/>
      <pc:docMkLst>
        <pc:docMk/>
      </pc:docMkLst>
      <pc:sldChg chg="del">
        <pc:chgData name="HARINI GOPALASETTI" userId="8cc03db8da3ed838" providerId="LiveId" clId="{5C8537F6-AF85-4224-90B0-F8A831DC3E1C}" dt="2026-09-21T07:53:01.389" v="1" actId="2696"/>
        <pc:sldMkLst>
          <pc:docMk/>
          <pc:sldMk cId="0" sldId="259"/>
        </pc:sldMkLst>
      </pc:sldChg>
      <pc:sldChg chg="del">
        <pc:chgData name="HARINI GOPALASETTI" userId="8cc03db8da3ed838" providerId="LiveId" clId="{5C8537F6-AF85-4224-90B0-F8A831DC3E1C}" dt="2026-09-21T07:33:04.822" v="0" actId="2696"/>
        <pc:sldMkLst>
          <pc:docMk/>
          <pc:sldMk cId="0"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939"/>
                </a:lnSpc>
                <a:spcBef>
                  <a:spcPct val="0"/>
                </a:spcBef>
              </a:pPr>
              <a:endParaRPr/>
            </a:p>
          </p:txBody>
        </p:sp>
      </p:grpSp>
      <p:sp>
        <p:nvSpPr>
          <p:cNvPr id="5" name="AutoShape 5"/>
          <p:cNvSpPr/>
          <p:nvPr/>
        </p:nvSpPr>
        <p:spPr>
          <a:xfrm>
            <a:off x="1028700" y="2149620"/>
            <a:ext cx="16230600" cy="0"/>
          </a:xfrm>
          <a:prstGeom prst="line">
            <a:avLst/>
          </a:prstGeom>
          <a:ln w="19050" cap="flat">
            <a:solidFill>
              <a:srgbClr val="000000"/>
            </a:solidFill>
            <a:prstDash val="solid"/>
            <a:headEnd type="none" w="sm" len="sm"/>
            <a:tailEnd type="none" w="sm" len="sm"/>
          </a:ln>
        </p:spPr>
      </p:sp>
      <p:sp>
        <p:nvSpPr>
          <p:cNvPr id="6" name="AutoShape 6"/>
          <p:cNvSpPr/>
          <p:nvPr/>
        </p:nvSpPr>
        <p:spPr>
          <a:xfrm>
            <a:off x="1028700" y="6522736"/>
            <a:ext cx="8115300" cy="0"/>
          </a:xfrm>
          <a:prstGeom prst="line">
            <a:avLst/>
          </a:prstGeom>
          <a:ln w="19050" cap="flat">
            <a:solidFill>
              <a:srgbClr val="000000"/>
            </a:solidFill>
            <a:prstDash val="solid"/>
            <a:headEnd type="none" w="sm" len="sm"/>
            <a:tailEnd type="none" w="sm" len="sm"/>
          </a:ln>
        </p:spPr>
      </p:sp>
      <p:sp>
        <p:nvSpPr>
          <p:cNvPr id="7" name="AutoShape 7"/>
          <p:cNvSpPr/>
          <p:nvPr/>
        </p:nvSpPr>
        <p:spPr>
          <a:xfrm flipH="1">
            <a:off x="9144000" y="2149620"/>
            <a:ext cx="0" cy="7108680"/>
          </a:xfrm>
          <a:prstGeom prst="line">
            <a:avLst/>
          </a:prstGeom>
          <a:ln w="19050" cap="flat">
            <a:solidFill>
              <a:srgbClr val="000000"/>
            </a:solidFill>
            <a:prstDash val="solid"/>
            <a:headEnd type="none" w="sm" len="sm"/>
            <a:tailEnd type="none" w="sm" len="sm"/>
          </a:ln>
        </p:spPr>
      </p:sp>
      <p:sp>
        <p:nvSpPr>
          <p:cNvPr id="8" name="TextBox 8"/>
          <p:cNvSpPr txBox="1"/>
          <p:nvPr/>
        </p:nvSpPr>
        <p:spPr>
          <a:xfrm>
            <a:off x="1074045" y="2806845"/>
            <a:ext cx="8267344" cy="2670311"/>
          </a:xfrm>
          <a:prstGeom prst="rect">
            <a:avLst/>
          </a:prstGeom>
        </p:spPr>
        <p:txBody>
          <a:bodyPr lIns="0" tIns="0" rIns="0" bIns="0" rtlCol="0" anchor="t">
            <a:spAutoFit/>
          </a:bodyPr>
          <a:lstStyle/>
          <a:p>
            <a:pPr algn="l">
              <a:lnSpc>
                <a:spcPts val="6720"/>
              </a:lnSpc>
            </a:pPr>
            <a:r>
              <a:rPr lang="en-US" sz="8616" spc="-439">
                <a:solidFill>
                  <a:srgbClr val="000000"/>
                </a:solidFill>
                <a:latin typeface="Neue Machina"/>
                <a:ea typeface="Neue Machina"/>
                <a:cs typeface="Neue Machina"/>
                <a:sym typeface="Neue Machina"/>
              </a:rPr>
              <a:t>Hotel Booking &amp; Occupancy Manager</a:t>
            </a:r>
          </a:p>
        </p:txBody>
      </p:sp>
      <p:sp>
        <p:nvSpPr>
          <p:cNvPr id="9" name="TextBox 9"/>
          <p:cNvSpPr txBox="1"/>
          <p:nvPr/>
        </p:nvSpPr>
        <p:spPr>
          <a:xfrm>
            <a:off x="6771073" y="1303410"/>
            <a:ext cx="4745855" cy="523874"/>
          </a:xfrm>
          <a:prstGeom prst="rect">
            <a:avLst/>
          </a:prstGeom>
        </p:spPr>
        <p:txBody>
          <a:bodyPr lIns="0" tIns="0" rIns="0" bIns="0" rtlCol="0" anchor="t">
            <a:spAutoFit/>
          </a:bodyPr>
          <a:lstStyle/>
          <a:p>
            <a:pPr algn="ctr">
              <a:lnSpc>
                <a:spcPts val="4200"/>
              </a:lnSpc>
              <a:spcBef>
                <a:spcPct val="0"/>
              </a:spcBef>
            </a:pPr>
            <a:r>
              <a:rPr lang="en-US" sz="3000" spc="-126">
                <a:solidFill>
                  <a:srgbClr val="000000"/>
                </a:solidFill>
                <a:latin typeface="Neue Machina"/>
                <a:ea typeface="Neue Machina"/>
                <a:cs typeface="Neue Machina"/>
                <a:sym typeface="Neue Machina"/>
              </a:rPr>
              <a:t>JAVA PROJECT</a:t>
            </a:r>
          </a:p>
        </p:txBody>
      </p:sp>
      <p:sp>
        <p:nvSpPr>
          <p:cNvPr id="10" name="TextBox 10"/>
          <p:cNvSpPr txBox="1"/>
          <p:nvPr/>
        </p:nvSpPr>
        <p:spPr>
          <a:xfrm>
            <a:off x="1140248" y="7103761"/>
            <a:ext cx="7403677" cy="1261110"/>
          </a:xfrm>
          <a:prstGeom prst="rect">
            <a:avLst/>
          </a:prstGeom>
        </p:spPr>
        <p:txBody>
          <a:bodyPr lIns="0" tIns="0" rIns="0" bIns="0" rtlCol="0" anchor="t">
            <a:spAutoFit/>
          </a:bodyPr>
          <a:lstStyle/>
          <a:p>
            <a:pPr algn="l">
              <a:lnSpc>
                <a:spcPts val="5040"/>
              </a:lnSpc>
            </a:pPr>
            <a:r>
              <a:rPr lang="en-US" sz="3600" spc="-151">
                <a:solidFill>
                  <a:srgbClr val="000000"/>
                </a:solidFill>
                <a:latin typeface="Neue Machina"/>
                <a:ea typeface="Neue Machina"/>
                <a:cs typeface="Neue Machina"/>
                <a:sym typeface="Neue Machina"/>
              </a:rPr>
              <a:t>2620030050-Harini</a:t>
            </a:r>
          </a:p>
          <a:p>
            <a:pPr algn="l">
              <a:lnSpc>
                <a:spcPts val="5040"/>
              </a:lnSpc>
              <a:spcBef>
                <a:spcPct val="0"/>
              </a:spcBef>
            </a:pPr>
            <a:r>
              <a:rPr lang="en-US" sz="3600" spc="-151">
                <a:solidFill>
                  <a:srgbClr val="000000"/>
                </a:solidFill>
                <a:latin typeface="Neue Machina"/>
                <a:ea typeface="Neue Machina"/>
                <a:cs typeface="Neue Machina"/>
                <a:sym typeface="Neue Machina"/>
              </a:rPr>
              <a:t>2620090011-Akshaya</a:t>
            </a:r>
          </a:p>
        </p:txBody>
      </p:sp>
      <p:sp>
        <p:nvSpPr>
          <p:cNvPr id="11" name="Freeform 11"/>
          <p:cNvSpPr/>
          <p:nvPr/>
        </p:nvSpPr>
        <p:spPr>
          <a:xfrm>
            <a:off x="9745753" y="2531349"/>
            <a:ext cx="6756436" cy="6157765"/>
          </a:xfrm>
          <a:custGeom>
            <a:avLst/>
            <a:gdLst/>
            <a:ahLst/>
            <a:cxnLst/>
            <a:rect l="l" t="t" r="r" b="b"/>
            <a:pathLst>
              <a:path w="6756436" h="6157765">
                <a:moveTo>
                  <a:pt x="0" y="0"/>
                </a:moveTo>
                <a:lnTo>
                  <a:pt x="6756437" y="0"/>
                </a:lnTo>
                <a:lnTo>
                  <a:pt x="6756437" y="6157765"/>
                </a:lnTo>
                <a:lnTo>
                  <a:pt x="0" y="615776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4275413"/>
            <a:ext cx="16230600" cy="0"/>
          </a:xfrm>
          <a:prstGeom prst="line">
            <a:avLst/>
          </a:prstGeom>
          <a:ln w="19050" cap="flat">
            <a:solidFill>
              <a:srgbClr val="000000"/>
            </a:solidFill>
            <a:prstDash val="solid"/>
            <a:headEnd type="none" w="sm" len="sm"/>
            <a:tailEnd type="none" w="sm" len="sm"/>
          </a:ln>
        </p:spPr>
      </p:sp>
      <p:sp>
        <p:nvSpPr>
          <p:cNvPr id="6" name="AutoShape 6"/>
          <p:cNvSpPr/>
          <p:nvPr/>
        </p:nvSpPr>
        <p:spPr>
          <a:xfrm>
            <a:off x="10798305" y="4275413"/>
            <a:ext cx="0" cy="4982887"/>
          </a:xfrm>
          <a:prstGeom prst="line">
            <a:avLst/>
          </a:prstGeom>
          <a:ln w="19050" cap="flat">
            <a:solidFill>
              <a:srgbClr val="000000"/>
            </a:solidFill>
            <a:prstDash val="solid"/>
            <a:headEnd type="none" w="sm" len="sm"/>
            <a:tailEnd type="none" w="sm" len="sm"/>
          </a:ln>
        </p:spPr>
      </p:sp>
      <p:sp>
        <p:nvSpPr>
          <p:cNvPr id="7" name="Freeform 7"/>
          <p:cNvSpPr/>
          <p:nvPr/>
        </p:nvSpPr>
        <p:spPr>
          <a:xfrm>
            <a:off x="11848845" y="4470321"/>
            <a:ext cx="4306451" cy="4251975"/>
          </a:xfrm>
          <a:custGeom>
            <a:avLst/>
            <a:gdLst/>
            <a:ahLst/>
            <a:cxnLst/>
            <a:rect l="l" t="t" r="r" b="b"/>
            <a:pathLst>
              <a:path w="4306451" h="4251975">
                <a:moveTo>
                  <a:pt x="0" y="0"/>
                </a:moveTo>
                <a:lnTo>
                  <a:pt x="4306450" y="0"/>
                </a:lnTo>
                <a:lnTo>
                  <a:pt x="4306450" y="4251975"/>
                </a:lnTo>
                <a:lnTo>
                  <a:pt x="0" y="425197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4416210" y="1814216"/>
            <a:ext cx="9455581" cy="1043941"/>
          </a:xfrm>
          <a:prstGeom prst="rect">
            <a:avLst/>
          </a:prstGeom>
        </p:spPr>
        <p:txBody>
          <a:bodyPr lIns="0" tIns="0" rIns="0" bIns="0" rtlCol="0" anchor="t">
            <a:spAutoFit/>
          </a:bodyPr>
          <a:lstStyle/>
          <a:p>
            <a:pPr algn="ctr">
              <a:lnSpc>
                <a:spcPts val="7680"/>
              </a:lnSpc>
            </a:pPr>
            <a:r>
              <a:rPr lang="en-US" sz="8000" spc="-408">
                <a:solidFill>
                  <a:srgbClr val="000000"/>
                </a:solidFill>
                <a:latin typeface="Neue Machina"/>
                <a:ea typeface="Neue Machina"/>
                <a:cs typeface="Neue Machina"/>
                <a:sym typeface="Neue Machina"/>
              </a:rPr>
              <a:t>Introduction</a:t>
            </a:r>
          </a:p>
        </p:txBody>
      </p:sp>
      <p:sp>
        <p:nvSpPr>
          <p:cNvPr id="9" name="TextBox 9"/>
          <p:cNvSpPr txBox="1"/>
          <p:nvPr/>
        </p:nvSpPr>
        <p:spPr>
          <a:xfrm>
            <a:off x="2034674" y="5303934"/>
            <a:ext cx="8071360" cy="306705"/>
          </a:xfrm>
          <a:prstGeom prst="rect">
            <a:avLst/>
          </a:prstGeom>
        </p:spPr>
        <p:txBody>
          <a:bodyPr lIns="0" tIns="0" rIns="0" bIns="0" rtlCol="0" anchor="t">
            <a:spAutoFit/>
          </a:bodyPr>
          <a:lstStyle/>
          <a:p>
            <a:pPr algn="just">
              <a:lnSpc>
                <a:spcPts val="2520"/>
              </a:lnSpc>
              <a:spcBef>
                <a:spcPct val="0"/>
              </a:spcBef>
            </a:pPr>
            <a:endParaRPr/>
          </a:p>
        </p:txBody>
      </p:sp>
      <p:sp>
        <p:nvSpPr>
          <p:cNvPr id="10" name="TextBox 10"/>
          <p:cNvSpPr txBox="1"/>
          <p:nvPr/>
        </p:nvSpPr>
        <p:spPr>
          <a:xfrm>
            <a:off x="1572778" y="4403646"/>
            <a:ext cx="8995152" cy="4406434"/>
          </a:xfrm>
          <a:prstGeom prst="rect">
            <a:avLst/>
          </a:prstGeom>
        </p:spPr>
        <p:txBody>
          <a:bodyPr lIns="0" tIns="0" rIns="0" bIns="0" rtlCol="0" anchor="t">
            <a:spAutoFit/>
          </a:bodyPr>
          <a:lstStyle/>
          <a:p>
            <a:pPr marL="678645" lvl="1" indent="-339323" algn="l">
              <a:lnSpc>
                <a:spcPts val="4400"/>
              </a:lnSpc>
              <a:buFont typeface="Arial"/>
              <a:buChar char="•"/>
            </a:pPr>
            <a:r>
              <a:rPr lang="en-US" sz="3143">
                <a:solidFill>
                  <a:srgbClr val="000000"/>
                </a:solidFill>
                <a:latin typeface="Neue Machina"/>
                <a:ea typeface="Neue Machina"/>
                <a:cs typeface="Neue Machina"/>
                <a:sym typeface="Neue Machina"/>
              </a:rPr>
              <a:t>Hotel Booking &amp; Occupancy Manager is a Java-based application</a:t>
            </a:r>
          </a:p>
          <a:p>
            <a:pPr marL="678645" lvl="1" indent="-339323" algn="l">
              <a:lnSpc>
                <a:spcPts val="4400"/>
              </a:lnSpc>
              <a:buFont typeface="Arial"/>
              <a:buChar char="•"/>
            </a:pPr>
            <a:r>
              <a:rPr lang="en-US" sz="3143">
                <a:solidFill>
                  <a:srgbClr val="000000"/>
                </a:solidFill>
                <a:latin typeface="Neue Machina"/>
                <a:ea typeface="Neue Machina"/>
                <a:cs typeface="Neue Machina"/>
                <a:sym typeface="Neue Machina"/>
              </a:rPr>
              <a:t>It helps manage hotel room bookings</a:t>
            </a:r>
          </a:p>
          <a:p>
            <a:pPr marL="678645" lvl="1" indent="-339323" algn="l">
              <a:lnSpc>
                <a:spcPts val="4400"/>
              </a:lnSpc>
              <a:buFont typeface="Arial"/>
              <a:buChar char="•"/>
            </a:pPr>
            <a:r>
              <a:rPr lang="en-US" sz="3143">
                <a:solidFill>
                  <a:srgbClr val="000000"/>
                </a:solidFill>
                <a:latin typeface="Neue Machina"/>
                <a:ea typeface="Neue Machina"/>
                <a:cs typeface="Neue Machina"/>
                <a:sym typeface="Neue Machina"/>
              </a:rPr>
              <a:t>It calculates the total booking amount</a:t>
            </a:r>
          </a:p>
          <a:p>
            <a:pPr marL="678645" lvl="1" indent="-339323" algn="l">
              <a:lnSpc>
                <a:spcPts val="4400"/>
              </a:lnSpc>
              <a:buFont typeface="Arial"/>
              <a:buChar char="•"/>
            </a:pPr>
            <a:r>
              <a:rPr lang="en-US" sz="3143">
                <a:solidFill>
                  <a:srgbClr val="000000"/>
                </a:solidFill>
                <a:latin typeface="Neue Machina"/>
                <a:ea typeface="Neue Machina"/>
                <a:cs typeface="Neue Machina"/>
                <a:sym typeface="Neue Machina"/>
              </a:rPr>
              <a:t>It tracks room occupancy and availability</a:t>
            </a:r>
          </a:p>
          <a:p>
            <a:pPr marL="678645" lvl="1" indent="-339323" algn="l">
              <a:lnSpc>
                <a:spcPts val="4400"/>
              </a:lnSpc>
              <a:buFont typeface="Arial"/>
              <a:buChar char="•"/>
            </a:pPr>
            <a:r>
              <a:rPr lang="en-US" sz="3143">
                <a:solidFill>
                  <a:srgbClr val="000000"/>
                </a:solidFill>
                <a:latin typeface="Neue Machina"/>
                <a:ea typeface="Neue Machina"/>
                <a:cs typeface="Neue Machina"/>
                <a:sym typeface="Neue Machina"/>
              </a:rPr>
              <a:t>It categorizes customers based on their booking amount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226561"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4682537"/>
            <a:ext cx="10095304" cy="0"/>
          </a:xfrm>
          <a:prstGeom prst="line">
            <a:avLst/>
          </a:prstGeom>
          <a:ln w="19050" cap="flat">
            <a:solidFill>
              <a:srgbClr val="000000"/>
            </a:solidFill>
            <a:prstDash val="solid"/>
            <a:headEnd type="none" w="sm" len="sm"/>
            <a:tailEnd type="none" w="sm" len="sm"/>
          </a:ln>
        </p:spPr>
      </p:sp>
      <p:sp>
        <p:nvSpPr>
          <p:cNvPr id="6" name="AutoShape 6"/>
          <p:cNvSpPr/>
          <p:nvPr/>
        </p:nvSpPr>
        <p:spPr>
          <a:xfrm>
            <a:off x="11124004" y="1028700"/>
            <a:ext cx="0" cy="8229600"/>
          </a:xfrm>
          <a:prstGeom prst="line">
            <a:avLst/>
          </a:prstGeom>
          <a:ln w="19050" cap="flat">
            <a:solidFill>
              <a:srgbClr val="000000"/>
            </a:solidFill>
            <a:prstDash val="solid"/>
            <a:headEnd type="none" w="sm" len="sm"/>
            <a:tailEnd type="none" w="sm" len="sm"/>
          </a:ln>
        </p:spPr>
      </p:sp>
      <p:sp>
        <p:nvSpPr>
          <p:cNvPr id="7" name="AutoShape 7"/>
          <p:cNvSpPr/>
          <p:nvPr/>
        </p:nvSpPr>
        <p:spPr>
          <a:xfrm>
            <a:off x="5098572" y="4682537"/>
            <a:ext cx="0" cy="4575763"/>
          </a:xfrm>
          <a:prstGeom prst="line">
            <a:avLst/>
          </a:prstGeom>
          <a:ln w="19050" cap="flat">
            <a:solidFill>
              <a:srgbClr val="000000"/>
            </a:solidFill>
            <a:prstDash val="solid"/>
            <a:headEnd type="none" w="sm" len="sm"/>
            <a:tailEnd type="none" w="sm" len="sm"/>
          </a:ln>
        </p:spPr>
      </p:sp>
      <p:sp>
        <p:nvSpPr>
          <p:cNvPr id="8" name="AutoShape 8"/>
          <p:cNvSpPr/>
          <p:nvPr/>
        </p:nvSpPr>
        <p:spPr>
          <a:xfrm flipH="1">
            <a:off x="6572533" y="4682537"/>
            <a:ext cx="0" cy="4609526"/>
          </a:xfrm>
          <a:prstGeom prst="line">
            <a:avLst/>
          </a:prstGeom>
          <a:ln w="19050" cap="flat">
            <a:solidFill>
              <a:srgbClr val="000000"/>
            </a:solidFill>
            <a:prstDash val="solid"/>
            <a:headEnd type="none" w="sm" len="sm"/>
            <a:tailEnd type="none" w="sm" len="sm"/>
          </a:ln>
        </p:spPr>
      </p:sp>
      <p:sp>
        <p:nvSpPr>
          <p:cNvPr id="9" name="AutoShape 9"/>
          <p:cNvSpPr/>
          <p:nvPr/>
        </p:nvSpPr>
        <p:spPr>
          <a:xfrm flipH="1">
            <a:off x="5098572" y="5615987"/>
            <a:ext cx="6025432" cy="0"/>
          </a:xfrm>
          <a:prstGeom prst="line">
            <a:avLst/>
          </a:prstGeom>
          <a:ln w="19050" cap="flat">
            <a:solidFill>
              <a:srgbClr val="000000"/>
            </a:solidFill>
            <a:prstDash val="solid"/>
            <a:headEnd type="none" w="sm" len="sm"/>
            <a:tailEnd type="none" w="sm" len="sm"/>
          </a:ln>
        </p:spPr>
      </p:sp>
      <p:sp>
        <p:nvSpPr>
          <p:cNvPr id="10" name="AutoShape 10"/>
          <p:cNvSpPr/>
          <p:nvPr/>
        </p:nvSpPr>
        <p:spPr>
          <a:xfrm flipH="1">
            <a:off x="5098572" y="6549437"/>
            <a:ext cx="6025432" cy="0"/>
          </a:xfrm>
          <a:prstGeom prst="line">
            <a:avLst/>
          </a:prstGeom>
          <a:ln w="19050" cap="flat">
            <a:solidFill>
              <a:srgbClr val="000000"/>
            </a:solidFill>
            <a:prstDash val="solid"/>
            <a:headEnd type="none" w="sm" len="sm"/>
            <a:tailEnd type="none" w="sm" len="sm"/>
          </a:ln>
        </p:spPr>
      </p:sp>
      <p:sp>
        <p:nvSpPr>
          <p:cNvPr id="11" name="Freeform 11"/>
          <p:cNvSpPr/>
          <p:nvPr/>
        </p:nvSpPr>
        <p:spPr>
          <a:xfrm>
            <a:off x="1799805" y="5017580"/>
            <a:ext cx="2570144" cy="3960767"/>
          </a:xfrm>
          <a:custGeom>
            <a:avLst/>
            <a:gdLst/>
            <a:ahLst/>
            <a:cxnLst/>
            <a:rect l="l" t="t" r="r" b="b"/>
            <a:pathLst>
              <a:path w="2570144" h="3960767">
                <a:moveTo>
                  <a:pt x="0" y="0"/>
                </a:moveTo>
                <a:lnTo>
                  <a:pt x="2570144" y="0"/>
                </a:lnTo>
                <a:lnTo>
                  <a:pt x="2570144" y="3960766"/>
                </a:lnTo>
                <a:lnTo>
                  <a:pt x="0" y="39607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AutoShape 12"/>
          <p:cNvSpPr/>
          <p:nvPr/>
        </p:nvSpPr>
        <p:spPr>
          <a:xfrm flipH="1">
            <a:off x="5098572" y="7482887"/>
            <a:ext cx="6025432" cy="0"/>
          </a:xfrm>
          <a:prstGeom prst="line">
            <a:avLst/>
          </a:prstGeom>
          <a:ln w="19050" cap="flat">
            <a:solidFill>
              <a:srgbClr val="000000"/>
            </a:solidFill>
            <a:prstDash val="solid"/>
            <a:headEnd type="none" w="sm" len="sm"/>
            <a:tailEnd type="none" w="sm" len="sm"/>
          </a:ln>
        </p:spPr>
      </p:sp>
      <p:sp>
        <p:nvSpPr>
          <p:cNvPr id="13" name="AutoShape 13"/>
          <p:cNvSpPr/>
          <p:nvPr/>
        </p:nvSpPr>
        <p:spPr>
          <a:xfrm flipH="1">
            <a:off x="5098572" y="8416337"/>
            <a:ext cx="6025432" cy="0"/>
          </a:xfrm>
          <a:prstGeom prst="line">
            <a:avLst/>
          </a:prstGeom>
          <a:ln w="19050" cap="flat">
            <a:solidFill>
              <a:srgbClr val="000000"/>
            </a:solidFill>
            <a:prstDash val="solid"/>
            <a:headEnd type="none" w="sm" len="sm"/>
            <a:tailEnd type="none" w="sm" len="sm"/>
          </a:ln>
        </p:spPr>
      </p:sp>
      <p:grpSp>
        <p:nvGrpSpPr>
          <p:cNvPr id="14" name="Group 14"/>
          <p:cNvGrpSpPr/>
          <p:nvPr/>
        </p:nvGrpSpPr>
        <p:grpSpPr>
          <a:xfrm>
            <a:off x="5583712" y="4891660"/>
            <a:ext cx="503681" cy="50368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16" name="TextBox 16"/>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5583712" y="5818891"/>
            <a:ext cx="503681" cy="50368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19" name="TextBox 19"/>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469357" y="1476889"/>
            <a:ext cx="8527338" cy="2987041"/>
          </a:xfrm>
          <a:prstGeom prst="rect">
            <a:avLst/>
          </a:prstGeom>
        </p:spPr>
        <p:txBody>
          <a:bodyPr lIns="0" tIns="0" rIns="0" bIns="0" rtlCol="0" anchor="t">
            <a:spAutoFit/>
          </a:bodyPr>
          <a:lstStyle/>
          <a:p>
            <a:pPr algn="l">
              <a:lnSpc>
                <a:spcPts val="7680"/>
              </a:lnSpc>
            </a:pPr>
            <a:r>
              <a:rPr lang="en-US" sz="8000" spc="-408">
                <a:solidFill>
                  <a:srgbClr val="000000"/>
                </a:solidFill>
                <a:latin typeface="Neue Machina"/>
                <a:ea typeface="Neue Machina"/>
                <a:cs typeface="Neue Machina"/>
                <a:sym typeface="Neue Machina"/>
              </a:rPr>
              <a:t>Problem statement and Abstract.</a:t>
            </a:r>
          </a:p>
        </p:txBody>
      </p:sp>
      <p:sp>
        <p:nvSpPr>
          <p:cNvPr id="21" name="TextBox 21"/>
          <p:cNvSpPr txBox="1"/>
          <p:nvPr/>
        </p:nvSpPr>
        <p:spPr>
          <a:xfrm>
            <a:off x="11352604" y="2399628"/>
            <a:ext cx="5735246" cy="6790902"/>
          </a:xfrm>
          <a:prstGeom prst="rect">
            <a:avLst/>
          </a:prstGeom>
        </p:spPr>
        <p:txBody>
          <a:bodyPr lIns="0" tIns="0" rIns="0" bIns="0" rtlCol="0" anchor="t">
            <a:spAutoFit/>
          </a:bodyPr>
          <a:lstStyle/>
          <a:p>
            <a:pPr algn="just">
              <a:lnSpc>
                <a:spcPts val="3173"/>
              </a:lnSpc>
              <a:spcBef>
                <a:spcPct val="0"/>
              </a:spcBef>
            </a:pPr>
            <a:r>
              <a:rPr lang="en-US" sz="2266">
                <a:solidFill>
                  <a:srgbClr val="000000"/>
                </a:solidFill>
                <a:latin typeface="Neue Machina"/>
                <a:ea typeface="Neue Machina"/>
                <a:cs typeface="Neue Machina"/>
                <a:sym typeface="Neue Machina"/>
              </a:rPr>
              <a:t>The *Hotel Booking &amp; Occupancy Manager* is a software system designed to simplify and manage hotel room bookings and occupancy efficiently. The system allows users to view available rooms, make reservations, check-in and check-out, and manage booking details. Hotel staff can monitor room occupancy, update room status, and maintain customer records. The system helps reduce manual work, avoid booking conflicts, and improve overall hotel management. It provides a simple, organized, and user-friendly solution for handling hotel reservations and room availability.</a:t>
            </a:r>
          </a:p>
        </p:txBody>
      </p:sp>
      <p:sp>
        <p:nvSpPr>
          <p:cNvPr id="22" name="TextBox 22"/>
          <p:cNvSpPr txBox="1"/>
          <p:nvPr/>
        </p:nvSpPr>
        <p:spPr>
          <a:xfrm>
            <a:off x="11352604" y="1450589"/>
            <a:ext cx="4423531" cy="606425"/>
          </a:xfrm>
          <a:prstGeom prst="rect">
            <a:avLst/>
          </a:prstGeom>
        </p:spPr>
        <p:txBody>
          <a:bodyPr lIns="0" tIns="0" rIns="0" bIns="0" rtlCol="0" anchor="t">
            <a:spAutoFit/>
          </a:bodyPr>
          <a:lstStyle/>
          <a:p>
            <a:pPr algn="l">
              <a:lnSpc>
                <a:spcPts val="4900"/>
              </a:lnSpc>
              <a:spcBef>
                <a:spcPct val="0"/>
              </a:spcBef>
            </a:pPr>
            <a:r>
              <a:rPr lang="en-US" sz="3500" spc="-147">
                <a:solidFill>
                  <a:srgbClr val="000000"/>
                </a:solidFill>
                <a:latin typeface="Neue Machina"/>
                <a:ea typeface="Neue Machina"/>
                <a:cs typeface="Neue Machina"/>
                <a:sym typeface="Neue Machina"/>
              </a:rPr>
              <a:t>Abstract.</a:t>
            </a:r>
          </a:p>
        </p:txBody>
      </p:sp>
      <p:sp>
        <p:nvSpPr>
          <p:cNvPr id="23" name="TextBox 23"/>
          <p:cNvSpPr txBox="1"/>
          <p:nvPr/>
        </p:nvSpPr>
        <p:spPr>
          <a:xfrm>
            <a:off x="6972295" y="5874263"/>
            <a:ext cx="2769196" cy="448309"/>
          </a:xfrm>
          <a:prstGeom prst="rect">
            <a:avLst/>
          </a:prstGeom>
        </p:spPr>
        <p:txBody>
          <a:bodyPr lIns="0" tIns="0" rIns="0" bIns="0" rtlCol="0" anchor="t">
            <a:spAutoFit/>
          </a:bodyPr>
          <a:lstStyle/>
          <a:p>
            <a:pPr algn="l">
              <a:lnSpc>
                <a:spcPts val="3640"/>
              </a:lnSpc>
              <a:spcBef>
                <a:spcPct val="0"/>
              </a:spcBef>
            </a:pPr>
            <a:endParaRPr/>
          </a:p>
        </p:txBody>
      </p:sp>
      <p:sp>
        <p:nvSpPr>
          <p:cNvPr id="24" name="TextBox 24"/>
          <p:cNvSpPr txBox="1"/>
          <p:nvPr/>
        </p:nvSpPr>
        <p:spPr>
          <a:xfrm>
            <a:off x="6740640" y="6552194"/>
            <a:ext cx="4151709" cy="834389"/>
          </a:xfrm>
          <a:prstGeom prst="rect">
            <a:avLst/>
          </a:prstGeom>
        </p:spPr>
        <p:txBody>
          <a:bodyPr lIns="0" tIns="0" rIns="0" bIns="0" rtlCol="0" anchor="t">
            <a:spAutoFit/>
          </a:bodyPr>
          <a:lstStyle/>
          <a:p>
            <a:pPr algn="l">
              <a:lnSpc>
                <a:spcPts val="3360"/>
              </a:lnSpc>
              <a:spcBef>
                <a:spcPct val="0"/>
              </a:spcBef>
            </a:pPr>
            <a:r>
              <a:rPr lang="en-US" sz="2400" spc="-100">
                <a:solidFill>
                  <a:srgbClr val="000000"/>
                </a:solidFill>
                <a:latin typeface="Neue Machina"/>
                <a:ea typeface="Neue Machina"/>
                <a:cs typeface="Neue Machina"/>
                <a:sym typeface="Neue Machina"/>
              </a:rPr>
              <a:t>Calculating booking costs takes time</a:t>
            </a:r>
          </a:p>
        </p:txBody>
      </p:sp>
      <p:sp>
        <p:nvSpPr>
          <p:cNvPr id="25" name="TextBox 25"/>
          <p:cNvSpPr txBox="1"/>
          <p:nvPr/>
        </p:nvSpPr>
        <p:spPr>
          <a:xfrm>
            <a:off x="6740640" y="7559087"/>
            <a:ext cx="3533186" cy="763269"/>
          </a:xfrm>
          <a:prstGeom prst="rect">
            <a:avLst/>
          </a:prstGeom>
        </p:spPr>
        <p:txBody>
          <a:bodyPr lIns="0" tIns="0" rIns="0" bIns="0" rtlCol="0" anchor="t">
            <a:spAutoFit/>
          </a:bodyPr>
          <a:lstStyle/>
          <a:p>
            <a:pPr algn="l">
              <a:lnSpc>
                <a:spcPts val="3080"/>
              </a:lnSpc>
              <a:spcBef>
                <a:spcPct val="0"/>
              </a:spcBef>
            </a:pPr>
            <a:r>
              <a:rPr lang="en-US" sz="2200" spc="-92">
                <a:solidFill>
                  <a:srgbClr val="000000"/>
                </a:solidFill>
                <a:latin typeface="Neue Machina"/>
                <a:ea typeface="Neue Machina"/>
                <a:cs typeface="Neue Machina"/>
                <a:sym typeface="Neue Machina"/>
              </a:rPr>
              <a:t>Calculating booking costs takes time</a:t>
            </a:r>
          </a:p>
        </p:txBody>
      </p:sp>
      <p:sp>
        <p:nvSpPr>
          <p:cNvPr id="26" name="TextBox 26"/>
          <p:cNvSpPr txBox="1"/>
          <p:nvPr/>
        </p:nvSpPr>
        <p:spPr>
          <a:xfrm>
            <a:off x="6740640" y="8486032"/>
            <a:ext cx="4151709" cy="746759"/>
          </a:xfrm>
          <a:prstGeom prst="rect">
            <a:avLst/>
          </a:prstGeom>
        </p:spPr>
        <p:txBody>
          <a:bodyPr lIns="0" tIns="0" rIns="0" bIns="0" rtlCol="0" anchor="t">
            <a:spAutoFit/>
          </a:bodyPr>
          <a:lstStyle/>
          <a:p>
            <a:pPr algn="l">
              <a:lnSpc>
                <a:spcPts val="2940"/>
              </a:lnSpc>
              <a:spcBef>
                <a:spcPct val="0"/>
              </a:spcBef>
            </a:pPr>
            <a:r>
              <a:rPr lang="en-US" sz="2100" spc="-88">
                <a:solidFill>
                  <a:srgbClr val="000000"/>
                </a:solidFill>
                <a:latin typeface="Neue Machina"/>
                <a:ea typeface="Neue Machina"/>
                <a:cs typeface="Neue Machina"/>
                <a:sym typeface="Neue Machina"/>
              </a:rPr>
              <a:t>The proposed Java system automates these basic operation</a:t>
            </a:r>
          </a:p>
        </p:txBody>
      </p:sp>
      <p:grpSp>
        <p:nvGrpSpPr>
          <p:cNvPr id="27" name="Group 27"/>
          <p:cNvGrpSpPr/>
          <p:nvPr/>
        </p:nvGrpSpPr>
        <p:grpSpPr>
          <a:xfrm>
            <a:off x="5583712" y="6746123"/>
            <a:ext cx="503681" cy="50368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29" name="TextBox 29"/>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5583712" y="7673354"/>
            <a:ext cx="503681" cy="503681"/>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32" name="TextBox 32"/>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5583712" y="8600586"/>
            <a:ext cx="503681" cy="50368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35" name="TextBox 35"/>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6804187" y="4844035"/>
            <a:ext cx="4088162" cy="701675"/>
          </a:xfrm>
          <a:prstGeom prst="rect">
            <a:avLst/>
          </a:prstGeom>
        </p:spPr>
        <p:txBody>
          <a:bodyPr lIns="0" tIns="0" rIns="0" bIns="0" rtlCol="0" anchor="t">
            <a:spAutoFit/>
          </a:bodyPr>
          <a:lstStyle/>
          <a:p>
            <a:pPr algn="l">
              <a:lnSpc>
                <a:spcPts val="2799"/>
              </a:lnSpc>
              <a:spcBef>
                <a:spcPct val="0"/>
              </a:spcBef>
            </a:pPr>
            <a:r>
              <a:rPr lang="en-US" sz="1999">
                <a:solidFill>
                  <a:srgbClr val="000000"/>
                </a:solidFill>
                <a:latin typeface="Neue Machina"/>
                <a:ea typeface="Neue Machina"/>
                <a:cs typeface="Neue Machina"/>
                <a:sym typeface="Neue Machina"/>
              </a:rPr>
              <a:t>Manual hotel booking can lead to errors</a:t>
            </a:r>
          </a:p>
        </p:txBody>
      </p:sp>
      <p:sp>
        <p:nvSpPr>
          <p:cNvPr id="37" name="TextBox 37"/>
          <p:cNvSpPr txBox="1"/>
          <p:nvPr/>
        </p:nvSpPr>
        <p:spPr>
          <a:xfrm>
            <a:off x="6740640" y="5761741"/>
            <a:ext cx="4151709" cy="746760"/>
          </a:xfrm>
          <a:prstGeom prst="rect">
            <a:avLst/>
          </a:prstGeom>
        </p:spPr>
        <p:txBody>
          <a:bodyPr lIns="0" tIns="0" rIns="0" bIns="0" rtlCol="0" anchor="t">
            <a:spAutoFit/>
          </a:bodyPr>
          <a:lstStyle/>
          <a:p>
            <a:pPr algn="l">
              <a:lnSpc>
                <a:spcPts val="2939"/>
              </a:lnSpc>
              <a:spcBef>
                <a:spcPct val="0"/>
              </a:spcBef>
            </a:pPr>
            <a:r>
              <a:rPr lang="en-US" sz="2099">
                <a:solidFill>
                  <a:srgbClr val="000000"/>
                </a:solidFill>
                <a:latin typeface="Neue Machina"/>
                <a:ea typeface="Neue Machina"/>
                <a:cs typeface="Neue Machina"/>
                <a:sym typeface="Neue Machina"/>
              </a:rPr>
              <a:t>Room availability is difficult to track manually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6243654" y="3193406"/>
            <a:ext cx="11015646" cy="0"/>
          </a:xfrm>
          <a:prstGeom prst="line">
            <a:avLst/>
          </a:prstGeom>
          <a:ln w="19050" cap="flat">
            <a:solidFill>
              <a:srgbClr val="000000"/>
            </a:solidFill>
            <a:prstDash val="solid"/>
            <a:headEnd type="none" w="sm" len="sm"/>
            <a:tailEnd type="none" w="sm" len="sm"/>
          </a:ln>
        </p:spPr>
      </p:sp>
      <p:sp>
        <p:nvSpPr>
          <p:cNvPr id="6" name="AutoShape 6"/>
          <p:cNvSpPr/>
          <p:nvPr/>
        </p:nvSpPr>
        <p:spPr>
          <a:xfrm>
            <a:off x="6243654" y="1028700"/>
            <a:ext cx="0" cy="8229600"/>
          </a:xfrm>
          <a:prstGeom prst="line">
            <a:avLst/>
          </a:prstGeom>
          <a:ln w="19050" cap="flat">
            <a:solidFill>
              <a:srgbClr val="000000"/>
            </a:solidFill>
            <a:prstDash val="solid"/>
            <a:headEnd type="none" w="sm" len="sm"/>
            <a:tailEnd type="none" w="sm" len="sm"/>
          </a:ln>
        </p:spPr>
      </p:sp>
      <p:sp>
        <p:nvSpPr>
          <p:cNvPr id="7" name="Freeform 7"/>
          <p:cNvSpPr/>
          <p:nvPr/>
        </p:nvSpPr>
        <p:spPr>
          <a:xfrm flipH="1">
            <a:off x="1279947" y="1942184"/>
            <a:ext cx="4825420" cy="6402633"/>
          </a:xfrm>
          <a:custGeom>
            <a:avLst/>
            <a:gdLst/>
            <a:ahLst/>
            <a:cxnLst/>
            <a:rect l="l" t="t" r="r" b="b"/>
            <a:pathLst>
              <a:path w="4825420" h="6402633">
                <a:moveTo>
                  <a:pt x="4825420" y="0"/>
                </a:moveTo>
                <a:lnTo>
                  <a:pt x="0" y="0"/>
                </a:lnTo>
                <a:lnTo>
                  <a:pt x="0" y="6402632"/>
                </a:lnTo>
                <a:lnTo>
                  <a:pt x="4825420" y="6402632"/>
                </a:lnTo>
                <a:lnTo>
                  <a:pt x="482542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7358079" y="2139940"/>
            <a:ext cx="8980879" cy="1043941"/>
          </a:xfrm>
          <a:prstGeom prst="rect">
            <a:avLst/>
          </a:prstGeom>
        </p:spPr>
        <p:txBody>
          <a:bodyPr lIns="0" tIns="0" rIns="0" bIns="0" rtlCol="0" anchor="t">
            <a:spAutoFit/>
          </a:bodyPr>
          <a:lstStyle/>
          <a:p>
            <a:pPr algn="l">
              <a:lnSpc>
                <a:spcPts val="7680"/>
              </a:lnSpc>
            </a:pPr>
            <a:r>
              <a:rPr lang="en-US" sz="8000" spc="-408">
                <a:solidFill>
                  <a:srgbClr val="000000"/>
                </a:solidFill>
                <a:latin typeface="Neue Machina"/>
                <a:ea typeface="Neue Machina"/>
                <a:cs typeface="Neue Machina"/>
                <a:sym typeface="Neue Machina"/>
              </a:rPr>
              <a:t>Features.</a:t>
            </a:r>
          </a:p>
        </p:txBody>
      </p:sp>
      <p:sp>
        <p:nvSpPr>
          <p:cNvPr id="9" name="TextBox 9"/>
          <p:cNvSpPr txBox="1"/>
          <p:nvPr/>
        </p:nvSpPr>
        <p:spPr>
          <a:xfrm>
            <a:off x="6386529" y="3529964"/>
            <a:ext cx="8868794" cy="5728336"/>
          </a:xfrm>
          <a:prstGeom prst="rect">
            <a:avLst/>
          </a:prstGeom>
        </p:spPr>
        <p:txBody>
          <a:bodyPr lIns="0" tIns="0" rIns="0" bIns="0" rtlCol="0" anchor="t">
            <a:spAutoFit/>
          </a:bodyPr>
          <a:lstStyle/>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Customer name input</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Room type selection</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Number of rooms</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Number of days</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Automatic price calculation</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Occupancy/availability tracking</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Membership classification</a:t>
            </a:r>
          </a:p>
          <a:p>
            <a:pPr marL="777234" lvl="1" indent="-388617" algn="just">
              <a:lnSpc>
                <a:spcPts val="5039"/>
              </a:lnSpc>
              <a:buFont typeface="Arial"/>
              <a:buChar char="•"/>
            </a:pPr>
            <a:r>
              <a:rPr lang="en-US" sz="3599">
                <a:solidFill>
                  <a:srgbClr val="000000"/>
                </a:solidFill>
                <a:latin typeface="Neue Machina"/>
                <a:ea typeface="Neue Machina"/>
                <a:cs typeface="Neue Machina"/>
                <a:sym typeface="Neue Machina"/>
              </a:rPr>
              <a:t>Total amount display</a:t>
            </a:r>
          </a:p>
          <a:p>
            <a:pPr algn="just">
              <a:lnSpc>
                <a:spcPts val="5039"/>
              </a:lnSpc>
              <a:spcBef>
                <a:spcPct val="0"/>
              </a:spcBef>
            </a:pPr>
            <a:endParaRPr lang="en-US" sz="3599">
              <a:solidFill>
                <a:srgbClr val="000000"/>
              </a:solidFill>
              <a:latin typeface="Neue Machina"/>
              <a:ea typeface="Neue Machina"/>
              <a:cs typeface="Neue Machina"/>
              <a:sym typeface="Neue Machi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4469506"/>
            <a:ext cx="16230600" cy="0"/>
          </a:xfrm>
          <a:prstGeom prst="line">
            <a:avLst/>
          </a:prstGeom>
          <a:ln w="19050" cap="flat">
            <a:solidFill>
              <a:srgbClr val="000000"/>
            </a:solidFill>
            <a:prstDash val="solid"/>
            <a:headEnd type="none" w="sm" len="sm"/>
            <a:tailEnd type="none" w="sm" len="sm"/>
          </a:ln>
        </p:spPr>
      </p:sp>
      <p:sp>
        <p:nvSpPr>
          <p:cNvPr id="6" name="AutoShape 6"/>
          <p:cNvSpPr/>
          <p:nvPr/>
        </p:nvSpPr>
        <p:spPr>
          <a:xfrm flipH="1">
            <a:off x="10000749" y="1028700"/>
            <a:ext cx="0" cy="3440806"/>
          </a:xfrm>
          <a:prstGeom prst="line">
            <a:avLst/>
          </a:prstGeom>
          <a:ln w="19050" cap="flat">
            <a:solidFill>
              <a:srgbClr val="000000"/>
            </a:solidFill>
            <a:prstDash val="solid"/>
            <a:headEnd type="none" w="sm" len="sm"/>
            <a:tailEnd type="none" w="sm" len="sm"/>
          </a:ln>
        </p:spPr>
      </p:sp>
      <p:sp>
        <p:nvSpPr>
          <p:cNvPr id="7" name="AutoShape 7"/>
          <p:cNvSpPr/>
          <p:nvPr/>
        </p:nvSpPr>
        <p:spPr>
          <a:xfrm>
            <a:off x="6301753" y="4469506"/>
            <a:ext cx="0" cy="4788794"/>
          </a:xfrm>
          <a:prstGeom prst="line">
            <a:avLst/>
          </a:prstGeom>
          <a:ln w="19050" cap="flat">
            <a:solidFill>
              <a:srgbClr val="000000"/>
            </a:solidFill>
            <a:prstDash val="solid"/>
            <a:headEnd type="none" w="sm" len="sm"/>
            <a:tailEnd type="none" w="sm" len="sm"/>
          </a:ln>
        </p:spPr>
      </p:sp>
      <p:sp>
        <p:nvSpPr>
          <p:cNvPr id="8" name="AutoShape 8"/>
          <p:cNvSpPr/>
          <p:nvPr/>
        </p:nvSpPr>
        <p:spPr>
          <a:xfrm>
            <a:off x="11119288" y="1067840"/>
            <a:ext cx="0" cy="3401666"/>
          </a:xfrm>
          <a:prstGeom prst="line">
            <a:avLst/>
          </a:prstGeom>
          <a:ln w="19050" cap="flat">
            <a:solidFill>
              <a:srgbClr val="000000"/>
            </a:solidFill>
            <a:prstDash val="solid"/>
            <a:headEnd type="none" w="sm" len="sm"/>
            <a:tailEnd type="none" w="sm" len="sm"/>
          </a:ln>
        </p:spPr>
      </p:sp>
      <p:grpSp>
        <p:nvGrpSpPr>
          <p:cNvPr id="9" name="Group 9"/>
          <p:cNvGrpSpPr/>
          <p:nvPr/>
        </p:nvGrpSpPr>
        <p:grpSpPr>
          <a:xfrm>
            <a:off x="10308178" y="1309809"/>
            <a:ext cx="503681" cy="50368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11" name="TextBox 11"/>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flipH="1">
            <a:off x="2032525" y="4809716"/>
            <a:ext cx="3569993" cy="4114800"/>
          </a:xfrm>
          <a:custGeom>
            <a:avLst/>
            <a:gdLst/>
            <a:ahLst/>
            <a:cxnLst/>
            <a:rect l="l" t="t" r="r" b="b"/>
            <a:pathLst>
              <a:path w="3569993" h="4114800">
                <a:moveTo>
                  <a:pt x="3569993" y="0"/>
                </a:moveTo>
                <a:lnTo>
                  <a:pt x="0" y="0"/>
                </a:lnTo>
                <a:lnTo>
                  <a:pt x="0" y="4114800"/>
                </a:lnTo>
                <a:lnTo>
                  <a:pt x="3569993" y="4114800"/>
                </a:lnTo>
                <a:lnTo>
                  <a:pt x="3569993"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Freeform 13"/>
          <p:cNvSpPr/>
          <p:nvPr/>
        </p:nvSpPr>
        <p:spPr>
          <a:xfrm>
            <a:off x="6749164" y="4888606"/>
            <a:ext cx="10128266" cy="4055553"/>
          </a:xfrm>
          <a:custGeom>
            <a:avLst/>
            <a:gdLst/>
            <a:ahLst/>
            <a:cxnLst/>
            <a:rect l="l" t="t" r="r" b="b"/>
            <a:pathLst>
              <a:path w="10128266" h="4055553">
                <a:moveTo>
                  <a:pt x="0" y="0"/>
                </a:moveTo>
                <a:lnTo>
                  <a:pt x="10128266" y="0"/>
                </a:lnTo>
                <a:lnTo>
                  <a:pt x="10128266" y="4055553"/>
                </a:lnTo>
                <a:lnTo>
                  <a:pt x="0" y="4055553"/>
                </a:lnTo>
                <a:lnTo>
                  <a:pt x="0" y="0"/>
                </a:lnTo>
                <a:close/>
              </a:path>
            </a:pathLst>
          </a:custGeom>
          <a:blipFill>
            <a:blip r:embed="rId3"/>
            <a:stretch>
              <a:fillRect/>
            </a:stretch>
          </a:blipFill>
        </p:spPr>
      </p:sp>
      <p:sp>
        <p:nvSpPr>
          <p:cNvPr id="14" name="TextBox 14"/>
          <p:cNvSpPr txBox="1"/>
          <p:nvPr/>
        </p:nvSpPr>
        <p:spPr>
          <a:xfrm>
            <a:off x="2061035" y="2015865"/>
            <a:ext cx="7082965" cy="1194808"/>
          </a:xfrm>
          <a:prstGeom prst="rect">
            <a:avLst/>
          </a:prstGeom>
        </p:spPr>
        <p:txBody>
          <a:bodyPr lIns="0" tIns="0" rIns="0" bIns="0" rtlCol="0" anchor="t">
            <a:spAutoFit/>
          </a:bodyPr>
          <a:lstStyle/>
          <a:p>
            <a:pPr algn="l">
              <a:lnSpc>
                <a:spcPts val="8831"/>
              </a:lnSpc>
            </a:pPr>
            <a:r>
              <a:rPr lang="en-US" sz="9199" spc="-469">
                <a:solidFill>
                  <a:srgbClr val="000000"/>
                </a:solidFill>
                <a:latin typeface="Neue Machina"/>
                <a:ea typeface="Neue Machina"/>
                <a:cs typeface="Neue Machina"/>
                <a:sym typeface="Neue Machina"/>
              </a:rPr>
              <a:t>Room Types.</a:t>
            </a:r>
          </a:p>
        </p:txBody>
      </p:sp>
      <p:sp>
        <p:nvSpPr>
          <p:cNvPr id="15" name="TextBox 15"/>
          <p:cNvSpPr txBox="1"/>
          <p:nvPr/>
        </p:nvSpPr>
        <p:spPr>
          <a:xfrm>
            <a:off x="11452398" y="1280344"/>
            <a:ext cx="5425031" cy="2803525"/>
          </a:xfrm>
          <a:prstGeom prst="rect">
            <a:avLst/>
          </a:prstGeom>
        </p:spPr>
        <p:txBody>
          <a:bodyPr lIns="0" tIns="0" rIns="0" bIns="0" rtlCol="0" anchor="t">
            <a:spAutoFit/>
          </a:bodyPr>
          <a:lstStyle/>
          <a:p>
            <a:pPr algn="l">
              <a:lnSpc>
                <a:spcPts val="5600"/>
              </a:lnSpc>
              <a:spcBef>
                <a:spcPct val="0"/>
              </a:spcBef>
            </a:pPr>
            <a:r>
              <a:rPr lang="en-US" sz="4000" spc="-168">
                <a:solidFill>
                  <a:srgbClr val="000000"/>
                </a:solidFill>
                <a:latin typeface="Neue Machina"/>
                <a:ea typeface="Neue Machina"/>
                <a:cs typeface="Neue Machina"/>
                <a:sym typeface="Neue Machina"/>
              </a:rPr>
              <a:t>Formula: Total Amount = Room Price × Number of Rooms × Number of Days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226561"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4682537"/>
            <a:ext cx="10095304" cy="0"/>
          </a:xfrm>
          <a:prstGeom prst="line">
            <a:avLst/>
          </a:prstGeom>
          <a:ln w="19050" cap="flat">
            <a:solidFill>
              <a:srgbClr val="000000"/>
            </a:solidFill>
            <a:prstDash val="solid"/>
            <a:headEnd type="none" w="sm" len="sm"/>
            <a:tailEnd type="none" w="sm" len="sm"/>
          </a:ln>
        </p:spPr>
      </p:sp>
      <p:sp>
        <p:nvSpPr>
          <p:cNvPr id="6" name="AutoShape 6"/>
          <p:cNvSpPr/>
          <p:nvPr/>
        </p:nvSpPr>
        <p:spPr>
          <a:xfrm>
            <a:off x="11124004" y="1028700"/>
            <a:ext cx="0" cy="8229600"/>
          </a:xfrm>
          <a:prstGeom prst="line">
            <a:avLst/>
          </a:prstGeom>
          <a:ln w="19050" cap="flat">
            <a:solidFill>
              <a:srgbClr val="000000"/>
            </a:solidFill>
            <a:prstDash val="solid"/>
            <a:headEnd type="none" w="sm" len="sm"/>
            <a:tailEnd type="none" w="sm" len="sm"/>
          </a:ln>
        </p:spPr>
      </p:sp>
      <p:sp>
        <p:nvSpPr>
          <p:cNvPr id="7" name="AutoShape 7"/>
          <p:cNvSpPr/>
          <p:nvPr/>
        </p:nvSpPr>
        <p:spPr>
          <a:xfrm>
            <a:off x="5098572" y="4682537"/>
            <a:ext cx="0" cy="4575763"/>
          </a:xfrm>
          <a:prstGeom prst="line">
            <a:avLst/>
          </a:prstGeom>
          <a:ln w="19050" cap="flat">
            <a:solidFill>
              <a:srgbClr val="000000"/>
            </a:solidFill>
            <a:prstDash val="solid"/>
            <a:headEnd type="none" w="sm" len="sm"/>
            <a:tailEnd type="none" w="sm" len="sm"/>
          </a:ln>
        </p:spPr>
      </p:sp>
      <p:sp>
        <p:nvSpPr>
          <p:cNvPr id="8" name="AutoShape 8"/>
          <p:cNvSpPr/>
          <p:nvPr/>
        </p:nvSpPr>
        <p:spPr>
          <a:xfrm flipH="1">
            <a:off x="6572533" y="4682537"/>
            <a:ext cx="0" cy="4609526"/>
          </a:xfrm>
          <a:prstGeom prst="line">
            <a:avLst/>
          </a:prstGeom>
          <a:ln w="19050" cap="flat">
            <a:solidFill>
              <a:srgbClr val="000000"/>
            </a:solidFill>
            <a:prstDash val="solid"/>
            <a:headEnd type="none" w="sm" len="sm"/>
            <a:tailEnd type="none" w="sm" len="sm"/>
          </a:ln>
        </p:spPr>
      </p:sp>
      <p:sp>
        <p:nvSpPr>
          <p:cNvPr id="9" name="AutoShape 9"/>
          <p:cNvSpPr/>
          <p:nvPr/>
        </p:nvSpPr>
        <p:spPr>
          <a:xfrm flipH="1">
            <a:off x="5098572" y="5615987"/>
            <a:ext cx="6025432" cy="0"/>
          </a:xfrm>
          <a:prstGeom prst="line">
            <a:avLst/>
          </a:prstGeom>
          <a:ln w="19050" cap="flat">
            <a:solidFill>
              <a:srgbClr val="000000"/>
            </a:solidFill>
            <a:prstDash val="solid"/>
            <a:headEnd type="none" w="sm" len="sm"/>
            <a:tailEnd type="none" w="sm" len="sm"/>
          </a:ln>
        </p:spPr>
      </p:sp>
      <p:sp>
        <p:nvSpPr>
          <p:cNvPr id="10" name="AutoShape 10"/>
          <p:cNvSpPr/>
          <p:nvPr/>
        </p:nvSpPr>
        <p:spPr>
          <a:xfrm flipH="1">
            <a:off x="5098572" y="6549437"/>
            <a:ext cx="6025432" cy="0"/>
          </a:xfrm>
          <a:prstGeom prst="line">
            <a:avLst/>
          </a:prstGeom>
          <a:ln w="19050" cap="flat">
            <a:solidFill>
              <a:srgbClr val="000000"/>
            </a:solidFill>
            <a:prstDash val="solid"/>
            <a:headEnd type="none" w="sm" len="sm"/>
            <a:tailEnd type="none" w="sm" len="sm"/>
          </a:ln>
        </p:spPr>
      </p:sp>
      <p:sp>
        <p:nvSpPr>
          <p:cNvPr id="11" name="Freeform 11"/>
          <p:cNvSpPr/>
          <p:nvPr/>
        </p:nvSpPr>
        <p:spPr>
          <a:xfrm>
            <a:off x="1799805" y="5017580"/>
            <a:ext cx="2570144" cy="3960767"/>
          </a:xfrm>
          <a:custGeom>
            <a:avLst/>
            <a:gdLst/>
            <a:ahLst/>
            <a:cxnLst/>
            <a:rect l="l" t="t" r="r" b="b"/>
            <a:pathLst>
              <a:path w="2570144" h="3960767">
                <a:moveTo>
                  <a:pt x="0" y="0"/>
                </a:moveTo>
                <a:lnTo>
                  <a:pt x="2570144" y="0"/>
                </a:lnTo>
                <a:lnTo>
                  <a:pt x="2570144" y="3960766"/>
                </a:lnTo>
                <a:lnTo>
                  <a:pt x="0" y="39607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AutoShape 12"/>
          <p:cNvSpPr/>
          <p:nvPr/>
        </p:nvSpPr>
        <p:spPr>
          <a:xfrm flipH="1">
            <a:off x="5098572" y="7482887"/>
            <a:ext cx="6025432" cy="0"/>
          </a:xfrm>
          <a:prstGeom prst="line">
            <a:avLst/>
          </a:prstGeom>
          <a:ln w="19050" cap="flat">
            <a:solidFill>
              <a:srgbClr val="000000"/>
            </a:solidFill>
            <a:prstDash val="solid"/>
            <a:headEnd type="none" w="sm" len="sm"/>
            <a:tailEnd type="none" w="sm" len="sm"/>
          </a:ln>
        </p:spPr>
      </p:sp>
      <p:sp>
        <p:nvSpPr>
          <p:cNvPr id="13" name="AutoShape 13"/>
          <p:cNvSpPr/>
          <p:nvPr/>
        </p:nvSpPr>
        <p:spPr>
          <a:xfrm flipH="1">
            <a:off x="5098572" y="8416337"/>
            <a:ext cx="6025432" cy="0"/>
          </a:xfrm>
          <a:prstGeom prst="line">
            <a:avLst/>
          </a:prstGeom>
          <a:ln w="19050" cap="flat">
            <a:solidFill>
              <a:srgbClr val="000000"/>
            </a:solidFill>
            <a:prstDash val="solid"/>
            <a:headEnd type="none" w="sm" len="sm"/>
            <a:tailEnd type="none" w="sm" len="sm"/>
          </a:ln>
        </p:spPr>
      </p:sp>
      <p:grpSp>
        <p:nvGrpSpPr>
          <p:cNvPr id="14" name="Group 14"/>
          <p:cNvGrpSpPr/>
          <p:nvPr/>
        </p:nvGrpSpPr>
        <p:grpSpPr>
          <a:xfrm>
            <a:off x="5583712" y="4891660"/>
            <a:ext cx="503681" cy="50368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16" name="TextBox 16"/>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5583712" y="5818891"/>
            <a:ext cx="503681" cy="50368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19" name="TextBox 19"/>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469357" y="1457371"/>
            <a:ext cx="9654647" cy="2987041"/>
          </a:xfrm>
          <a:prstGeom prst="rect">
            <a:avLst/>
          </a:prstGeom>
        </p:spPr>
        <p:txBody>
          <a:bodyPr lIns="0" tIns="0" rIns="0" bIns="0" rtlCol="0" anchor="t">
            <a:spAutoFit/>
          </a:bodyPr>
          <a:lstStyle/>
          <a:p>
            <a:pPr algn="l">
              <a:lnSpc>
                <a:spcPts val="7680"/>
              </a:lnSpc>
            </a:pPr>
            <a:r>
              <a:rPr lang="en-US" sz="8000" spc="-408">
                <a:solidFill>
                  <a:srgbClr val="000000"/>
                </a:solidFill>
                <a:latin typeface="Neue Machina"/>
                <a:ea typeface="Neue Machina"/>
                <a:cs typeface="Neue Machina"/>
                <a:sym typeface="Neue Machina"/>
              </a:rPr>
              <a:t>Membership Categories &amp; Java concepts used</a:t>
            </a:r>
          </a:p>
        </p:txBody>
      </p:sp>
      <p:sp>
        <p:nvSpPr>
          <p:cNvPr id="21" name="TextBox 21"/>
          <p:cNvSpPr txBox="1"/>
          <p:nvPr/>
        </p:nvSpPr>
        <p:spPr>
          <a:xfrm>
            <a:off x="11352604" y="2380578"/>
            <a:ext cx="5735246" cy="3325707"/>
          </a:xfrm>
          <a:prstGeom prst="rect">
            <a:avLst/>
          </a:prstGeom>
        </p:spPr>
        <p:txBody>
          <a:bodyPr lIns="0" tIns="0" rIns="0" bIns="0" rtlCol="0" anchor="t">
            <a:spAutoFit/>
          </a:bodyPr>
          <a:lstStyle/>
          <a:p>
            <a:pPr algn="just">
              <a:lnSpc>
                <a:spcPts val="4013"/>
              </a:lnSpc>
            </a:pPr>
            <a:r>
              <a:rPr lang="en-US" sz="2866">
                <a:solidFill>
                  <a:srgbClr val="000000"/>
                </a:solidFill>
                <a:latin typeface="Neue Machina"/>
                <a:ea typeface="Neue Machina"/>
                <a:cs typeface="Neue Machina"/>
                <a:sym typeface="Neue Machina"/>
              </a:rPr>
              <a:t>Variables, Data types, Operators, if-else-if, switch, for loop, while/do-while, Methods, Arrays, Scanner for user input, Basic OOP</a:t>
            </a:r>
          </a:p>
          <a:p>
            <a:pPr algn="just">
              <a:lnSpc>
                <a:spcPts val="3173"/>
              </a:lnSpc>
            </a:pPr>
            <a:endParaRPr lang="en-US" sz="2866">
              <a:solidFill>
                <a:srgbClr val="000000"/>
              </a:solidFill>
              <a:latin typeface="Neue Machina"/>
              <a:ea typeface="Neue Machina"/>
              <a:cs typeface="Neue Machina"/>
              <a:sym typeface="Neue Machina"/>
            </a:endParaRPr>
          </a:p>
          <a:p>
            <a:pPr algn="just">
              <a:lnSpc>
                <a:spcPts val="3173"/>
              </a:lnSpc>
              <a:spcBef>
                <a:spcPct val="0"/>
              </a:spcBef>
            </a:pPr>
            <a:endParaRPr lang="en-US" sz="2866">
              <a:solidFill>
                <a:srgbClr val="000000"/>
              </a:solidFill>
              <a:latin typeface="Neue Machina"/>
              <a:ea typeface="Neue Machina"/>
              <a:cs typeface="Neue Machina"/>
              <a:sym typeface="Neue Machina"/>
            </a:endParaRPr>
          </a:p>
        </p:txBody>
      </p:sp>
      <p:sp>
        <p:nvSpPr>
          <p:cNvPr id="22" name="TextBox 22"/>
          <p:cNvSpPr txBox="1"/>
          <p:nvPr/>
        </p:nvSpPr>
        <p:spPr>
          <a:xfrm>
            <a:off x="11352604" y="1478855"/>
            <a:ext cx="4423531" cy="606425"/>
          </a:xfrm>
          <a:prstGeom prst="rect">
            <a:avLst/>
          </a:prstGeom>
        </p:spPr>
        <p:txBody>
          <a:bodyPr lIns="0" tIns="0" rIns="0" bIns="0" rtlCol="0" anchor="t">
            <a:spAutoFit/>
          </a:bodyPr>
          <a:lstStyle/>
          <a:p>
            <a:pPr algn="l">
              <a:lnSpc>
                <a:spcPts val="4900"/>
              </a:lnSpc>
              <a:spcBef>
                <a:spcPct val="0"/>
              </a:spcBef>
            </a:pPr>
            <a:r>
              <a:rPr lang="en-US" sz="3500" spc="-147">
                <a:solidFill>
                  <a:srgbClr val="000000"/>
                </a:solidFill>
                <a:latin typeface="Neue Machina"/>
                <a:ea typeface="Neue Machina"/>
                <a:cs typeface="Neue Machina"/>
                <a:sym typeface="Neue Machina"/>
              </a:rPr>
              <a:t>Java concepts.</a:t>
            </a:r>
          </a:p>
        </p:txBody>
      </p:sp>
      <p:sp>
        <p:nvSpPr>
          <p:cNvPr id="23" name="TextBox 23"/>
          <p:cNvSpPr txBox="1"/>
          <p:nvPr/>
        </p:nvSpPr>
        <p:spPr>
          <a:xfrm>
            <a:off x="6972295" y="5874263"/>
            <a:ext cx="2769196" cy="448309"/>
          </a:xfrm>
          <a:prstGeom prst="rect">
            <a:avLst/>
          </a:prstGeom>
        </p:spPr>
        <p:txBody>
          <a:bodyPr lIns="0" tIns="0" rIns="0" bIns="0" rtlCol="0" anchor="t">
            <a:spAutoFit/>
          </a:bodyPr>
          <a:lstStyle/>
          <a:p>
            <a:pPr algn="l">
              <a:lnSpc>
                <a:spcPts val="3640"/>
              </a:lnSpc>
              <a:spcBef>
                <a:spcPct val="0"/>
              </a:spcBef>
            </a:pPr>
            <a:endParaRPr/>
          </a:p>
        </p:txBody>
      </p:sp>
      <p:sp>
        <p:nvSpPr>
          <p:cNvPr id="24" name="TextBox 24"/>
          <p:cNvSpPr txBox="1"/>
          <p:nvPr/>
        </p:nvSpPr>
        <p:spPr>
          <a:xfrm>
            <a:off x="6740640" y="6552194"/>
            <a:ext cx="4151709" cy="905509"/>
          </a:xfrm>
          <a:prstGeom prst="rect">
            <a:avLst/>
          </a:prstGeom>
        </p:spPr>
        <p:txBody>
          <a:bodyPr lIns="0" tIns="0" rIns="0" bIns="0" rtlCol="0" anchor="t">
            <a:spAutoFit/>
          </a:bodyPr>
          <a:lstStyle/>
          <a:p>
            <a:pPr algn="l">
              <a:lnSpc>
                <a:spcPts val="3640"/>
              </a:lnSpc>
            </a:pPr>
            <a:r>
              <a:rPr lang="en-US" sz="2600" spc="-109">
                <a:solidFill>
                  <a:srgbClr val="000000"/>
                </a:solidFill>
                <a:latin typeface="Neue Machina"/>
                <a:ea typeface="Neue Machina"/>
                <a:cs typeface="Neue Machina"/>
                <a:sym typeface="Neue Machina"/>
              </a:rPr>
              <a:t>Gold: ₹10,000–₹14,999</a:t>
            </a:r>
          </a:p>
          <a:p>
            <a:pPr algn="l">
              <a:lnSpc>
                <a:spcPts val="3640"/>
              </a:lnSpc>
              <a:spcBef>
                <a:spcPct val="0"/>
              </a:spcBef>
            </a:pPr>
            <a:endParaRPr lang="en-US" sz="2600" spc="-109">
              <a:solidFill>
                <a:srgbClr val="000000"/>
              </a:solidFill>
              <a:latin typeface="Neue Machina"/>
              <a:ea typeface="Neue Machina"/>
              <a:cs typeface="Neue Machina"/>
              <a:sym typeface="Neue Machina"/>
            </a:endParaRPr>
          </a:p>
        </p:txBody>
      </p:sp>
      <p:sp>
        <p:nvSpPr>
          <p:cNvPr id="25" name="TextBox 25"/>
          <p:cNvSpPr txBox="1"/>
          <p:nvPr/>
        </p:nvSpPr>
        <p:spPr>
          <a:xfrm>
            <a:off x="6834343" y="7540037"/>
            <a:ext cx="3533186" cy="905510"/>
          </a:xfrm>
          <a:prstGeom prst="rect">
            <a:avLst/>
          </a:prstGeom>
        </p:spPr>
        <p:txBody>
          <a:bodyPr lIns="0" tIns="0" rIns="0" bIns="0" rtlCol="0" anchor="t">
            <a:spAutoFit/>
          </a:bodyPr>
          <a:lstStyle/>
          <a:p>
            <a:pPr algn="l">
              <a:lnSpc>
                <a:spcPts val="3640"/>
              </a:lnSpc>
              <a:spcBef>
                <a:spcPct val="0"/>
              </a:spcBef>
            </a:pPr>
            <a:r>
              <a:rPr lang="en-US" sz="2600" spc="-109">
                <a:solidFill>
                  <a:srgbClr val="000000"/>
                </a:solidFill>
                <a:latin typeface="Neue Machina"/>
                <a:ea typeface="Neue Machina"/>
                <a:cs typeface="Neue Machina"/>
                <a:sym typeface="Neue Machina"/>
              </a:rPr>
              <a:t>Platinum: ₹15,000 and above</a:t>
            </a:r>
          </a:p>
        </p:txBody>
      </p:sp>
      <p:grpSp>
        <p:nvGrpSpPr>
          <p:cNvPr id="26" name="Group 26"/>
          <p:cNvGrpSpPr/>
          <p:nvPr/>
        </p:nvGrpSpPr>
        <p:grpSpPr>
          <a:xfrm>
            <a:off x="5583712" y="6746123"/>
            <a:ext cx="503681" cy="503681"/>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28" name="TextBox 28"/>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5583712" y="7673354"/>
            <a:ext cx="503681" cy="503681"/>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31" name="TextBox 31"/>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6804187" y="4834510"/>
            <a:ext cx="4088162" cy="448311"/>
          </a:xfrm>
          <a:prstGeom prst="rect">
            <a:avLst/>
          </a:prstGeom>
        </p:spPr>
        <p:txBody>
          <a:bodyPr lIns="0" tIns="0" rIns="0" bIns="0" rtlCol="0" anchor="t">
            <a:spAutoFit/>
          </a:bodyPr>
          <a:lstStyle/>
          <a:p>
            <a:pPr algn="l">
              <a:lnSpc>
                <a:spcPts val="3639"/>
              </a:lnSpc>
              <a:spcBef>
                <a:spcPct val="0"/>
              </a:spcBef>
            </a:pPr>
            <a:r>
              <a:rPr lang="en-US" sz="2599">
                <a:solidFill>
                  <a:srgbClr val="000000"/>
                </a:solidFill>
                <a:latin typeface="Neue Machina"/>
                <a:ea typeface="Neue Machina"/>
                <a:cs typeface="Neue Machina"/>
                <a:sym typeface="Neue Machina"/>
              </a:rPr>
              <a:t>Basic: Below ₹5,000</a:t>
            </a:r>
          </a:p>
        </p:txBody>
      </p:sp>
      <p:sp>
        <p:nvSpPr>
          <p:cNvPr id="33" name="TextBox 33"/>
          <p:cNvSpPr txBox="1"/>
          <p:nvPr/>
        </p:nvSpPr>
        <p:spPr>
          <a:xfrm>
            <a:off x="6834343" y="5635253"/>
            <a:ext cx="4151709" cy="1362710"/>
          </a:xfrm>
          <a:prstGeom prst="rect">
            <a:avLst/>
          </a:prstGeom>
        </p:spPr>
        <p:txBody>
          <a:bodyPr lIns="0" tIns="0" rIns="0" bIns="0" rtlCol="0" anchor="t">
            <a:spAutoFit/>
          </a:bodyPr>
          <a:lstStyle/>
          <a:p>
            <a:pPr algn="l">
              <a:lnSpc>
                <a:spcPts val="3640"/>
              </a:lnSpc>
            </a:pPr>
            <a:r>
              <a:rPr lang="en-US" sz="2600">
                <a:solidFill>
                  <a:srgbClr val="000000"/>
                </a:solidFill>
                <a:latin typeface="Neue Machina"/>
                <a:ea typeface="Neue Machina"/>
                <a:cs typeface="Neue Machina"/>
                <a:sym typeface="Neue Machina"/>
              </a:rPr>
              <a:t>Silver: ₹5,000–₹9,999</a:t>
            </a:r>
          </a:p>
          <a:p>
            <a:pPr algn="l">
              <a:lnSpc>
                <a:spcPts val="3640"/>
              </a:lnSpc>
            </a:pPr>
            <a:endParaRPr lang="en-US" sz="2600">
              <a:solidFill>
                <a:srgbClr val="000000"/>
              </a:solidFill>
              <a:latin typeface="Neue Machina"/>
              <a:ea typeface="Neue Machina"/>
              <a:cs typeface="Neue Machina"/>
              <a:sym typeface="Neue Machina"/>
            </a:endParaRPr>
          </a:p>
          <a:p>
            <a:pPr algn="l">
              <a:lnSpc>
                <a:spcPts val="3640"/>
              </a:lnSpc>
              <a:spcBef>
                <a:spcPct val="0"/>
              </a:spcBef>
            </a:pPr>
            <a:endParaRPr lang="en-US" sz="2600">
              <a:solidFill>
                <a:srgbClr val="000000"/>
              </a:solidFill>
              <a:latin typeface="Neue Machina"/>
              <a:ea typeface="Neue Machina"/>
              <a:cs typeface="Neue Machina"/>
              <a:sym typeface="Neue Machina"/>
            </a:endParaRPr>
          </a:p>
        </p:txBody>
      </p:sp>
      <p:sp>
        <p:nvSpPr>
          <p:cNvPr id="34" name="TextBox 34"/>
          <p:cNvSpPr txBox="1"/>
          <p:nvPr/>
        </p:nvSpPr>
        <p:spPr>
          <a:xfrm>
            <a:off x="5583712" y="8493172"/>
            <a:ext cx="3533186" cy="448310"/>
          </a:xfrm>
          <a:prstGeom prst="rect">
            <a:avLst/>
          </a:prstGeom>
        </p:spPr>
        <p:txBody>
          <a:bodyPr lIns="0" tIns="0" rIns="0" bIns="0" rtlCol="0" anchor="t">
            <a:spAutoFit/>
          </a:bodyPr>
          <a:lstStyle/>
          <a:p>
            <a:pPr algn="l">
              <a:lnSpc>
                <a:spcPts val="3640"/>
              </a:lnSpc>
              <a:spcBef>
                <a:spcPct val="0"/>
              </a:spcBef>
            </a:pPr>
            <a:r>
              <a:rPr lang="en-US" sz="2600" b="1" spc="-109">
                <a:solidFill>
                  <a:srgbClr val="000000"/>
                </a:solidFill>
                <a:latin typeface="Neue Machina Ultra-Bold"/>
                <a:ea typeface="Neue Machina Ultra-Bold"/>
                <a:cs typeface="Neue Machina Ultra-Bold"/>
                <a:sym typeface="Neue Machina Ultra-Bold"/>
              </a:rPr>
              <a:t>EX:</a:t>
            </a:r>
          </a:p>
        </p:txBody>
      </p:sp>
      <p:sp>
        <p:nvSpPr>
          <p:cNvPr id="35" name="TextBox 35"/>
          <p:cNvSpPr txBox="1"/>
          <p:nvPr/>
        </p:nvSpPr>
        <p:spPr>
          <a:xfrm>
            <a:off x="6834343" y="7964217"/>
            <a:ext cx="4289661" cy="1764030"/>
          </a:xfrm>
          <a:prstGeom prst="rect">
            <a:avLst/>
          </a:prstGeom>
        </p:spPr>
        <p:txBody>
          <a:bodyPr lIns="0" tIns="0" rIns="0" bIns="0" rtlCol="0" anchor="t">
            <a:spAutoFit/>
          </a:bodyPr>
          <a:lstStyle/>
          <a:p>
            <a:pPr algn="l">
              <a:lnSpc>
                <a:spcPts val="3640"/>
              </a:lnSpc>
            </a:pPr>
            <a:endParaRPr/>
          </a:p>
          <a:p>
            <a:pPr algn="l">
              <a:lnSpc>
                <a:spcPts val="3500"/>
              </a:lnSpc>
              <a:spcBef>
                <a:spcPct val="0"/>
              </a:spcBef>
            </a:pPr>
            <a:r>
              <a:rPr lang="en-US" sz="2500">
                <a:solidFill>
                  <a:srgbClr val="000000"/>
                </a:solidFill>
                <a:latin typeface="Neue Machina"/>
                <a:ea typeface="Neue Machina"/>
                <a:cs typeface="Neue Machina"/>
                <a:sym typeface="Neue Machina"/>
              </a:rPr>
              <a:t>Deluxe Room × 1 Room × 3.5 Days ≈ ₹10,500 →Gold Gold Memberd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3780612"/>
            <a:ext cx="16230600" cy="0"/>
          </a:xfrm>
          <a:prstGeom prst="line">
            <a:avLst/>
          </a:prstGeom>
          <a:ln w="19050" cap="flat">
            <a:solidFill>
              <a:srgbClr val="000000"/>
            </a:solidFill>
            <a:prstDash val="solid"/>
            <a:headEnd type="none" w="sm" len="sm"/>
            <a:tailEnd type="none" w="sm" len="sm"/>
          </a:ln>
        </p:spPr>
      </p:sp>
      <p:sp>
        <p:nvSpPr>
          <p:cNvPr id="6" name="AutoShape 6"/>
          <p:cNvSpPr/>
          <p:nvPr/>
        </p:nvSpPr>
        <p:spPr>
          <a:xfrm>
            <a:off x="10162965" y="1028700"/>
            <a:ext cx="0" cy="8229600"/>
          </a:xfrm>
          <a:prstGeom prst="line">
            <a:avLst/>
          </a:prstGeom>
          <a:ln w="19050" cap="flat">
            <a:solidFill>
              <a:srgbClr val="000000"/>
            </a:solidFill>
            <a:prstDash val="solid"/>
            <a:headEnd type="none" w="sm" len="sm"/>
            <a:tailEnd type="none" w="sm" len="sm"/>
          </a:ln>
        </p:spPr>
      </p:sp>
      <p:sp>
        <p:nvSpPr>
          <p:cNvPr id="7" name="TextBox 7"/>
          <p:cNvSpPr txBox="1"/>
          <p:nvPr/>
        </p:nvSpPr>
        <p:spPr>
          <a:xfrm>
            <a:off x="1349484" y="2041346"/>
            <a:ext cx="7794516" cy="1043941"/>
          </a:xfrm>
          <a:prstGeom prst="rect">
            <a:avLst/>
          </a:prstGeom>
        </p:spPr>
        <p:txBody>
          <a:bodyPr lIns="0" tIns="0" rIns="0" bIns="0" rtlCol="0" anchor="t">
            <a:spAutoFit/>
          </a:bodyPr>
          <a:lstStyle/>
          <a:p>
            <a:pPr algn="l">
              <a:lnSpc>
                <a:spcPts val="7680"/>
              </a:lnSpc>
            </a:pPr>
            <a:r>
              <a:rPr lang="en-US" sz="8000" spc="-408">
                <a:solidFill>
                  <a:srgbClr val="000000"/>
                </a:solidFill>
                <a:latin typeface="Neue Machina"/>
                <a:ea typeface="Neue Machina"/>
                <a:cs typeface="Neue Machina"/>
                <a:sym typeface="Neue Machina"/>
              </a:rPr>
              <a:t>Program Flow.</a:t>
            </a:r>
          </a:p>
        </p:txBody>
      </p:sp>
      <p:sp>
        <p:nvSpPr>
          <p:cNvPr id="8" name="TextBox 8"/>
          <p:cNvSpPr txBox="1"/>
          <p:nvPr/>
        </p:nvSpPr>
        <p:spPr>
          <a:xfrm>
            <a:off x="1475172" y="4409262"/>
            <a:ext cx="8071360" cy="3079115"/>
          </a:xfrm>
          <a:prstGeom prst="rect">
            <a:avLst/>
          </a:prstGeom>
        </p:spPr>
        <p:txBody>
          <a:bodyPr lIns="0" tIns="0" rIns="0" bIns="0" rtlCol="0" anchor="t">
            <a:spAutoFit/>
          </a:bodyPr>
          <a:lstStyle/>
          <a:p>
            <a:pPr algn="just">
              <a:lnSpc>
                <a:spcPts val="4059"/>
              </a:lnSpc>
              <a:spcBef>
                <a:spcPct val="0"/>
              </a:spcBef>
            </a:pPr>
            <a:r>
              <a:rPr lang="en-US" sz="2899">
                <a:solidFill>
                  <a:srgbClr val="000000"/>
                </a:solidFill>
                <a:latin typeface="Neue Machina"/>
                <a:ea typeface="Neue Machina"/>
                <a:cs typeface="Neue Machina"/>
                <a:sym typeface="Neue Machina"/>
              </a:rPr>
              <a:t>Start → Enter customer details → Select room type → Enter number of rooms → Enter number of days → Calculate total amount → Check membership category → Check room occupancy → Display booking details → End</a:t>
            </a:r>
          </a:p>
        </p:txBody>
      </p:sp>
      <p:sp>
        <p:nvSpPr>
          <p:cNvPr id="9" name="TextBox 9"/>
          <p:cNvSpPr txBox="1"/>
          <p:nvPr/>
        </p:nvSpPr>
        <p:spPr>
          <a:xfrm>
            <a:off x="10162965" y="4409262"/>
            <a:ext cx="7971850" cy="4481196"/>
          </a:xfrm>
          <a:prstGeom prst="rect">
            <a:avLst/>
          </a:prstGeom>
        </p:spPr>
        <p:txBody>
          <a:bodyPr lIns="0" tIns="0" rIns="0" bIns="0" rtlCol="0" anchor="t">
            <a:spAutoFit/>
          </a:bodyPr>
          <a:lstStyle/>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Easy to use</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Fast calculations</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Reduces human errors</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Tracks room occupancy</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Organizes booking information</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Simple Java implementation</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Can be expanded for real hotel</a:t>
            </a:r>
          </a:p>
          <a:p>
            <a:pPr marL="690872" lvl="1" indent="-345436" algn="l">
              <a:lnSpc>
                <a:spcPts val="4479"/>
              </a:lnSpc>
              <a:buFont typeface="Arial"/>
              <a:buChar char="•"/>
            </a:pPr>
            <a:r>
              <a:rPr lang="en-US" sz="3199">
                <a:solidFill>
                  <a:srgbClr val="000000"/>
                </a:solidFill>
                <a:latin typeface="Neue Machina"/>
                <a:ea typeface="Neue Machina"/>
                <a:cs typeface="Neue Machina"/>
                <a:sym typeface="Neue Machina"/>
              </a:rPr>
              <a:t> management</a:t>
            </a:r>
          </a:p>
        </p:txBody>
      </p:sp>
      <p:sp>
        <p:nvSpPr>
          <p:cNvPr id="10" name="TextBox 10"/>
          <p:cNvSpPr txBox="1"/>
          <p:nvPr/>
        </p:nvSpPr>
        <p:spPr>
          <a:xfrm>
            <a:off x="10162965" y="2041346"/>
            <a:ext cx="7794516" cy="1043941"/>
          </a:xfrm>
          <a:prstGeom prst="rect">
            <a:avLst/>
          </a:prstGeom>
        </p:spPr>
        <p:txBody>
          <a:bodyPr lIns="0" tIns="0" rIns="0" bIns="0" rtlCol="0" anchor="t">
            <a:spAutoFit/>
          </a:bodyPr>
          <a:lstStyle/>
          <a:p>
            <a:pPr algn="l">
              <a:lnSpc>
                <a:spcPts val="7680"/>
              </a:lnSpc>
            </a:pPr>
            <a:r>
              <a:rPr lang="en-US" sz="8000" spc="-408">
                <a:solidFill>
                  <a:srgbClr val="000000"/>
                </a:solidFill>
                <a:latin typeface="Neue Machina"/>
                <a:ea typeface="Neue Machina"/>
                <a:cs typeface="Neue Machina"/>
                <a:sym typeface="Neue Machina"/>
              </a:rPr>
              <a:t>Advantages.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966170" y="3443083"/>
            <a:ext cx="16293130" cy="0"/>
          </a:xfrm>
          <a:prstGeom prst="line">
            <a:avLst/>
          </a:prstGeom>
          <a:ln w="19050" cap="flat">
            <a:solidFill>
              <a:srgbClr val="000000"/>
            </a:solidFill>
            <a:prstDash val="solid"/>
            <a:headEnd type="none" w="sm" len="sm"/>
            <a:tailEnd type="none" w="sm" len="sm"/>
          </a:ln>
        </p:spPr>
      </p:sp>
      <p:sp>
        <p:nvSpPr>
          <p:cNvPr id="6" name="AutoShape 6"/>
          <p:cNvSpPr/>
          <p:nvPr/>
        </p:nvSpPr>
        <p:spPr>
          <a:xfrm flipH="1">
            <a:off x="11124004" y="3443083"/>
            <a:ext cx="0" cy="5815217"/>
          </a:xfrm>
          <a:prstGeom prst="line">
            <a:avLst/>
          </a:prstGeom>
          <a:ln w="19050" cap="flat">
            <a:solidFill>
              <a:srgbClr val="000000"/>
            </a:solidFill>
            <a:prstDash val="solid"/>
            <a:headEnd type="none" w="sm" len="sm"/>
            <a:tailEnd type="none" w="sm" len="sm"/>
          </a:ln>
        </p:spPr>
      </p:sp>
      <p:sp>
        <p:nvSpPr>
          <p:cNvPr id="7" name="Freeform 7"/>
          <p:cNvSpPr/>
          <p:nvPr/>
        </p:nvSpPr>
        <p:spPr>
          <a:xfrm>
            <a:off x="11963413" y="3647728"/>
            <a:ext cx="4122857" cy="5068311"/>
          </a:xfrm>
          <a:custGeom>
            <a:avLst/>
            <a:gdLst/>
            <a:ahLst/>
            <a:cxnLst/>
            <a:rect l="l" t="t" r="r" b="b"/>
            <a:pathLst>
              <a:path w="4122857" h="5068311">
                <a:moveTo>
                  <a:pt x="0" y="0"/>
                </a:moveTo>
                <a:lnTo>
                  <a:pt x="4122857" y="0"/>
                </a:lnTo>
                <a:lnTo>
                  <a:pt x="4122857" y="5068311"/>
                </a:lnTo>
                <a:lnTo>
                  <a:pt x="0" y="506831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5246742" y="2042206"/>
            <a:ext cx="7794516" cy="1043941"/>
          </a:xfrm>
          <a:prstGeom prst="rect">
            <a:avLst/>
          </a:prstGeom>
        </p:spPr>
        <p:txBody>
          <a:bodyPr lIns="0" tIns="0" rIns="0" bIns="0" rtlCol="0" anchor="t">
            <a:spAutoFit/>
          </a:bodyPr>
          <a:lstStyle/>
          <a:p>
            <a:pPr algn="ctr">
              <a:lnSpc>
                <a:spcPts val="7680"/>
              </a:lnSpc>
            </a:pPr>
            <a:r>
              <a:rPr lang="en-US" sz="8000" spc="-408">
                <a:solidFill>
                  <a:srgbClr val="000000"/>
                </a:solidFill>
                <a:latin typeface="Neue Machina"/>
                <a:ea typeface="Neue Machina"/>
                <a:cs typeface="Neue Machina"/>
                <a:sym typeface="Neue Machina"/>
              </a:rPr>
              <a:t>Conclusion</a:t>
            </a:r>
          </a:p>
        </p:txBody>
      </p:sp>
      <p:sp>
        <p:nvSpPr>
          <p:cNvPr id="9" name="TextBox 9"/>
          <p:cNvSpPr txBox="1"/>
          <p:nvPr/>
        </p:nvSpPr>
        <p:spPr>
          <a:xfrm>
            <a:off x="1356294" y="3728833"/>
            <a:ext cx="9151276" cy="5324474"/>
          </a:xfrm>
          <a:prstGeom prst="rect">
            <a:avLst/>
          </a:prstGeom>
        </p:spPr>
        <p:txBody>
          <a:bodyPr lIns="0" tIns="0" rIns="0" bIns="0" rtlCol="0" anchor="t">
            <a:spAutoFit/>
          </a:bodyPr>
          <a:lstStyle/>
          <a:p>
            <a:pPr marL="647706" lvl="1" indent="-323853" algn="l">
              <a:lnSpc>
                <a:spcPts val="4200"/>
              </a:lnSpc>
              <a:buFont typeface="Arial"/>
              <a:buChar char="•"/>
            </a:pPr>
            <a:r>
              <a:rPr lang="en-US" sz="3000" spc="-126">
                <a:solidFill>
                  <a:srgbClr val="000000"/>
                </a:solidFill>
                <a:latin typeface="Neue Machina"/>
                <a:ea typeface="Neue Machina"/>
                <a:cs typeface="Neue Machina"/>
                <a:sym typeface="Neue Machina"/>
              </a:rPr>
              <a:t>The Hotel Booking &amp; Occupancy Manager provides a simple solution for managing hotel bookings</a:t>
            </a:r>
          </a:p>
          <a:p>
            <a:pPr marL="647706" lvl="1" indent="-323853" algn="l">
              <a:lnSpc>
                <a:spcPts val="4200"/>
              </a:lnSpc>
              <a:buFont typeface="Arial"/>
              <a:buChar char="•"/>
            </a:pPr>
            <a:r>
              <a:rPr lang="en-US" sz="3000" spc="-126">
                <a:solidFill>
                  <a:srgbClr val="000000"/>
                </a:solidFill>
                <a:latin typeface="Neue Machina"/>
                <a:ea typeface="Neue Machina"/>
                <a:cs typeface="Neue Machina"/>
                <a:sym typeface="Neue Machina"/>
              </a:rPr>
              <a:t>Java programming concepts are used to automate calculations and decision-making</a:t>
            </a:r>
          </a:p>
          <a:p>
            <a:pPr marL="647706" lvl="1" indent="-323853" algn="l">
              <a:lnSpc>
                <a:spcPts val="4200"/>
              </a:lnSpc>
              <a:buFont typeface="Arial"/>
              <a:buChar char="•"/>
            </a:pPr>
            <a:r>
              <a:rPr lang="en-US" sz="3000" spc="-126">
                <a:solidFill>
                  <a:srgbClr val="000000"/>
                </a:solidFill>
                <a:latin typeface="Neue Machina"/>
                <a:ea typeface="Neue Machina"/>
                <a:cs typeface="Neue Machina"/>
                <a:sym typeface="Neue Machina"/>
              </a:rPr>
              <a:t>The system improves accuracy and makes booking management easier</a:t>
            </a:r>
          </a:p>
          <a:p>
            <a:pPr marL="647706" lvl="1" indent="-323853" algn="l">
              <a:lnSpc>
                <a:spcPts val="4200"/>
              </a:lnSpc>
              <a:buFont typeface="Arial"/>
              <a:buChar char="•"/>
            </a:pPr>
            <a:r>
              <a:rPr lang="en-US" sz="3000" spc="-126">
                <a:solidFill>
                  <a:srgbClr val="000000"/>
                </a:solidFill>
                <a:latin typeface="Neue Machina"/>
                <a:ea typeface="Neue Machina"/>
                <a:cs typeface="Neue Machina"/>
                <a:sym typeface="Neue Machina"/>
              </a:rPr>
              <a:t>It can be further developed into a complete hotel management application</a:t>
            </a:r>
          </a:p>
          <a:p>
            <a:pPr algn="l">
              <a:lnSpc>
                <a:spcPts val="4200"/>
              </a:lnSpc>
              <a:spcBef>
                <a:spcPct val="0"/>
              </a:spcBef>
            </a:pPr>
            <a:endParaRPr lang="en-US" sz="3000" spc="-126">
              <a:solidFill>
                <a:srgbClr val="000000"/>
              </a:solidFill>
              <a:latin typeface="Neue Machina"/>
              <a:ea typeface="Neue Machina"/>
              <a:cs typeface="Neue Machina"/>
              <a:sym typeface="Neue Machi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FFFFF"/>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2149620"/>
            <a:ext cx="16230600" cy="0"/>
          </a:xfrm>
          <a:prstGeom prst="line">
            <a:avLst/>
          </a:prstGeom>
          <a:ln w="19050" cap="flat">
            <a:solidFill>
              <a:srgbClr val="000000"/>
            </a:solidFill>
            <a:prstDash val="solid"/>
            <a:headEnd type="none" w="sm" len="sm"/>
            <a:tailEnd type="none" w="sm" len="sm"/>
          </a:ln>
        </p:spPr>
      </p:sp>
      <p:sp>
        <p:nvSpPr>
          <p:cNvPr id="6" name="AutoShape 6"/>
          <p:cNvSpPr/>
          <p:nvPr/>
        </p:nvSpPr>
        <p:spPr>
          <a:xfrm>
            <a:off x="1028700" y="6522736"/>
            <a:ext cx="8115300" cy="0"/>
          </a:xfrm>
          <a:prstGeom prst="line">
            <a:avLst/>
          </a:prstGeom>
          <a:ln w="19050" cap="flat">
            <a:solidFill>
              <a:srgbClr val="000000"/>
            </a:solidFill>
            <a:prstDash val="solid"/>
            <a:headEnd type="none" w="sm" len="sm"/>
            <a:tailEnd type="none" w="sm" len="sm"/>
          </a:ln>
        </p:spPr>
      </p:sp>
      <p:sp>
        <p:nvSpPr>
          <p:cNvPr id="7" name="AutoShape 7"/>
          <p:cNvSpPr/>
          <p:nvPr/>
        </p:nvSpPr>
        <p:spPr>
          <a:xfrm>
            <a:off x="9144000" y="2149620"/>
            <a:ext cx="0" cy="7108680"/>
          </a:xfrm>
          <a:prstGeom prst="line">
            <a:avLst/>
          </a:prstGeom>
          <a:ln w="19050" cap="flat">
            <a:solidFill>
              <a:srgbClr val="000000"/>
            </a:solidFill>
            <a:prstDash val="solid"/>
            <a:headEnd type="none" w="sm" len="sm"/>
            <a:tailEnd type="none" w="sm" len="sm"/>
          </a:ln>
        </p:spPr>
      </p:sp>
      <p:sp>
        <p:nvSpPr>
          <p:cNvPr id="8" name="Freeform 8"/>
          <p:cNvSpPr/>
          <p:nvPr/>
        </p:nvSpPr>
        <p:spPr>
          <a:xfrm>
            <a:off x="9893731" y="2711546"/>
            <a:ext cx="6435795" cy="5386015"/>
          </a:xfrm>
          <a:custGeom>
            <a:avLst/>
            <a:gdLst/>
            <a:ahLst/>
            <a:cxnLst/>
            <a:rect l="l" t="t" r="r" b="b"/>
            <a:pathLst>
              <a:path w="6435795" h="5386015">
                <a:moveTo>
                  <a:pt x="0" y="0"/>
                </a:moveTo>
                <a:lnTo>
                  <a:pt x="6435795" y="0"/>
                </a:lnTo>
                <a:lnTo>
                  <a:pt x="6435795" y="5386015"/>
                </a:lnTo>
                <a:lnTo>
                  <a:pt x="0" y="538601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2026997" y="3083070"/>
            <a:ext cx="6182305" cy="3259463"/>
          </a:xfrm>
          <a:prstGeom prst="rect">
            <a:avLst/>
          </a:prstGeom>
        </p:spPr>
        <p:txBody>
          <a:bodyPr lIns="0" tIns="0" rIns="0" bIns="0" rtlCol="0" anchor="t">
            <a:spAutoFit/>
          </a:bodyPr>
          <a:lstStyle/>
          <a:p>
            <a:pPr algn="l">
              <a:lnSpc>
                <a:spcPts val="12006"/>
              </a:lnSpc>
            </a:pPr>
            <a:r>
              <a:rPr lang="en-US" sz="15393" spc="-785">
                <a:solidFill>
                  <a:srgbClr val="000000"/>
                </a:solidFill>
                <a:latin typeface="Neue Machina"/>
                <a:ea typeface="Neue Machina"/>
                <a:cs typeface="Neue Machina"/>
                <a:sym typeface="Neue Machina"/>
              </a:rPr>
              <a:t>Thank</a:t>
            </a:r>
          </a:p>
          <a:p>
            <a:pPr algn="l">
              <a:lnSpc>
                <a:spcPts val="12006"/>
              </a:lnSpc>
            </a:pPr>
            <a:r>
              <a:rPr lang="en-US" sz="15393" spc="-785">
                <a:solidFill>
                  <a:srgbClr val="000000"/>
                </a:solidFill>
                <a:latin typeface="Neue Machina"/>
                <a:ea typeface="Neue Machina"/>
                <a:cs typeface="Neue Machina"/>
                <a:sym typeface="Neue Machina"/>
              </a:rPr>
              <a:t>You</a:t>
            </a:r>
          </a:p>
        </p:txBody>
      </p:sp>
      <p:sp>
        <p:nvSpPr>
          <p:cNvPr id="10" name="TextBox 10"/>
          <p:cNvSpPr txBox="1"/>
          <p:nvPr/>
        </p:nvSpPr>
        <p:spPr>
          <a:xfrm>
            <a:off x="6771073" y="1303410"/>
            <a:ext cx="4745855" cy="523874"/>
          </a:xfrm>
          <a:prstGeom prst="rect">
            <a:avLst/>
          </a:prstGeom>
        </p:spPr>
        <p:txBody>
          <a:bodyPr lIns="0" tIns="0" rIns="0" bIns="0" rtlCol="0" anchor="t">
            <a:spAutoFit/>
          </a:bodyPr>
          <a:lstStyle/>
          <a:p>
            <a:pPr algn="ctr">
              <a:lnSpc>
                <a:spcPts val="4200"/>
              </a:lnSpc>
              <a:spcBef>
                <a:spcPct val="0"/>
              </a:spcBef>
            </a:pPr>
            <a:r>
              <a:rPr lang="en-US" sz="3000" spc="-126">
                <a:solidFill>
                  <a:srgbClr val="000000"/>
                </a:solidFill>
                <a:latin typeface="Neue Machina"/>
                <a:ea typeface="Neue Machina"/>
                <a:cs typeface="Neue Machina"/>
                <a:sym typeface="Neue Machina"/>
              </a:rPr>
              <a:t>THE END</a:t>
            </a:r>
          </a:p>
        </p:txBody>
      </p:sp>
      <p:sp>
        <p:nvSpPr>
          <p:cNvPr id="11" name="TextBox 11"/>
          <p:cNvSpPr txBox="1"/>
          <p:nvPr/>
        </p:nvSpPr>
        <p:spPr>
          <a:xfrm>
            <a:off x="1807151" y="7113286"/>
            <a:ext cx="6621999" cy="1057274"/>
          </a:xfrm>
          <a:prstGeom prst="rect">
            <a:avLst/>
          </a:prstGeom>
        </p:spPr>
        <p:txBody>
          <a:bodyPr lIns="0" tIns="0" rIns="0" bIns="0" rtlCol="0" anchor="t">
            <a:spAutoFit/>
          </a:bodyPr>
          <a:lstStyle/>
          <a:p>
            <a:pPr algn="l">
              <a:lnSpc>
                <a:spcPts val="4200"/>
              </a:lnSpc>
            </a:pPr>
            <a:r>
              <a:rPr lang="en-US" sz="3000" spc="-126">
                <a:solidFill>
                  <a:srgbClr val="000000"/>
                </a:solidFill>
                <a:latin typeface="Neue Machina"/>
                <a:ea typeface="Neue Machina"/>
                <a:cs typeface="Neue Machina"/>
                <a:sym typeface="Neue Machina"/>
              </a:rPr>
              <a:t>Harini-2620030050</a:t>
            </a:r>
          </a:p>
          <a:p>
            <a:pPr algn="l">
              <a:lnSpc>
                <a:spcPts val="4200"/>
              </a:lnSpc>
              <a:spcBef>
                <a:spcPct val="0"/>
              </a:spcBef>
            </a:pPr>
            <a:r>
              <a:rPr lang="en-US" sz="3000" spc="-126">
                <a:solidFill>
                  <a:srgbClr val="000000"/>
                </a:solidFill>
                <a:latin typeface="Neue Machina"/>
                <a:ea typeface="Neue Machina"/>
                <a:cs typeface="Neue Machina"/>
                <a:sym typeface="Neue Machina"/>
              </a:rPr>
              <a:t>Akshaya-2620090011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422</Words>
  <Application>Microsoft Office PowerPoint</Application>
  <PresentationFormat>Custom</PresentationFormat>
  <Paragraphs>60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Neue Machina Ultra-Bold</vt:lpstr>
      <vt:lpstr>Calibri</vt:lpstr>
      <vt:lpstr>Neue Machina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ojec</dc:title>
  <dc:creator>HARINI GOPALASETTI</dc:creator>
  <cp:lastModifiedBy>HARINI GOPALASETTI</cp:lastModifiedBy>
  <cp:revision>1</cp:revision>
  <dcterms:created xsi:type="dcterms:W3CDTF">2006-08-16T00:00:00Z</dcterms:created>
  <dcterms:modified xsi:type="dcterms:W3CDTF">2026-09-21T08:01:29Z</dcterms:modified>
  <dc:identifier>DAHU31DM49A</dc:identifier>
</cp:coreProperties>
</file>